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a6ba6a4da42f6" /><Relationship Type="http://schemas.openxmlformats.org/officeDocument/2006/relationships/extended-properties" Target="/docProps/app.xml" Id="R94893d698da1436f" /><Relationship Type="http://schemas.openxmlformats.org/officeDocument/2006/relationships/officeDocument" Target="/ppt/presentation.xml" Id="Rf8fa84c33ef4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ba96d76b44680"/>
  </p:sldMasterIdLst>
  <p:notesMasterIdLst>
    <p:notesMasterId xmlns:r="http://schemas.openxmlformats.org/officeDocument/2006/relationships" r:id="Rd116445bb4c343c3"/>
  </p:notesMasterIdLst>
  <p:sldIdLst>
    <p:sldId xmlns:r="http://schemas.openxmlformats.org/officeDocument/2006/relationships" id="256" r:id="Rac275fc703c84659"/>
    <p:sldId xmlns:r="http://schemas.openxmlformats.org/officeDocument/2006/relationships" id="257" r:id="Rd3527bddd8564ada"/>
    <p:sldId xmlns:r="http://schemas.openxmlformats.org/officeDocument/2006/relationships" id="258" r:id="Rbbf86d855d6a46b4"/>
    <p:sldId xmlns:r="http://schemas.openxmlformats.org/officeDocument/2006/relationships" id="259" r:id="R9b2f49f520934010"/>
    <p:sldId xmlns:r="http://schemas.openxmlformats.org/officeDocument/2006/relationships" id="260" r:id="Rec056c6461274dcd"/>
    <p:sldId xmlns:r="http://schemas.openxmlformats.org/officeDocument/2006/relationships" id="261" r:id="Rf9dd233eb82f4533"/>
    <p:sldId xmlns:r="http://schemas.openxmlformats.org/officeDocument/2006/relationships" id="262" r:id="Raa7c23e05f9941fb"/>
    <p:sldId xmlns:r="http://schemas.openxmlformats.org/officeDocument/2006/relationships" id="263" r:id="R435cf056aef44001"/>
    <p:sldId xmlns:r="http://schemas.openxmlformats.org/officeDocument/2006/relationships" id="264" r:id="R75157224ebeb4154"/>
    <p:sldId xmlns:r="http://schemas.openxmlformats.org/officeDocument/2006/relationships" id="265" r:id="R50c5c312f1e040b8"/>
    <p:sldId xmlns:r="http://schemas.openxmlformats.org/officeDocument/2006/relationships" id="266" r:id="Rbb2bd7cac4144b0b"/>
    <p:sldId xmlns:r="http://schemas.openxmlformats.org/officeDocument/2006/relationships" id="267" r:id="Rcd4b31b73cd0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ecc75cabbb4a30" /><Relationship Type="http://schemas.openxmlformats.org/officeDocument/2006/relationships/slideMaster" Target="/ppt/slideMasters/slideMaster1.xml" Id="Rbc6ba96d76b44680" /><Relationship Type="http://schemas.openxmlformats.org/officeDocument/2006/relationships/notesMaster" Target="/ppt/notesMasters/notesMaster1.xml" Id="Rd116445bb4c343c3" /><Relationship Type="http://schemas.openxmlformats.org/officeDocument/2006/relationships/presProps" Target="/ppt/presProps.xml" Id="Rbc8d01396720405e" /><Relationship Type="http://schemas.openxmlformats.org/officeDocument/2006/relationships/tableStyles" Target="/ppt/tableStyles.xml" Id="Rb3886ddf7d394a68" /><Relationship Type="http://schemas.openxmlformats.org/officeDocument/2006/relationships/slide" Target="/ppt/slides/slide1.xml" Id="Rac275fc703c84659" /><Relationship Type="http://schemas.openxmlformats.org/officeDocument/2006/relationships/slide" Target="/ppt/slides/slide2.xml" Id="Rd3527bddd8564ada" /><Relationship Type="http://schemas.openxmlformats.org/officeDocument/2006/relationships/slide" Target="/ppt/slides/slide3.xml" Id="Rbbf86d855d6a46b4" /><Relationship Type="http://schemas.openxmlformats.org/officeDocument/2006/relationships/slide" Target="/ppt/slides/slide4.xml" Id="R9b2f49f520934010" /><Relationship Type="http://schemas.openxmlformats.org/officeDocument/2006/relationships/slide" Target="/ppt/slides/slide5.xml" Id="Rec056c6461274dcd" /><Relationship Type="http://schemas.openxmlformats.org/officeDocument/2006/relationships/slide" Target="/ppt/slides/slide6.xml" Id="Rf9dd233eb82f4533" /><Relationship Type="http://schemas.openxmlformats.org/officeDocument/2006/relationships/slide" Target="/ppt/slides/slide7.xml" Id="Raa7c23e05f9941fb" /><Relationship Type="http://schemas.openxmlformats.org/officeDocument/2006/relationships/slide" Target="/ppt/slides/slide8.xml" Id="R435cf056aef44001" /><Relationship Type="http://schemas.openxmlformats.org/officeDocument/2006/relationships/slide" Target="/ppt/slides/slide9.xml" Id="R75157224ebeb4154" /><Relationship Type="http://schemas.openxmlformats.org/officeDocument/2006/relationships/slide" Target="/ppt/slides/slide10.xml" Id="R50c5c312f1e040b8" /><Relationship Type="http://schemas.openxmlformats.org/officeDocument/2006/relationships/slide" Target="/ppt/slides/slide11.xml" Id="Rbb2bd7cac4144b0b" /><Relationship Type="http://schemas.openxmlformats.org/officeDocument/2006/relationships/slide" Target="/ppt/slides/slide12.xml" Id="Rcd4b31b73cd0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cfb3049ca9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442983dc04ae4" /><Relationship Type="http://schemas.openxmlformats.org/officeDocument/2006/relationships/notesMaster" Target="/ppt/notesMasters/notesMaster1.xml" Id="R7a42ba6086eb48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c0b7a242a4474" /><Relationship Type="http://schemas.openxmlformats.org/officeDocument/2006/relationships/notesMaster" Target="/ppt/notesMasters/notesMaster1.xml" Id="Re26f3006c642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517c14b77149c0" /><Relationship Type="http://schemas.openxmlformats.org/officeDocument/2006/relationships/notesMaster" Target="/ppt/notesMasters/notesMaster1.xml" Id="Ra95d5ecc6d894e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363d40fde416f" /><Relationship Type="http://schemas.openxmlformats.org/officeDocument/2006/relationships/notesMaster" Target="/ppt/notesMasters/notesMaster1.xml" Id="Rdf3914e4940044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db2e3616b4bd6" /><Relationship Type="http://schemas.openxmlformats.org/officeDocument/2006/relationships/notesMaster" Target="/ppt/notesMasters/notesMaster1.xml" Id="R8901f5657c3143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77065bf06e4342" /><Relationship Type="http://schemas.openxmlformats.org/officeDocument/2006/relationships/notesMaster" Target="/ppt/notesMasters/notesMaster1.xml" Id="R3cdfee48aa27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ed31874a554863" /><Relationship Type="http://schemas.openxmlformats.org/officeDocument/2006/relationships/notesMaster" Target="/ppt/notesMasters/notesMaster1.xml" Id="Ra91fa2f163ac41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5c1ada2c5e4ef4" /><Relationship Type="http://schemas.openxmlformats.org/officeDocument/2006/relationships/notesMaster" Target="/ppt/notesMasters/notesMaster1.xml" Id="R92726eba369f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587d08340140d9" /><Relationship Type="http://schemas.openxmlformats.org/officeDocument/2006/relationships/notesMaster" Target="/ppt/notesMasters/notesMaster1.xml" Id="Rc6e61d521d35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69f1f2d39a4865" /><Relationship Type="http://schemas.openxmlformats.org/officeDocument/2006/relationships/notesMaster" Target="/ppt/notesMasters/notesMaster1.xml" Id="Rb9b3040a904e48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802564cded451b" /><Relationship Type="http://schemas.openxmlformats.org/officeDocument/2006/relationships/notesMaster" Target="/ppt/notesMasters/notesMaster1.xml" Id="Rc68e3a7e9fe043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bf6d6ab00f43dc" /><Relationship Type="http://schemas.openxmlformats.org/officeDocument/2006/relationships/notesMaster" Target="/ppt/notesMasters/notesMaster1.xml" Id="Rd5e17fd91d1c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这条小链就是今天的主线：给研究目标加上荧光标签，把相关信息带到光信号里，再由探测器读出来。我们从光电专业的角度，介绍怎样回答蛋白质的位置、构象和相互作用这些问题，重点放在看到了什么信号、怎样测量，以及能从中解释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三幅图分别对应位置、构象和分子相互作用。左图关心蛋白质在哪里、怎样组织；中图关心同一个蛋白内部的相对位置是否改变；右图关心分子接近后是否带来光信号变化。下方把问题放到不同尺度上：细胞常用微米描述，普通成像分辨尺度约数百纳米，FRET则对数纳米距离敏感。因此，我们要先选问题，再选可测的信号。这里保留一个提醒：看到两个信号接近，还不能单独证明直接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https://doi.org/10.1038/s43586-024-00298-3</a:t>
            </a:r>
          </a:p>
          <a:p xmlns:a="http://schemas.openxmlformats.org/drawingml/2006/main">
            <a:r>
              <a:t>https://doi.org/10.1038/s43586-021-00038-x</a:t>
            </a:r>
          </a:p>
          <a:p xmlns:a="http://schemas.openxmlformats.org/drawingml/2006/main">
            <a:r>
              <a:t>https://doi.org/10.1038/s41592-023-01807-0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说明标签怎样把目标和光信号联系起来。可以融合表达GFP，在特定位点连接有机染料，或用带荧光团的抗体识别目标。右图的吸收峰和发射峰通常不在同一位置，这种位移就是Stokes位移。分子受激后通常先经历部分非辐射弛豫，所以发射峰常向长波移动。对光电系统来说，波段差异让滤光与分光成为可能。需要注意，标签本身有尺寸，读到的标签位置不能直接等同于蛋白本体的绝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https://doi.org/10.1038/s43586-021-00038-x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沿着一行从左读到右：先提出问题，再确定测什么，最后选择方法。中间这一列是两个学科的连接处。比如关心蛋白构象，可以记录FRET效率；关心局部环境，可以记录荧光寿命；关心空间组织，可以分析图像位置分布或定位结果。生物学告诉我们想知道什么，光电测量把它变成可以记录的数据。这个表不是一对一的配方，同一问题可结合多种方法，而光信号需要结合标记和对照来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https://doi.org/10.1038/s43586-024-00358-8</a:t>
            </a:r>
          </a:p>
          <a:p xmlns:a="http://schemas.openxmlformats.org/drawingml/2006/main">
            <a:r>
              <a:t>https://doi.org/10.1038/s43586-024-00298-3</a:t>
            </a:r>
          </a:p>
          <a:p xmlns:a="http://schemas.openxmlformats.org/drawingml/2006/main">
            <a:r>
              <a:t>https://doi.org/10.1038/s43586-021-00038-x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两条曲线起点相同，区别在于下降的速度。寿命描述荧光团激发后衰减的时间特征，常在纳秒量级。蛋白质周围的局部环境或分子相互作用可能影响这个过程，所以它提供了亮度之外的信息。右边的FLIM把寿命差异映射回空间位置。时间域的一种实现是脉冲激发加TCSPC，统计单光子相对激发脉冲的到达时间；其他实现并不一定用TCSPC。这里的寿命是荧光衰减的时间，绝不是蛋白质活多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https://doi.org/10.1038/s43586-024-00358-8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用两种间距说明供受体之间的非辐射能量转移。距离足够近，而且供体发射与受体吸收有光谱重叠，才能产生可测的FRET。右边曲线中，间距等于R零时效率为百分之五十，附近距离稍变，效率就明显改变。公式中的六次方体现了这种敏感性，因此可用来读取蛋白构象、分子相互作用和动态变化。典型smFRET范围约二到八纳米。定量解释时要结合标记位置和取向，不能只把效率变化机械地换成蛋白整体的开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https://doi.org/10.1038/s43586-024-00298-3</a:t>
            </a:r>
          </a:p>
          <a:p xmlns:a="http://schemas.openxmlformats.org/drawingml/2006/main">
            <a:r>
              <a:t>https://doi.org/10.1038/s41592-023-01807-0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是真实PDB坐标，中间是实验室一的代表性直方图，右边则是十六个实验室的平均效率。MalE结合麦芽糖前后构象改变。两套标记使用Alexa五四六和六四七，但位点不同：一号为二十九和三百五十二，二号为八十七和一百八十六。结果一号效率升高，二号降低，说明同一状态变化可以因标签几何不同而读出相反方向。结构图橙点只标出一号的两个残基位置，并不是染料中心，也没有画出二号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https://doi.org/10.1038/s41592-023-01807-0</a:t>
            </a:r>
          </a:p>
          <a:p xmlns:a="http://schemas.openxmlformats.org/drawingml/2006/main">
            <a:r>
              <a:t>结构来源：https://www.rcsb.org/structure/1OMP</a:t>
            </a:r>
          </a:p>
          <a:p xmlns:a="http://schemas.openxmlformats.org/drawingml/2006/main">
            <a:r>
              <a:t>https://www.rcsb.org/structure/1ANF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沿蓝线看：激发光经过滤光片，在二向色镜处反射，经物镜到样品。再沿绿线返回：荧光由同一物镜收集，透过二向色镜，经过发射滤光片和成像镜组，到达探测器。蛋白标签的弱信号能否读出来，取决于整条链路。右边重点看NA、量子效率和SNR：分别关联集光与分辨、光子转为可测响应的效率，以及信号与噪声的对比。测寿命时还要关心时间分辨。这些是按任务选择的指标，并非每台显微镜都同时具备全部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https://doi.org/10.1038/s43586-021-00038-x</a:t>
            </a:r>
          </a:p>
          <a:p xmlns:a="http://schemas.openxmlformats.org/drawingml/2006/main">
            <a:r>
              <a:t>https://doi.org/10.1038/s43586-024-00358-8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面是真实物点，下面是经过成像后形成的PSF。三个条件只改变点间距，每个PSF的宽度保持相同；两点越近，图像越难分开。右边用五百五十纳米和NA一点四作教学算例，得到约二百四十纳米的横向分辨尺度，不是论文实验结果。这个量级能帮助我们判断蛋白质研究该选什么方法。普通显微镜仍能检测标签及较大尺度分布，检测到不等于分辨开；蛋白内部数纳米距离则可借助FRET这类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https://doi.org/10.1038/s43586-021-00038-x</a:t>
            </a:r>
          </a:p>
          <a:p xmlns:a="http://schemas.openxmlformats.org/drawingml/2006/main">
            <a:r>
              <a:t>https://doi.org/10.1038/s43586-024-00298-3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按帧、定位、重建依次读取。每帧只有少量发光体，亮斑仍然很宽，但中心可以被估计；累积多帧才得到更精细的组织信息。右边的微管图用了六万张原始帧，FRC估计分辨率约四十四纳米。这里的数字不是定位精度、微管直径，也不是所有SMLM的固定性能。光子数和背景影响定位质量，因此需要多帧采集、稳定标记、低漂移和计算重建。角落的STED通过受激发射抑制外围荧光，是另一种缩小有效发光区域的思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https://doi.org/10.1038/s43586-021-00038-x</a:t>
            </a:r>
          </a:p>
          <a:p xmlns:a="http://schemas.openxmlformats.org/drawingml/2006/main">
            <a:r>
              <a:t>https://doi.org/10.1038/s41556-018-0251-8</a:t>
            </a:r>
          </a:p>
          <a:p xmlns:a="http://schemas.openxmlformats.org/drawingml/2006/main">
            <a:r>
              <a:t>实验图：https://www.nature.com/articles/s43586-021-00038-x/figures/3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把整场测量过程串起来，右边则说明两个学科在哪里相接。蛋白质研究提出位置、构象、相互作用和空间组织的问题，标记把相关变化带进光信号。光源、分光、物镜和探测器把信号变成强度、光谱、时间或定位数据。最后结合标记、校准与模型，才能解释蛋白质信息。前面的MalE和微管分别展示了距离与空间组织的读取。因此，生物学提出问题，光电技术提供观察和测量手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https://doi.org/10.1038/s43586-024-00358-8</a:t>
            </a:r>
          </a:p>
          <a:p xmlns:a="http://schemas.openxmlformats.org/drawingml/2006/main">
            <a:r>
              <a:t>https://doi.org/10.1038/s43586-024-00298-3</a:t>
            </a:r>
          </a:p>
          <a:p xmlns:a="http://schemas.openxmlformats.org/drawingml/2006/main">
            <a:r>
              <a:t>https://doi.org/10.1038/s43586-021-00038-x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建议用时：20秒（含指图与停顿）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这里列出本次汇报依据的六篇英文文献。Ha支撑FRET原理，Agam提供MalE实例，Lelek支撑定位显微及微管数据。其余文献用于基础荧光、寿命成像和超分辨概念查证。成员贡献栏留待确认后填写。接下来欢迎提问。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https://doi.org/10.1038/nmeth817</a:t>
            </a:r>
          </a:p>
          <a:p xmlns:a="http://schemas.openxmlformats.org/drawingml/2006/main">
            <a:r>
              <a:t>https://doi.org/10.1038/s43586-024-00358-8</a:t>
            </a:r>
          </a:p>
          <a:p xmlns:a="http://schemas.openxmlformats.org/drawingml/2006/main">
            <a:r>
              <a:t>https://doi.org/10.1038/s43586-024-00298-3</a:t>
            </a:r>
          </a:p>
          <a:p xmlns:a="http://schemas.openxmlformats.org/drawingml/2006/main">
            <a:r>
              <a:t>https://doi.org/10.1038/s41592-023-01807-0</a:t>
            </a:r>
          </a:p>
          <a:p xmlns:a="http://schemas.openxmlformats.org/drawingml/2006/main">
            <a:r>
              <a:t>https://doi.org/10.1038/s43586-021-00038-x</a:t>
            </a:r>
          </a:p>
          <a:p xmlns:a="http://schemas.openxmlformats.org/drawingml/2006/main">
            <a:r>
              <a:t>https://doi.org/10.1038/s41556-018-0251-8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26aa38a0a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e01a8ca7a4f4d" /><Relationship Type="http://schemas.openxmlformats.org/officeDocument/2006/relationships/slideLayout" Target="/ppt/slideLayouts/slideLayout1.xml" Id="Rbbdc881562a6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c881562a6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2e386e6e34306" /><Relationship Type="http://schemas.openxmlformats.org/officeDocument/2006/relationships/notesSlide" Target="/ppt/notesSlides/notesSlide1.xml" Id="Rb4e1018777794a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bfb4c54f54404" /><Relationship Type="http://schemas.openxmlformats.org/officeDocument/2006/relationships/notesSlide" Target="/ppt/notesSlides/notesSlide2.xml" Id="Rc5c9542532544d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bd35723f74b03" /><Relationship Type="http://schemas.openxmlformats.org/officeDocument/2006/relationships/notesSlide" Target="/ppt/notesSlides/notesSlide3.xml" Id="R9c7d05488f10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90071b78448b4" /><Relationship Type="http://schemas.openxmlformats.org/officeDocument/2006/relationships/notesSlide" Target="/ppt/notesSlides/notesSlide4.xml" Id="Rdbf7553d5373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880cfcd784c22" /><Relationship Type="http://schemas.openxmlformats.org/officeDocument/2006/relationships/notesSlide" Target="/ppt/notesSlides/notesSlide5.xml" Id="Rcd8a0f56210641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2aaead274606" /><Relationship Type="http://schemas.openxmlformats.org/officeDocument/2006/relationships/notesSlide" Target="/ppt/notesSlides/notesSlide6.xml" Id="R52d5f08781204b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68465404d43f8" /><Relationship Type="http://schemas.openxmlformats.org/officeDocument/2006/relationships/image" Target="/ppt/media/image.png" Id="R8c9024ac862e401e" /><Relationship Type="http://schemas.openxmlformats.org/officeDocument/2006/relationships/image" Target="/ppt/media/image2.png" Id="Ra2abc6e570824c6e" /><Relationship Type="http://schemas.openxmlformats.org/officeDocument/2006/relationships/image" Target="/ppt/media/image3.png" Id="Ra17ce51362a94af3" /><Relationship Type="http://schemas.openxmlformats.org/officeDocument/2006/relationships/image" Target="/ppt/media/image4.png" Id="R5b20b8f84f6a4166" /><Relationship Type="http://schemas.openxmlformats.org/officeDocument/2006/relationships/image" Target="/ppt/media/image5.png" Id="Rdbce57e1ce4c44c7" /><Relationship Type="http://schemas.openxmlformats.org/officeDocument/2006/relationships/image" Target="/ppt/media/image6.png" Id="R7b32b73cbe6a4b66" /><Relationship Type="http://schemas.openxmlformats.org/officeDocument/2006/relationships/image" Target="/ppt/media/image7.png" Id="R6dd753d09f2545f1" /><Relationship Type="http://schemas.openxmlformats.org/officeDocument/2006/relationships/image" Target="/ppt/media/image8.png" Id="R8a85dc4c978d4022" /><Relationship Type="http://schemas.openxmlformats.org/officeDocument/2006/relationships/image" Target="/ppt/media/image9.png" Id="R70094fbfb61f46ec" /><Relationship Type="http://schemas.openxmlformats.org/officeDocument/2006/relationships/notesSlide" Target="/ppt/notesSlides/notesSlide7.xml" Id="R770359270952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d5d4954604cb5" /><Relationship Type="http://schemas.openxmlformats.org/officeDocument/2006/relationships/notesSlide" Target="/ppt/notesSlides/notesSlide8.xml" Id="R14327bb1e50141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fc0b208c0431d" /><Relationship Type="http://schemas.openxmlformats.org/officeDocument/2006/relationships/notesSlide" Target="/ppt/notesSlides/notesSlide9.xml" Id="R849c5631de32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af0984816448a" /><Relationship Type="http://schemas.openxmlformats.org/officeDocument/2006/relationships/image" Target="/ppt/media/image10.png" Id="Ra3832d4fd0994e11" /><Relationship Type="http://schemas.openxmlformats.org/officeDocument/2006/relationships/notesSlide" Target="/ppt/notesSlides/notesSlide10.xml" Id="R46acabeb26884e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e57b4ef84645" /><Relationship Type="http://schemas.openxmlformats.org/officeDocument/2006/relationships/notesSlide" Target="/ppt/notesSlides/notesSlide11.xml" Id="R09a6c843a1074c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8262f9fe8425e" /><Relationship Type="http://schemas.openxmlformats.org/officeDocument/2006/relationships/notesSlide" Target="/ppt/notesSlides/notesSlide12.xml" Id="Rdf1cb5d2f98741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1_textbox_0">
            <a:extLst xmlns:a="http://schemas.openxmlformats.org/drawingml/2006/main">
              <a:ext uri="{FF2B5EF4-FFF2-40B4-BE49-F238E27FC236}">
                <a16:creationId xmlns:a16="http://schemas.microsoft.com/office/drawing/2014/main" id="{F38C6A9D-020F-4301-84A4-F10A97D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1_path">
            <a:extLst xmlns:a="http://schemas.openxmlformats.org/drawingml/2006/main">
              <a:ext uri="{FF2B5EF4-FFF2-40B4-BE49-F238E27FC236}">
                <a16:creationId xmlns:a16="http://schemas.microsoft.com/office/drawing/2014/main" id="{CBD32320-1BB1-464B-AC42-EB07A185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1_textbox_2">
            <a:extLst xmlns:a="http://schemas.openxmlformats.org/drawingml/2006/main">
              <a:ext uri="{FF2B5EF4-FFF2-40B4-BE49-F238E27FC236}">
                <a16:creationId xmlns:a16="http://schemas.microsoft.com/office/drawing/2014/main" id="{04A6F2E3-ECDE-4EFA-B935-44A83330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Lichtman &amp; Conchello, Nat. Methods, 2005.</a:t>
            </a:r>
          </a:p>
        </p:txBody>
      </p:sp>
      <p:sp>
        <p:nvSpPr>
          <p:cNvPr id="4" name="p1_textbox_3">
            <a:extLst xmlns:a="http://schemas.openxmlformats.org/drawingml/2006/main">
              <a:ext uri="{FF2B5EF4-FFF2-40B4-BE49-F238E27FC236}">
                <a16:creationId xmlns:a16="http://schemas.microsoft.com/office/drawing/2014/main" id="{BE4CC02C-54BD-403C-9658-25E6B04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1_textbox_4">
            <a:extLst xmlns:a="http://schemas.openxmlformats.org/drawingml/2006/main">
              <a:ext uri="{FF2B5EF4-FFF2-40B4-BE49-F238E27FC236}">
                <a16:creationId xmlns:a16="http://schemas.microsoft.com/office/drawing/2014/main" id="{D8EE79D7-13F9-438E-AAE0-09DCBB6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《生物大分子科学导论》</a:t>
            </a:r>
          </a:p>
        </p:txBody>
      </p:sp>
      <p:sp>
        <p:nvSpPr>
          <p:cNvPr id="6" name="p1_textbox_5">
            <a:extLst xmlns:a="http://schemas.openxmlformats.org/drawingml/2006/main">
              <a:ext uri="{FF2B5EF4-FFF2-40B4-BE49-F238E27FC236}">
                <a16:creationId xmlns:a16="http://schemas.microsoft.com/office/drawing/2014/main" id="{02B5CAA5-116E-4962-93B5-AECFF71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14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从荧光到成像：</a:t>
            </a:r>
          </a:p>
        </p:txBody>
      </p:sp>
      <p:sp>
        <p:nvSpPr>
          <p:cNvPr id="7" name="p1_textbox_6">
            <a:extLst xmlns:a="http://schemas.openxmlformats.org/drawingml/2006/main">
              <a:ext uri="{FF2B5EF4-FFF2-40B4-BE49-F238E27FC236}">
                <a16:creationId xmlns:a16="http://schemas.microsoft.com/office/drawing/2014/main" id="{630A7051-D29D-49C7-A290-DC30969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光学技术如何“看见”蛋白质</a:t>
            </a:r>
          </a:p>
        </p:txBody>
      </p:sp>
      <p:sp>
        <p:nvSpPr>
          <p:cNvPr id="8" name="p1_textbox_7">
            <a:extLst xmlns:a="http://schemas.openxmlformats.org/drawingml/2006/main">
              <a:ext uri="{FF2B5EF4-FFF2-40B4-BE49-F238E27FC236}">
                <a16:creationId xmlns:a16="http://schemas.microsoft.com/office/drawing/2014/main" id="{733AB7EB-D64B-483A-8988-D7AB530E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——荧光检测、FRET与超分辨成像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在蛋白质研究中的应用</a:t>
            </a:r>
          </a:p>
        </p:txBody>
      </p:sp>
      <p:sp>
        <p:nvSpPr>
          <p:cNvPr id="9" name="p1_textbox_8">
            <a:extLst xmlns:a="http://schemas.openxmlformats.org/drawingml/2006/main">
              <a:ext uri="{FF2B5EF4-FFF2-40B4-BE49-F238E27FC236}">
                <a16:creationId xmlns:a16="http://schemas.microsoft.com/office/drawing/2014/main" id="{E8C049FE-9684-49BB-BF8F-1595D84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光电信息科学与工程</a:t>
            </a:r>
          </a:p>
        </p:txBody>
      </p:sp>
      <p:sp>
        <p:nvSpPr>
          <p:cNvPr id="10" name="p1_textbox_9">
            <a:extLst xmlns:a="http://schemas.openxmlformats.org/drawingml/2006/main">
              <a:ext uri="{FF2B5EF4-FFF2-40B4-BE49-F238E27FC236}">
                <a16:creationId xmlns:a16="http://schemas.microsoft.com/office/drawing/2014/main" id="{2829D524-69F4-4425-B5AA-9DE306D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卞恺</a:t>
            </a:r>
          </a:p>
        </p:txBody>
      </p:sp>
      <p:sp>
        <p:nvSpPr>
          <p:cNvPr id="11" name="p1_path">
            <a:extLst xmlns:a="http://schemas.openxmlformats.org/drawingml/2006/main">
              <a:ext uri="{FF2B5EF4-FFF2-40B4-BE49-F238E27FC236}">
                <a16:creationId xmlns:a16="http://schemas.microsoft.com/office/drawing/2014/main" id="{BE4ACE8C-6510-4E14-938D-2E8BBF98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261" y="1354781"/>
            <a:ext cx="1653443" cy="933045"/>
          </a:xfrm>
          <a:custGeom xmlns:a="http://schemas.openxmlformats.org/drawingml/2006/main">
            <a:pathLst>
              <a:path w="1413199" h="797474">
                <a:moveTo>
                  <a:pt x="1402261" y="430870"/>
                </a:moveTo>
                <a:lnTo>
                  <a:pt x="1413199" y="468165"/>
                </a:lnTo>
                <a:lnTo>
                  <a:pt x="1409774" y="505712"/>
                </a:lnTo>
                <a:lnTo>
                  <a:pt x="1393214" y="542065"/>
                </a:lnTo>
                <a:lnTo>
                  <a:pt x="1366171" y="576256"/>
                </a:lnTo>
                <a:lnTo>
                  <a:pt x="1331921" y="607952"/>
                </a:lnTo>
                <a:lnTo>
                  <a:pt x="1293497" y="637388"/>
                </a:lnTo>
                <a:lnTo>
                  <a:pt x="1253007" y="665112"/>
                </a:lnTo>
                <a:lnTo>
                  <a:pt x="1211293" y="691624"/>
                </a:lnTo>
                <a:lnTo>
                  <a:pt x="1168020" y="717045"/>
                </a:lnTo>
                <a:lnTo>
                  <a:pt x="1122113" y="740917"/>
                </a:lnTo>
                <a:lnTo>
                  <a:pt x="1072405" y="762208"/>
                </a:lnTo>
                <a:lnTo>
                  <a:pt x="1018264" y="779543"/>
                </a:lnTo>
                <a:lnTo>
                  <a:pt x="960001" y="791587"/>
                </a:lnTo>
                <a:lnTo>
                  <a:pt x="898935" y="797474"/>
                </a:lnTo>
                <a:lnTo>
                  <a:pt x="837081" y="797162"/>
                </a:lnTo>
                <a:lnTo>
                  <a:pt x="776569" y="791577"/>
                </a:lnTo>
                <a:lnTo>
                  <a:pt x="718973" y="782505"/>
                </a:lnTo>
                <a:lnTo>
                  <a:pt x="664766" y="772234"/>
                </a:lnTo>
                <a:lnTo>
                  <a:pt x="613100" y="763032"/>
                </a:lnTo>
                <a:lnTo>
                  <a:pt x="561986" y="756581"/>
                </a:lnTo>
                <a:lnTo>
                  <a:pt x="508866" y="753536"/>
                </a:lnTo>
                <a:lnTo>
                  <a:pt x="451428" y="753312"/>
                </a:lnTo>
                <a:lnTo>
                  <a:pt x="388446" y="754178"/>
                </a:lnTo>
                <a:lnTo>
                  <a:pt x="320394" y="753628"/>
                </a:lnTo>
                <a:lnTo>
                  <a:pt x="249658" y="748954"/>
                </a:lnTo>
                <a:lnTo>
                  <a:pt x="180244" y="737865"/>
                </a:lnTo>
                <a:lnTo>
                  <a:pt x="117045" y="719010"/>
                </a:lnTo>
                <a:lnTo>
                  <a:pt x="64829" y="692268"/>
                </a:lnTo>
                <a:lnTo>
                  <a:pt x="27202" y="658738"/>
                </a:lnTo>
                <a:lnTo>
                  <a:pt x="5812" y="620450"/>
                </a:lnTo>
                <a:lnTo>
                  <a:pt x="0" y="579868"/>
                </a:lnTo>
                <a:lnTo>
                  <a:pt x="6982" y="539330"/>
                </a:lnTo>
                <a:lnTo>
                  <a:pt x="22526" y="500569"/>
                </a:lnTo>
                <a:lnTo>
                  <a:pt x="41943" y="464434"/>
                </a:lnTo>
                <a:lnTo>
                  <a:pt x="61141" y="430870"/>
                </a:lnTo>
                <a:lnTo>
                  <a:pt x="77478" y="399142"/>
                </a:lnTo>
                <a:lnTo>
                  <a:pt x="90206" y="368223"/>
                </a:lnTo>
                <a:lnTo>
                  <a:pt x="100424" y="337216"/>
                </a:lnTo>
                <a:lnTo>
                  <a:pt x="110568" y="305697"/>
                </a:lnTo>
                <a:lnTo>
                  <a:pt x="123613" y="273861"/>
                </a:lnTo>
                <a:lnTo>
                  <a:pt x="142214" y="242456"/>
                </a:lnTo>
                <a:lnTo>
                  <a:pt x="168018" y="212517"/>
                </a:lnTo>
                <a:lnTo>
                  <a:pt x="201334" y="185010"/>
                </a:lnTo>
                <a:lnTo>
                  <a:pt x="241222" y="160492"/>
                </a:lnTo>
                <a:lnTo>
                  <a:pt x="285938" y="138906"/>
                </a:lnTo>
                <a:lnTo>
                  <a:pt x="333586" y="119586"/>
                </a:lnTo>
                <a:lnTo>
                  <a:pt x="382749" y="101484"/>
                </a:lnTo>
                <a:lnTo>
                  <a:pt x="432907" y="83550"/>
                </a:lnTo>
                <a:lnTo>
                  <a:pt x="484506" y="65160"/>
                </a:lnTo>
                <a:lnTo>
                  <a:pt x="538654" y="46467"/>
                </a:lnTo>
                <a:lnTo>
                  <a:pt x="596547" y="28545"/>
                </a:lnTo>
                <a:lnTo>
                  <a:pt x="658803" y="13279"/>
                </a:lnTo>
                <a:lnTo>
                  <a:pt x="724935" y="3009"/>
                </a:lnTo>
                <a:lnTo>
                  <a:pt x="793123" y="0"/>
                </a:lnTo>
                <a:lnTo>
                  <a:pt x="860413" y="5886"/>
                </a:lnTo>
                <a:lnTo>
                  <a:pt x="923295" y="21221"/>
                </a:lnTo>
                <a:lnTo>
                  <a:pt x="978522" y="45274"/>
                </a:lnTo>
                <a:lnTo>
                  <a:pt x="1023960" y="76118"/>
                </a:lnTo>
                <a:lnTo>
                  <a:pt x="1059213" y="111006"/>
                </a:lnTo>
                <a:lnTo>
                  <a:pt x="1085833" y="146943"/>
                </a:lnTo>
                <a:lnTo>
                  <a:pt x="1107042" y="181313"/>
                </a:lnTo>
                <a:lnTo>
                  <a:pt x="1127005" y="212397"/>
                </a:lnTo>
                <a:lnTo>
                  <a:pt x="1149818" y="239672"/>
                </a:lnTo>
                <a:lnTo>
                  <a:pt x="1178485" y="263805"/>
                </a:lnTo>
                <a:lnTo>
                  <a:pt x="1214120" y="286359"/>
                </a:lnTo>
                <a:lnTo>
                  <a:pt x="1255603" y="309309"/>
                </a:lnTo>
                <a:lnTo>
                  <a:pt x="1299772" y="334481"/>
                </a:lnTo>
                <a:lnTo>
                  <a:pt x="1342093" y="363080"/>
                </a:lnTo>
                <a:lnTo>
                  <a:pt x="1377664" y="395411"/>
                </a:lnTo>
                <a:lnTo>
                  <a:pt x="1402261" y="430870"/>
                </a:lnTo>
                <a:close/>
              </a:path>
            </a:pathLst>
          </a:custGeom>
          <a:solidFill xmlns:a="http://schemas.openxmlformats.org/drawingml/2006/main">
            <a:srgbClr val="F5F6F7"/>
          </a:solidFill>
          <a:ln xmlns:a="http://schemas.openxmlformats.org/drawingml/2006/main" w="23813">
            <a:solidFill>
              <a:srgbClr val="AAB2BA"/>
            </a:solidFill>
          </a:ln>
        </p:spPr>
      </p:sp>
      <p:sp>
        <p:nvSpPr>
          <p:cNvPr id="12" name="p1_ellipse_11">
            <a:extLst xmlns:a="http://schemas.openxmlformats.org/drawingml/2006/main">
              <a:ext uri="{FF2B5EF4-FFF2-40B4-BE49-F238E27FC236}">
                <a16:creationId xmlns:a16="http://schemas.microsoft.com/office/drawing/2014/main" id="{EDE02043-52E9-435E-9683-EA2B8C5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482" y="1602581"/>
            <a:ext cx="267462" cy="2674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13" name="p1_textbox_12">
            <a:extLst xmlns:a="http://schemas.openxmlformats.org/drawingml/2006/main">
              <a:ext uri="{FF2B5EF4-FFF2-40B4-BE49-F238E27FC236}">
                <a16:creationId xmlns:a16="http://schemas.microsoft.com/office/drawing/2014/main" id="{EE16D64E-16DA-4EDD-A676-6C634E4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103" y="2471833"/>
            <a:ext cx="3008948" cy="390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94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94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带标签的目标</a:t>
            </a:r>
          </a:p>
        </p:txBody>
      </p:sp>
      <p:sp>
        <p:nvSpPr>
          <p:cNvPr id="14" name="p1_path">
            <a:extLst xmlns:a="http://schemas.openxmlformats.org/drawingml/2006/main">
              <a:ext uri="{FF2B5EF4-FFF2-40B4-BE49-F238E27FC236}">
                <a16:creationId xmlns:a16="http://schemas.microsoft.com/office/drawing/2014/main" id="{E263FBBD-A501-42E8-AFB6-733DC5F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39891"/>
            <a:ext cx="1115" cy="568357"/>
          </a:xfrm>
          <a:custGeom xmlns:a="http://schemas.openxmlformats.org/drawingml/2006/main">
            <a:pathLst>
              <a:path w="953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56A"/>
            </a:solidFill>
          </a:ln>
        </p:spPr>
      </p:sp>
      <p:sp>
        <p:nvSpPr>
          <p:cNvPr id="15" name="p1_path">
            <a:extLst xmlns:a="http://schemas.openxmlformats.org/drawingml/2006/main">
              <a:ext uri="{FF2B5EF4-FFF2-40B4-BE49-F238E27FC236}">
                <a16:creationId xmlns:a16="http://schemas.microsoft.com/office/drawing/2014/main" id="{F22D805B-7A0F-4785-B4D8-8DF3AFF3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926" y="3375964"/>
            <a:ext cx="118149" cy="132284"/>
          </a:xfrm>
          <a:custGeom xmlns:a="http://schemas.openxmlformats.org/drawingml/2006/main">
            <a:pathLst>
              <a:path w="100982" h="113063">
                <a:moveTo>
                  <a:pt x="0" y="0"/>
                </a:moveTo>
                <a:lnTo>
                  <a:pt x="50491" y="113063"/>
                </a:lnTo>
                <a:lnTo>
                  <a:pt x="1009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56A"/>
            </a:solidFill>
          </a:ln>
        </p:spPr>
      </p:sp>
      <p:sp>
        <p:nvSpPr>
          <p:cNvPr id="16" name="p1_textbox_15">
            <a:extLst xmlns:a="http://schemas.openxmlformats.org/drawingml/2006/main">
              <a:ext uri="{FF2B5EF4-FFF2-40B4-BE49-F238E27FC236}">
                <a16:creationId xmlns:a16="http://schemas.microsoft.com/office/drawing/2014/main" id="{28BDCCF8-1CF3-4F09-84B4-D86FA54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018" y="3719989"/>
            <a:ext cx="2117408" cy="423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33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33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光信号</a:t>
            </a:r>
          </a:p>
        </p:txBody>
      </p:sp>
      <p:sp>
        <p:nvSpPr>
          <p:cNvPr id="17" name="p1_path">
            <a:extLst xmlns:a="http://schemas.openxmlformats.org/drawingml/2006/main">
              <a:ext uri="{FF2B5EF4-FFF2-40B4-BE49-F238E27FC236}">
                <a16:creationId xmlns:a16="http://schemas.microsoft.com/office/drawing/2014/main" id="{3D67DD2F-F8AA-4577-9EB0-AD5485A9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77201"/>
            <a:ext cx="1115" cy="501491"/>
          </a:xfrm>
          <a:custGeom xmlns:a="http://schemas.openxmlformats.org/drawingml/2006/main">
            <a:pathLst>
              <a:path w="953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56A"/>
            </a:solidFill>
          </a:ln>
        </p:spPr>
      </p:sp>
      <p:sp>
        <p:nvSpPr>
          <p:cNvPr id="18" name="p1_path">
            <a:extLst xmlns:a="http://schemas.openxmlformats.org/drawingml/2006/main">
              <a:ext uri="{FF2B5EF4-FFF2-40B4-BE49-F238E27FC236}">
                <a16:creationId xmlns:a16="http://schemas.microsoft.com/office/drawing/2014/main" id="{EBA27CC7-BAA1-413F-8D33-229A52B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926" y="4646409"/>
            <a:ext cx="118149" cy="132284"/>
          </a:xfrm>
          <a:custGeom xmlns:a="http://schemas.openxmlformats.org/drawingml/2006/main">
            <a:pathLst>
              <a:path w="100982" h="113063">
                <a:moveTo>
                  <a:pt x="0" y="0"/>
                </a:moveTo>
                <a:lnTo>
                  <a:pt x="50491" y="113063"/>
                </a:lnTo>
                <a:lnTo>
                  <a:pt x="1009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56A"/>
            </a:solidFill>
          </a:ln>
        </p:spPr>
      </p:sp>
      <p:sp>
        <p:nvSpPr>
          <p:cNvPr id="19" name="p1_rect_18">
            <a:extLst xmlns:a="http://schemas.openxmlformats.org/drawingml/2006/main">
              <a:ext uri="{FF2B5EF4-FFF2-40B4-BE49-F238E27FC236}">
                <a16:creationId xmlns:a16="http://schemas.microsoft.com/office/drawing/2014/main" id="{57300575-B87B-4CE2-B7B1-08DBF248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057" y="5023866"/>
            <a:ext cx="1381887" cy="746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20" name="p1_textbox_19">
            <a:extLst xmlns:a="http://schemas.openxmlformats.org/drawingml/2006/main">
              <a:ext uri="{FF2B5EF4-FFF2-40B4-BE49-F238E27FC236}">
                <a16:creationId xmlns:a16="http://schemas.microsoft.com/office/drawing/2014/main" id="{CBF47C36-F48B-4BDC-8818-853A84E2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912" y="5191030"/>
            <a:ext cx="1404175" cy="423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57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57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探测器</a:t>
            </a:r>
          </a:p>
        </p:txBody>
      </p:sp>
      <p:sp>
        <p:nvSpPr>
          <p:cNvPr id="22" name="v2_p1_20">
            <a:extLst xmlns:a="http://schemas.openxmlformats.org/drawingml/2006/main">
              <a:ext uri="{FF2B5EF4-FFF2-40B4-BE49-F238E27FC236}">
                <a16:creationId xmlns:a16="http://schemas.microsoft.com/office/drawing/2014/main" id="{0AF37153-BD66-4E38-8F94-FB52E00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从生物学问题到光学测量</a:t>
            </a:r>
          </a:p>
        </p:txBody>
      </p:sp>
    </p:spTree>
    <p:extLst>
      <p:ext uri="{BB962C8B-B14F-4D97-AF65-F5344CB8AC3E}">
        <p14:creationId xmlns:p14="http://schemas.microsoft.com/office/powerpoint/2010/main" val="984640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2_textbox_0">
            <a:extLst xmlns:a="http://schemas.openxmlformats.org/drawingml/2006/main">
              <a:ext uri="{FF2B5EF4-FFF2-40B4-BE49-F238E27FC236}">
                <a16:creationId xmlns:a16="http://schemas.microsoft.com/office/drawing/2014/main" id="{7AF93873-E6CF-4850-96B5-ADD360C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我们想知道蛋白质的什么？</a:t>
            </a:r>
          </a:p>
        </p:txBody>
      </p:sp>
      <p:sp>
        <p:nvSpPr>
          <p:cNvPr id="2" name="p2_path">
            <a:extLst xmlns:a="http://schemas.openxmlformats.org/drawingml/2006/main">
              <a:ext uri="{FF2B5EF4-FFF2-40B4-BE49-F238E27FC236}">
                <a16:creationId xmlns:a16="http://schemas.microsoft.com/office/drawing/2014/main" id="{C8B07636-E6DE-4242-81F4-63E438FC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2_textbox_2">
            <a:extLst xmlns:a="http://schemas.openxmlformats.org/drawingml/2006/main">
              <a:ext uri="{FF2B5EF4-FFF2-40B4-BE49-F238E27FC236}">
                <a16:creationId xmlns:a16="http://schemas.microsoft.com/office/drawing/2014/main" id="{77966460-5502-46A2-991F-1AA314D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Ha et al., Nat. Rev. Methods Primers, 2024; Lelek et al., 2021;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Agam et al., Nat. Methods, 2023.</a:t>
            </a:r>
          </a:p>
        </p:txBody>
      </p:sp>
      <p:sp>
        <p:nvSpPr>
          <p:cNvPr id="4" name="p2_textbox_3">
            <a:extLst xmlns:a="http://schemas.openxmlformats.org/drawingml/2006/main">
              <a:ext uri="{FF2B5EF4-FFF2-40B4-BE49-F238E27FC236}">
                <a16:creationId xmlns:a16="http://schemas.microsoft.com/office/drawing/2014/main" id="{0B816B7C-9E7D-44C8-B02D-7F27094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2_ellipse_4">
            <a:extLst xmlns:a="http://schemas.openxmlformats.org/drawingml/2006/main">
              <a:ext uri="{FF2B5EF4-FFF2-40B4-BE49-F238E27FC236}">
                <a16:creationId xmlns:a16="http://schemas.microsoft.com/office/drawing/2014/main" id="{A2E0E77E-60A1-4CBF-93A9-93F757E1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55495" cy="17234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6" name="p2_ellipse_5">
            <a:extLst xmlns:a="http://schemas.openxmlformats.org/drawingml/2006/main">
              <a:ext uri="{FF2B5EF4-FFF2-40B4-BE49-F238E27FC236}">
                <a16:creationId xmlns:a16="http://schemas.microsoft.com/office/drawing/2014/main" id="{CE087B08-6B91-422A-B256-1224F043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63153"/>
            <a:ext cx="529685" cy="498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</a:ln>
        </p:spPr>
      </p:sp>
      <p:sp>
        <p:nvSpPr>
          <p:cNvPr id="7" name="p2_ellipse_6">
            <a:extLst xmlns:a="http://schemas.openxmlformats.org/drawingml/2006/main">
              <a:ext uri="{FF2B5EF4-FFF2-40B4-BE49-F238E27FC236}">
                <a16:creationId xmlns:a16="http://schemas.microsoft.com/office/drawing/2014/main" id="{980C09BB-299F-4FEF-A06D-35A65C4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36" y="2244566"/>
            <a:ext cx="142304" cy="142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8" name="p2_ellipse_7">
            <a:extLst xmlns:a="http://schemas.openxmlformats.org/drawingml/2006/main">
              <a:ext uri="{FF2B5EF4-FFF2-40B4-BE49-F238E27FC236}">
                <a16:creationId xmlns:a16="http://schemas.microsoft.com/office/drawing/2014/main" id="{2021BCF5-2997-42EA-8687-0C899DE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601" y="2054828"/>
            <a:ext cx="142304" cy="142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9" name="p2_ellipse_8">
            <a:extLst xmlns:a="http://schemas.openxmlformats.org/drawingml/2006/main">
              <a:ext uri="{FF2B5EF4-FFF2-40B4-BE49-F238E27FC236}">
                <a16:creationId xmlns:a16="http://schemas.microsoft.com/office/drawing/2014/main" id="{F379A859-D4B9-4001-8E73-A7AE050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251" y="2956084"/>
            <a:ext cx="142304" cy="142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10" name="p2_ellipse_9">
            <a:extLst xmlns:a="http://schemas.openxmlformats.org/drawingml/2006/main">
              <a:ext uri="{FF2B5EF4-FFF2-40B4-BE49-F238E27FC236}">
                <a16:creationId xmlns:a16="http://schemas.microsoft.com/office/drawing/2014/main" id="{9217C617-24CB-434B-A7EA-72A2E397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1215"/>
            <a:ext cx="142304" cy="142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1" name="p2_path">
            <a:extLst xmlns:a="http://schemas.openxmlformats.org/drawingml/2006/main">
              <a:ext uri="{FF2B5EF4-FFF2-40B4-BE49-F238E27FC236}">
                <a16:creationId xmlns:a16="http://schemas.microsoft.com/office/drawing/2014/main" id="{6EE25815-136E-4913-A595-2FA72B2A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435" y="1727944"/>
            <a:ext cx="890315" cy="637979"/>
          </a:xfrm>
          <a:custGeom xmlns:a="http://schemas.openxmlformats.org/drawingml/2006/main">
            <a:pathLst>
              <a:path w="1112894" h="797474">
                <a:moveTo>
                  <a:pt x="1104281" y="430870"/>
                </a:moveTo>
                <a:lnTo>
                  <a:pt x="1112894" y="468165"/>
                </a:lnTo>
                <a:lnTo>
                  <a:pt x="1110197" y="505712"/>
                </a:lnTo>
                <a:lnTo>
                  <a:pt x="1097156" y="542065"/>
                </a:lnTo>
                <a:lnTo>
                  <a:pt x="1075860" y="576256"/>
                </a:lnTo>
                <a:lnTo>
                  <a:pt x="1048888" y="607952"/>
                </a:lnTo>
                <a:lnTo>
                  <a:pt x="1018629" y="637388"/>
                </a:lnTo>
                <a:lnTo>
                  <a:pt x="986743" y="665112"/>
                </a:lnTo>
                <a:lnTo>
                  <a:pt x="953893" y="691624"/>
                </a:lnTo>
                <a:lnTo>
                  <a:pt x="919816" y="717045"/>
                </a:lnTo>
                <a:lnTo>
                  <a:pt x="883664" y="740917"/>
                </a:lnTo>
                <a:lnTo>
                  <a:pt x="844519" y="762208"/>
                </a:lnTo>
                <a:lnTo>
                  <a:pt x="801883" y="779543"/>
                </a:lnTo>
                <a:lnTo>
                  <a:pt x="756001" y="791587"/>
                </a:lnTo>
                <a:lnTo>
                  <a:pt x="707911" y="797474"/>
                </a:lnTo>
                <a:lnTo>
                  <a:pt x="659202" y="797162"/>
                </a:lnTo>
                <a:lnTo>
                  <a:pt x="611548" y="791577"/>
                </a:lnTo>
                <a:lnTo>
                  <a:pt x="566191" y="782505"/>
                </a:lnTo>
                <a:lnTo>
                  <a:pt x="523503" y="772234"/>
                </a:lnTo>
                <a:lnTo>
                  <a:pt x="482816" y="763032"/>
                </a:lnTo>
                <a:lnTo>
                  <a:pt x="442564" y="756581"/>
                </a:lnTo>
                <a:lnTo>
                  <a:pt x="400732" y="753536"/>
                </a:lnTo>
                <a:lnTo>
                  <a:pt x="355499" y="753312"/>
                </a:lnTo>
                <a:lnTo>
                  <a:pt x="305901" y="754178"/>
                </a:lnTo>
                <a:lnTo>
                  <a:pt x="252310" y="753628"/>
                </a:lnTo>
                <a:lnTo>
                  <a:pt x="196606" y="748954"/>
                </a:lnTo>
                <a:lnTo>
                  <a:pt x="141942" y="737865"/>
                </a:lnTo>
                <a:lnTo>
                  <a:pt x="92173" y="719010"/>
                </a:lnTo>
                <a:lnTo>
                  <a:pt x="51053" y="692268"/>
                </a:lnTo>
                <a:lnTo>
                  <a:pt x="21421" y="658738"/>
                </a:lnTo>
                <a:lnTo>
                  <a:pt x="4577" y="620450"/>
                </a:lnTo>
                <a:lnTo>
                  <a:pt x="0" y="579868"/>
                </a:lnTo>
                <a:lnTo>
                  <a:pt x="5498" y="539330"/>
                </a:lnTo>
                <a:lnTo>
                  <a:pt x="17739" y="500569"/>
                </a:lnTo>
                <a:lnTo>
                  <a:pt x="33030" y="464434"/>
                </a:lnTo>
                <a:lnTo>
                  <a:pt x="48149" y="430870"/>
                </a:lnTo>
                <a:lnTo>
                  <a:pt x="61014" y="399142"/>
                </a:lnTo>
                <a:lnTo>
                  <a:pt x="71037" y="368223"/>
                </a:lnTo>
                <a:lnTo>
                  <a:pt x="79084" y="337216"/>
                </a:lnTo>
                <a:lnTo>
                  <a:pt x="87072" y="305697"/>
                </a:lnTo>
                <a:lnTo>
                  <a:pt x="97346" y="273861"/>
                </a:lnTo>
                <a:lnTo>
                  <a:pt x="111994" y="242456"/>
                </a:lnTo>
                <a:lnTo>
                  <a:pt x="132314" y="212517"/>
                </a:lnTo>
                <a:lnTo>
                  <a:pt x="158550" y="185010"/>
                </a:lnTo>
                <a:lnTo>
                  <a:pt x="189962" y="160492"/>
                </a:lnTo>
                <a:lnTo>
                  <a:pt x="225176" y="138906"/>
                </a:lnTo>
                <a:lnTo>
                  <a:pt x="262699" y="119586"/>
                </a:lnTo>
                <a:lnTo>
                  <a:pt x="301415" y="101484"/>
                </a:lnTo>
                <a:lnTo>
                  <a:pt x="340914" y="83550"/>
                </a:lnTo>
                <a:lnTo>
                  <a:pt x="381549" y="65160"/>
                </a:lnTo>
                <a:lnTo>
                  <a:pt x="424190" y="46467"/>
                </a:lnTo>
                <a:lnTo>
                  <a:pt x="469780" y="28545"/>
                </a:lnTo>
                <a:lnTo>
                  <a:pt x="518808" y="13279"/>
                </a:lnTo>
                <a:lnTo>
                  <a:pt x="570886" y="3009"/>
                </a:lnTo>
                <a:lnTo>
                  <a:pt x="624584" y="0"/>
                </a:lnTo>
                <a:lnTo>
                  <a:pt x="677576" y="5886"/>
                </a:lnTo>
                <a:lnTo>
                  <a:pt x="727094" y="21221"/>
                </a:lnTo>
                <a:lnTo>
                  <a:pt x="770586" y="45274"/>
                </a:lnTo>
                <a:lnTo>
                  <a:pt x="806369" y="76118"/>
                </a:lnTo>
                <a:lnTo>
                  <a:pt x="834130" y="111006"/>
                </a:lnTo>
                <a:lnTo>
                  <a:pt x="855093" y="146943"/>
                </a:lnTo>
                <a:lnTo>
                  <a:pt x="871796" y="181313"/>
                </a:lnTo>
                <a:lnTo>
                  <a:pt x="887516" y="212397"/>
                </a:lnTo>
                <a:lnTo>
                  <a:pt x="905482" y="239672"/>
                </a:lnTo>
                <a:lnTo>
                  <a:pt x="928057" y="263805"/>
                </a:lnTo>
                <a:lnTo>
                  <a:pt x="956119" y="286359"/>
                </a:lnTo>
                <a:lnTo>
                  <a:pt x="988788" y="309309"/>
                </a:lnTo>
                <a:lnTo>
                  <a:pt x="1023570" y="334481"/>
                </a:lnTo>
                <a:lnTo>
                  <a:pt x="1056898" y="363080"/>
                </a:lnTo>
                <a:lnTo>
                  <a:pt x="1084910" y="395411"/>
                </a:lnTo>
                <a:lnTo>
                  <a:pt x="1104281" y="430870"/>
                </a:lnTo>
                <a:close/>
              </a:path>
            </a:pathLst>
          </a:custGeom>
          <a:solidFill xmlns:a="http://schemas.openxmlformats.org/drawingml/2006/main">
            <a:srgbClr val="F5F6F7"/>
          </a:solidFill>
          <a:ln xmlns:a="http://schemas.openxmlformats.org/drawingml/2006/main" w="23813">
            <a:solidFill>
              <a:srgbClr val="AAB2BA"/>
            </a:solidFill>
          </a:ln>
        </p:spPr>
      </p:sp>
      <p:sp>
        <p:nvSpPr>
          <p:cNvPr id="32" name="p2_ellipse_31">
            <a:extLst xmlns:a="http://schemas.openxmlformats.org/drawingml/2006/main">
              <a:ext uri="{FF2B5EF4-FFF2-40B4-BE49-F238E27FC236}">
                <a16:creationId xmlns:a16="http://schemas.microsoft.com/office/drawing/2014/main" id="{AA1CC387-5C75-44C0-A7BB-DDF467C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18821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3" name="p2_ellipse_32">
            <a:extLst xmlns:a="http://schemas.openxmlformats.org/drawingml/2006/main">
              <a:ext uri="{FF2B5EF4-FFF2-40B4-BE49-F238E27FC236}">
                <a16:creationId xmlns:a16="http://schemas.microsoft.com/office/drawing/2014/main" id="{E624E404-0E80-475D-8DAE-BFA5CB75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040" y="214122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4" name="p2_path">
            <a:extLst xmlns:a="http://schemas.openxmlformats.org/drawingml/2006/main">
              <a:ext uri="{FF2B5EF4-FFF2-40B4-BE49-F238E27FC236}">
                <a16:creationId xmlns:a16="http://schemas.microsoft.com/office/drawing/2014/main" id="{AF114ED5-6A7E-49CE-9363-45E53E5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40" y="2621280"/>
            <a:ext cx="762" cy="320040"/>
          </a:xfrm>
          <a:custGeom xmlns:a="http://schemas.openxmlformats.org/drawingml/2006/main">
            <a:pathLst>
              <a:path w="953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5" name="p2_path">
            <a:extLst xmlns:a="http://schemas.openxmlformats.org/drawingml/2006/main">
              <a:ext uri="{FF2B5EF4-FFF2-40B4-BE49-F238E27FC236}">
                <a16:creationId xmlns:a16="http://schemas.microsoft.com/office/drawing/2014/main" id="{BE8D652B-A47C-42BD-9714-BB8A8564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154" y="2857827"/>
            <a:ext cx="74571" cy="83493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6" name="p2_path">
            <a:extLst xmlns:a="http://schemas.openxmlformats.org/drawingml/2006/main">
              <a:ext uri="{FF2B5EF4-FFF2-40B4-BE49-F238E27FC236}">
                <a16:creationId xmlns:a16="http://schemas.microsoft.com/office/drawing/2014/main" id="{BB5FF6A0-BC3E-4DBE-89B9-5927058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745" y="3103159"/>
            <a:ext cx="862051" cy="447943"/>
          </a:xfrm>
          <a:custGeom xmlns:a="http://schemas.openxmlformats.org/drawingml/2006/main">
            <a:pathLst>
              <a:path w="1077564" h="559929">
                <a:moveTo>
                  <a:pt x="1069224" y="302526"/>
                </a:moveTo>
                <a:lnTo>
                  <a:pt x="1077564" y="328711"/>
                </a:lnTo>
                <a:lnTo>
                  <a:pt x="1074952" y="355074"/>
                </a:lnTo>
                <a:lnTo>
                  <a:pt x="1062325" y="380599"/>
                </a:lnTo>
                <a:lnTo>
                  <a:pt x="1041706" y="404605"/>
                </a:lnTo>
                <a:lnTo>
                  <a:pt x="1015590" y="426860"/>
                </a:lnTo>
                <a:lnTo>
                  <a:pt x="986291" y="447528"/>
                </a:lnTo>
                <a:lnTo>
                  <a:pt x="955418" y="466993"/>
                </a:lnTo>
                <a:lnTo>
                  <a:pt x="923611" y="485608"/>
                </a:lnTo>
                <a:lnTo>
                  <a:pt x="890615" y="503457"/>
                </a:lnTo>
                <a:lnTo>
                  <a:pt x="855611" y="520218"/>
                </a:lnTo>
                <a:lnTo>
                  <a:pt x="817709" y="535167"/>
                </a:lnTo>
                <a:lnTo>
                  <a:pt x="776426" y="547339"/>
                </a:lnTo>
                <a:lnTo>
                  <a:pt x="732001" y="555795"/>
                </a:lnTo>
                <a:lnTo>
                  <a:pt x="685438" y="559929"/>
                </a:lnTo>
                <a:lnTo>
                  <a:pt x="638275" y="559710"/>
                </a:lnTo>
                <a:lnTo>
                  <a:pt x="592134" y="555788"/>
                </a:lnTo>
                <a:lnTo>
                  <a:pt x="548217" y="549418"/>
                </a:lnTo>
                <a:lnTo>
                  <a:pt x="506884" y="542207"/>
                </a:lnTo>
                <a:lnTo>
                  <a:pt x="467489" y="535746"/>
                </a:lnTo>
                <a:lnTo>
                  <a:pt x="428514" y="531217"/>
                </a:lnTo>
                <a:lnTo>
                  <a:pt x="388010" y="529078"/>
                </a:lnTo>
                <a:lnTo>
                  <a:pt x="344214" y="528921"/>
                </a:lnTo>
                <a:lnTo>
                  <a:pt x="296190" y="529529"/>
                </a:lnTo>
                <a:lnTo>
                  <a:pt x="244300" y="529143"/>
                </a:lnTo>
                <a:lnTo>
                  <a:pt x="190364" y="525862"/>
                </a:lnTo>
                <a:lnTo>
                  <a:pt x="137436" y="518076"/>
                </a:lnTo>
                <a:lnTo>
                  <a:pt x="89247" y="504837"/>
                </a:lnTo>
                <a:lnTo>
                  <a:pt x="49432" y="486060"/>
                </a:lnTo>
                <a:lnTo>
                  <a:pt x="20741" y="462518"/>
                </a:lnTo>
                <a:lnTo>
                  <a:pt x="4432" y="435635"/>
                </a:lnTo>
                <a:lnTo>
                  <a:pt x="0" y="407141"/>
                </a:lnTo>
                <a:lnTo>
                  <a:pt x="5324" y="378678"/>
                </a:lnTo>
                <a:lnTo>
                  <a:pt x="17176" y="351463"/>
                </a:lnTo>
                <a:lnTo>
                  <a:pt x="31981" y="326092"/>
                </a:lnTo>
                <a:lnTo>
                  <a:pt x="46620" y="302526"/>
                </a:lnTo>
                <a:lnTo>
                  <a:pt x="59077" y="280249"/>
                </a:lnTo>
                <a:lnTo>
                  <a:pt x="68782" y="258540"/>
                </a:lnTo>
                <a:lnTo>
                  <a:pt x="76573" y="236769"/>
                </a:lnTo>
                <a:lnTo>
                  <a:pt x="84308" y="214638"/>
                </a:lnTo>
                <a:lnTo>
                  <a:pt x="94255" y="192285"/>
                </a:lnTo>
                <a:lnTo>
                  <a:pt x="108438" y="170235"/>
                </a:lnTo>
                <a:lnTo>
                  <a:pt x="128114" y="149214"/>
                </a:lnTo>
                <a:lnTo>
                  <a:pt x="153517" y="129901"/>
                </a:lnTo>
                <a:lnTo>
                  <a:pt x="183932" y="112686"/>
                </a:lnTo>
                <a:lnTo>
                  <a:pt x="218028" y="97530"/>
                </a:lnTo>
                <a:lnTo>
                  <a:pt x="254359" y="83965"/>
                </a:lnTo>
                <a:lnTo>
                  <a:pt x="291846" y="71255"/>
                </a:lnTo>
                <a:lnTo>
                  <a:pt x="330092" y="58662"/>
                </a:lnTo>
                <a:lnTo>
                  <a:pt x="369436" y="45751"/>
                </a:lnTo>
                <a:lnTo>
                  <a:pt x="410724" y="32626"/>
                </a:lnTo>
                <a:lnTo>
                  <a:pt x="454867" y="20042"/>
                </a:lnTo>
                <a:lnTo>
                  <a:pt x="502338" y="9324"/>
                </a:lnTo>
                <a:lnTo>
                  <a:pt x="552763" y="2113"/>
                </a:lnTo>
                <a:lnTo>
                  <a:pt x="604756" y="0"/>
                </a:lnTo>
                <a:lnTo>
                  <a:pt x="656065" y="4133"/>
                </a:lnTo>
                <a:lnTo>
                  <a:pt x="704012" y="14900"/>
                </a:lnTo>
                <a:lnTo>
                  <a:pt x="746123" y="31788"/>
                </a:lnTo>
                <a:lnTo>
                  <a:pt x="780770" y="53445"/>
                </a:lnTo>
                <a:lnTo>
                  <a:pt x="807650" y="77940"/>
                </a:lnTo>
                <a:lnTo>
                  <a:pt x="827947" y="103173"/>
                </a:lnTo>
                <a:lnTo>
                  <a:pt x="844120" y="127305"/>
                </a:lnTo>
                <a:lnTo>
                  <a:pt x="859341" y="149130"/>
                </a:lnTo>
                <a:lnTo>
                  <a:pt x="876736" y="168281"/>
                </a:lnTo>
                <a:lnTo>
                  <a:pt x="898595" y="185225"/>
                </a:lnTo>
                <a:lnTo>
                  <a:pt x="925766" y="201061"/>
                </a:lnTo>
                <a:lnTo>
                  <a:pt x="957398" y="217175"/>
                </a:lnTo>
                <a:lnTo>
                  <a:pt x="991076" y="234849"/>
                </a:lnTo>
                <a:lnTo>
                  <a:pt x="1023346" y="254928"/>
                </a:lnTo>
                <a:lnTo>
                  <a:pt x="1050469" y="277629"/>
                </a:lnTo>
                <a:lnTo>
                  <a:pt x="1069224" y="302526"/>
                </a:lnTo>
                <a:close/>
              </a:path>
            </a:pathLst>
          </a:custGeom>
          <a:solidFill xmlns:a="http://schemas.openxmlformats.org/drawingml/2006/main">
            <a:srgbClr val="F5F6F7"/>
          </a:solidFill>
          <a:ln xmlns:a="http://schemas.openxmlformats.org/drawingml/2006/main" w="23813">
            <a:solidFill>
              <a:srgbClr val="AAB2BA"/>
            </a:solidFill>
          </a:ln>
        </p:spPr>
      </p:sp>
      <p:sp>
        <p:nvSpPr>
          <p:cNvPr id="37" name="p2_ellipse_36">
            <a:extLst xmlns:a="http://schemas.openxmlformats.org/drawingml/2006/main">
              <a:ext uri="{FF2B5EF4-FFF2-40B4-BE49-F238E27FC236}">
                <a16:creationId xmlns:a16="http://schemas.microsoft.com/office/drawing/2014/main" id="{AC897109-BBDE-4A11-AC86-43FECE05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32537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8" name="p2_ellipse_37">
            <a:extLst xmlns:a="http://schemas.openxmlformats.org/drawingml/2006/main">
              <a:ext uri="{FF2B5EF4-FFF2-40B4-BE49-F238E27FC236}">
                <a16:creationId xmlns:a16="http://schemas.microsoft.com/office/drawing/2014/main" id="{5AE59047-844A-48BC-B747-8CED3892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156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44" name="v2_p2_18">
            <a:extLst xmlns:a="http://schemas.openxmlformats.org/drawingml/2006/main">
              <a:ext uri="{FF2B5EF4-FFF2-40B4-BE49-F238E27FC236}">
                <a16:creationId xmlns:a16="http://schemas.microsoft.com/office/drawing/2014/main" id="{A826201A-F840-4567-B642-FB7612C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① 空间位置</a:t>
            </a:r>
          </a:p>
        </p:txBody>
      </p:sp>
      <p:sp>
        <p:nvSpPr>
          <p:cNvPr id="45" name="v2_p2_19">
            <a:extLst xmlns:a="http://schemas.openxmlformats.org/drawingml/2006/main">
              <a:ext uri="{FF2B5EF4-FFF2-40B4-BE49-F238E27FC236}">
                <a16:creationId xmlns:a16="http://schemas.microsoft.com/office/drawing/2014/main" id="{3AB9C7D4-7BB9-4E70-B781-EC9F661B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② 构象状态</a:t>
            </a:r>
          </a:p>
        </p:txBody>
      </p:sp>
      <p:sp>
        <p:nvSpPr>
          <p:cNvPr id="46" name="v2_p2_20">
            <a:extLst xmlns:a="http://schemas.openxmlformats.org/drawingml/2006/main">
              <a:ext uri="{FF2B5EF4-FFF2-40B4-BE49-F238E27FC236}">
                <a16:creationId xmlns:a16="http://schemas.microsoft.com/office/drawing/2014/main" id="{2DEE3866-2521-4D7E-8AE8-0E460FC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③ 分子相互作用</a:t>
            </a:r>
          </a:p>
        </p:txBody>
      </p:sp>
      <p:sp>
        <p:nvSpPr>
          <p:cNvPr id="47" name="v2_p2_21">
            <a:extLst xmlns:a="http://schemas.openxmlformats.org/drawingml/2006/main">
              <a:ext uri="{FF2B5EF4-FFF2-40B4-BE49-F238E27FC236}">
                <a16:creationId xmlns:a16="http://schemas.microsoft.com/office/drawing/2014/main" id="{791255FA-DEC6-471B-93CF-0D16DE3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10096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8" name="v2_p2_22">
            <a:extLst xmlns:a="http://schemas.openxmlformats.org/drawingml/2006/main">
              <a:ext uri="{FF2B5EF4-FFF2-40B4-BE49-F238E27FC236}">
                <a16:creationId xmlns:a16="http://schemas.microsoft.com/office/drawing/2014/main" id="{D613043B-5635-4F07-BB6B-34937719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628900"/>
            <a:ext cx="10096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9" name="v2_p2_23">
            <a:extLst xmlns:a="http://schemas.openxmlformats.org/drawingml/2006/main">
              <a:ext uri="{FF2B5EF4-FFF2-40B4-BE49-F238E27FC236}">
                <a16:creationId xmlns:a16="http://schemas.microsoft.com/office/drawing/2014/main" id="{D3543659-D801-470B-9EED-87962B1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52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50" name="v2_p2_24">
            <a:extLst xmlns:a="http://schemas.openxmlformats.org/drawingml/2006/main">
              <a:ext uri="{FF2B5EF4-FFF2-40B4-BE49-F238E27FC236}">
                <a16:creationId xmlns:a16="http://schemas.microsoft.com/office/drawing/2014/main" id="{4726ED8D-8332-4F13-A1AE-9EDF73C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C2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197951-1826-451B-AF4F-4DBB1872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90800"/>
            <a:ext cx="628650" cy="133350"/>
          </a:xfrm>
          <a:custGeom xmlns:a="http://schemas.openxmlformats.org/drawingml/2006/main">
            <a:pathLst>
              <a:path w="628650" h="133350">
                <a:moveTo>
                  <a:pt x="0" y="0"/>
                </a:moveTo>
                <a:lnTo>
                  <a:pt x="6286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903A69-7A3C-4FE3-ACC4-1029139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998" y="2724150"/>
            <a:ext cx="102452" cy="21941"/>
          </a:xfrm>
          <a:custGeom xmlns:a="http://schemas.openxmlformats.org/drawingml/2006/main">
            <a:pathLst>
              <a:path w="102452" h="21941">
                <a:moveTo>
                  <a:pt x="0" y="21941"/>
                </a:moveTo>
                <a:lnTo>
                  <a:pt x="1024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D370C0-A83F-4508-A8C0-06145F07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729" y="2662505"/>
            <a:ext cx="84721" cy="61645"/>
          </a:xfrm>
          <a:custGeom xmlns:a="http://schemas.openxmlformats.org/drawingml/2006/main">
            <a:pathLst>
              <a:path w="84721" h="61645">
                <a:moveTo>
                  <a:pt x="0" y="0"/>
                </a:moveTo>
                <a:lnTo>
                  <a:pt x="84721" y="61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54" name="v2_p2_28">
            <a:extLst xmlns:a="http://schemas.openxmlformats.org/drawingml/2006/main">
              <a:ext uri="{FF2B5EF4-FFF2-40B4-BE49-F238E27FC236}">
                <a16:creationId xmlns:a16="http://schemas.microsoft.com/office/drawing/2014/main" id="{E1917035-B8C7-4AB1-A39F-827CCA20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19475"/>
            <a:ext cx="3514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接近 ≠ 已证实结合</a:t>
            </a:r>
          </a:p>
        </p:txBody>
      </p:sp>
      <p:sp>
        <p:nvSpPr>
          <p:cNvPr id="55" name="v2_p2_29">
            <a:extLst xmlns:a="http://schemas.openxmlformats.org/drawingml/2006/main">
              <a:ext uri="{FF2B5EF4-FFF2-40B4-BE49-F238E27FC236}">
                <a16:creationId xmlns:a16="http://schemas.microsoft.com/office/drawing/2014/main" id="{440791E0-4567-4954-B157-EF7EBA68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位于细胞的什么位置？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是否形成特定空间组织？</a:t>
            </a:r>
          </a:p>
        </p:txBody>
      </p:sp>
      <p:sp>
        <p:nvSpPr>
          <p:cNvPr id="56" name="v2_p2_30">
            <a:extLst xmlns:a="http://schemas.openxmlformats.org/drawingml/2006/main">
              <a:ext uri="{FF2B5EF4-FFF2-40B4-BE49-F238E27FC236}">
                <a16:creationId xmlns:a16="http://schemas.microsoft.com/office/drawing/2014/main" id="{069AA1E4-3D32-46F5-A196-11430E1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状态改变时，内部相对距离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可能发生纳米尺度变化。</a:t>
            </a:r>
          </a:p>
        </p:txBody>
      </p:sp>
      <p:sp>
        <p:nvSpPr>
          <p:cNvPr id="57" name="v2_p2_31">
            <a:extLst xmlns:a="http://schemas.openxmlformats.org/drawingml/2006/main">
              <a:ext uri="{FF2B5EF4-FFF2-40B4-BE49-F238E27FC236}">
                <a16:creationId xmlns:a16="http://schemas.microsoft.com/office/drawing/2014/main" id="{BFC8562E-402B-492C-B90D-0BFC7D0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54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两个分子是否接近？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相互作用能否改变光信号？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96D60B-2829-4A26-99A0-C0809A7E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5E8EB"/>
            </a:solidFill>
          </a:ln>
        </p:spPr>
      </p:sp>
      <p:sp>
        <p:nvSpPr>
          <p:cNvPr id="59" name="v2_p2_33">
            <a:extLst xmlns:a="http://schemas.openxmlformats.org/drawingml/2006/main">
              <a:ext uri="{FF2B5EF4-FFF2-40B4-BE49-F238E27FC236}">
                <a16:creationId xmlns:a16="http://schemas.microsoft.com/office/drawing/2014/main" id="{F9002E70-1654-42AF-A500-429E57C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细胞尺度</a:t>
            </a:r>
          </a:p>
        </p:txBody>
      </p:sp>
      <p:sp>
        <p:nvSpPr>
          <p:cNvPr id="60" name="v2_p2_34">
            <a:extLst xmlns:a="http://schemas.openxmlformats.org/drawingml/2006/main">
              <a:ext uri="{FF2B5EF4-FFF2-40B4-BE49-F238E27FC236}">
                <a16:creationId xmlns:a16="http://schemas.microsoft.com/office/drawing/2014/main" id="{09566E21-CA73-4D47-B346-392CB61A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µm</a:t>
            </a:r>
          </a:p>
        </p:txBody>
      </p:sp>
      <p:sp>
        <p:nvSpPr>
          <p:cNvPr id="61" name="v2_p2_35">
            <a:extLst xmlns:a="http://schemas.openxmlformats.org/drawingml/2006/main">
              <a:ext uri="{FF2B5EF4-FFF2-40B4-BE49-F238E27FC236}">
                <a16:creationId xmlns:a16="http://schemas.microsoft.com/office/drawing/2014/main" id="{E63F77CE-962D-4522-9D80-9ED01A8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054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普通荧光成像分辨</a:t>
            </a:r>
          </a:p>
        </p:txBody>
      </p:sp>
      <p:sp>
        <p:nvSpPr>
          <p:cNvPr id="62" name="v2_p2_36">
            <a:extLst xmlns:a="http://schemas.openxmlformats.org/drawingml/2006/main">
              <a:ext uri="{FF2B5EF4-FFF2-40B4-BE49-F238E27FC236}">
                <a16:creationId xmlns:a16="http://schemas.microsoft.com/office/drawing/2014/main" id="{B731667C-728E-4065-AC32-1327E642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67375"/>
            <a:ext cx="333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约数百 nm</a:t>
            </a:r>
          </a:p>
        </p:txBody>
      </p:sp>
      <p:sp>
        <p:nvSpPr>
          <p:cNvPr id="63" name="v2_p2_37">
            <a:extLst xmlns:a="http://schemas.openxmlformats.org/drawingml/2006/main">
              <a:ext uri="{FF2B5EF4-FFF2-40B4-BE49-F238E27FC236}">
                <a16:creationId xmlns:a16="http://schemas.microsoft.com/office/drawing/2014/main" id="{16024BF7-658E-4116-A942-5AE158B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054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FRET典型敏感距离</a:t>
            </a:r>
          </a:p>
        </p:txBody>
      </p:sp>
      <p:sp>
        <p:nvSpPr>
          <p:cNvPr id="64" name="v2_p2_38">
            <a:extLst xmlns:a="http://schemas.openxmlformats.org/drawingml/2006/main">
              <a:ext uri="{FF2B5EF4-FFF2-40B4-BE49-F238E27FC236}">
                <a16:creationId xmlns:a16="http://schemas.microsoft.com/office/drawing/2014/main" id="{30506160-5603-49E4-8FDD-B194EF09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6737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25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C25C24"/>
                </a:solidFill>
                <a:latin typeface="Noto Sans CJK SC"/>
                <a:ea typeface="Noto Sans CJK SC"/>
                <a:cs typeface="Noto Sans CJK SC"/>
              </a:rPr>
              <a:t>约2–8 nm</a:t>
            </a:r>
          </a:p>
        </p:txBody>
      </p:sp>
      <p:sp>
        <p:nvSpPr>
          <p:cNvPr id="65" name="v2_p2_39">
            <a:extLst xmlns:a="http://schemas.openxmlformats.org/drawingml/2006/main">
              <a:ext uri="{FF2B5EF4-FFF2-40B4-BE49-F238E27FC236}">
                <a16:creationId xmlns:a16="http://schemas.microsoft.com/office/drawing/2014/main" id="{017B1A55-F598-4BF5-8FD9-C47A713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53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（非硬边界）</a:t>
            </a:r>
          </a:p>
        </p:txBody>
      </p:sp>
    </p:spTree>
    <p:extLst>
      <p:ext uri="{BB962C8B-B14F-4D97-AF65-F5344CB8AC3E}">
        <p14:creationId xmlns:p14="http://schemas.microsoft.com/office/powerpoint/2010/main" val="1130049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3_textbox_0">
            <a:extLst xmlns:a="http://schemas.openxmlformats.org/drawingml/2006/main">
              <a:ext uri="{FF2B5EF4-FFF2-40B4-BE49-F238E27FC236}">
                <a16:creationId xmlns:a16="http://schemas.microsoft.com/office/drawing/2014/main" id="{BE5BBC0D-CAC7-4920-81E2-4618D57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让蛋白质信息搭上荧光信号</a:t>
            </a:r>
          </a:p>
        </p:txBody>
      </p:sp>
      <p:sp>
        <p:nvSpPr>
          <p:cNvPr id="2" name="p3_path">
            <a:extLst xmlns:a="http://schemas.openxmlformats.org/drawingml/2006/main">
              <a:ext uri="{FF2B5EF4-FFF2-40B4-BE49-F238E27FC236}">
                <a16:creationId xmlns:a16="http://schemas.microsoft.com/office/drawing/2014/main" id="{09D8377B-235C-45A4-9685-61D203C4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3_textbox_2">
            <a:extLst xmlns:a="http://schemas.openxmlformats.org/drawingml/2006/main">
              <a:ext uri="{FF2B5EF4-FFF2-40B4-BE49-F238E27FC236}">
                <a16:creationId xmlns:a16="http://schemas.microsoft.com/office/drawing/2014/main" id="{61A879E8-737D-4F08-A3F5-75C213F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Lichtman &amp; Conchello, Nat. Methods, 2005, Figs. 1–2;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Lelek et al., Nat. Rev. Methods Primers, 2021, Fig. 2.</a:t>
            </a:r>
          </a:p>
        </p:txBody>
      </p:sp>
      <p:sp>
        <p:nvSpPr>
          <p:cNvPr id="4" name="p3_textbox_3">
            <a:extLst xmlns:a="http://schemas.openxmlformats.org/drawingml/2006/main">
              <a:ext uri="{FF2B5EF4-FFF2-40B4-BE49-F238E27FC236}">
                <a16:creationId xmlns:a16="http://schemas.microsoft.com/office/drawing/2014/main" id="{A3291388-6C45-422E-B668-F9B6C0F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p3_path">
            <a:extLst xmlns:a="http://schemas.openxmlformats.org/drawingml/2006/main">
              <a:ext uri="{FF2B5EF4-FFF2-40B4-BE49-F238E27FC236}">
                <a16:creationId xmlns:a16="http://schemas.microsoft.com/office/drawing/2014/main" id="{0EC12CD0-1CFA-461C-AC2D-13C4E3D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94" y="2277752"/>
            <a:ext cx="1462661" cy="928464"/>
          </a:xfrm>
          <a:custGeom xmlns:a="http://schemas.openxmlformats.org/drawingml/2006/main">
            <a:pathLst>
              <a:path w="2031473" h="1289533">
                <a:moveTo>
                  <a:pt x="2015750" y="696726"/>
                </a:moveTo>
                <a:lnTo>
                  <a:pt x="2031473" y="757032"/>
                </a:lnTo>
                <a:lnTo>
                  <a:pt x="2026550" y="817747"/>
                </a:lnTo>
                <a:lnTo>
                  <a:pt x="2002745" y="876530"/>
                </a:lnTo>
                <a:lnTo>
                  <a:pt x="1963871" y="931818"/>
                </a:lnTo>
                <a:lnTo>
                  <a:pt x="1914636" y="983071"/>
                </a:lnTo>
                <a:lnTo>
                  <a:pt x="1859402" y="1030671"/>
                </a:lnTo>
                <a:lnTo>
                  <a:pt x="1801197" y="1075500"/>
                </a:lnTo>
                <a:lnTo>
                  <a:pt x="1741234" y="1118370"/>
                </a:lnTo>
                <a:lnTo>
                  <a:pt x="1679029" y="1159477"/>
                </a:lnTo>
                <a:lnTo>
                  <a:pt x="1613037" y="1198078"/>
                </a:lnTo>
                <a:lnTo>
                  <a:pt x="1541582" y="1232507"/>
                </a:lnTo>
                <a:lnTo>
                  <a:pt x="1463754" y="1260538"/>
                </a:lnTo>
                <a:lnTo>
                  <a:pt x="1380001" y="1280013"/>
                </a:lnTo>
                <a:lnTo>
                  <a:pt x="1292219" y="1289533"/>
                </a:lnTo>
                <a:lnTo>
                  <a:pt x="1203304" y="1289029"/>
                </a:lnTo>
                <a:lnTo>
                  <a:pt x="1116319" y="1279997"/>
                </a:lnTo>
                <a:lnTo>
                  <a:pt x="1033523" y="1265327"/>
                </a:lnTo>
                <a:lnTo>
                  <a:pt x="955601" y="1248720"/>
                </a:lnTo>
                <a:lnTo>
                  <a:pt x="881331" y="1233839"/>
                </a:lnTo>
                <a:lnTo>
                  <a:pt x="807855" y="1223408"/>
                </a:lnTo>
                <a:lnTo>
                  <a:pt x="731494" y="1218483"/>
                </a:lnTo>
                <a:lnTo>
                  <a:pt x="648928" y="1218121"/>
                </a:lnTo>
                <a:lnTo>
                  <a:pt x="558391" y="1219521"/>
                </a:lnTo>
                <a:lnTo>
                  <a:pt x="460566" y="1218633"/>
                </a:lnTo>
                <a:lnTo>
                  <a:pt x="358884" y="1211075"/>
                </a:lnTo>
                <a:lnTo>
                  <a:pt x="259101" y="1193144"/>
                </a:lnTo>
                <a:lnTo>
                  <a:pt x="168253" y="1162655"/>
                </a:lnTo>
                <a:lnTo>
                  <a:pt x="93192" y="1119411"/>
                </a:lnTo>
                <a:lnTo>
                  <a:pt x="39103" y="1065193"/>
                </a:lnTo>
                <a:lnTo>
                  <a:pt x="8355" y="1003281"/>
                </a:lnTo>
                <a:lnTo>
                  <a:pt x="0" y="937659"/>
                </a:lnTo>
                <a:lnTo>
                  <a:pt x="10036" y="872108"/>
                </a:lnTo>
                <a:lnTo>
                  <a:pt x="32380" y="809430"/>
                </a:lnTo>
                <a:lnTo>
                  <a:pt x="60293" y="750999"/>
                </a:lnTo>
                <a:lnTo>
                  <a:pt x="87890" y="696726"/>
                </a:lnTo>
                <a:lnTo>
                  <a:pt x="111374" y="645422"/>
                </a:lnTo>
                <a:lnTo>
                  <a:pt x="129671" y="595424"/>
                </a:lnTo>
                <a:lnTo>
                  <a:pt x="144359" y="545286"/>
                </a:lnTo>
                <a:lnTo>
                  <a:pt x="158941" y="494318"/>
                </a:lnTo>
                <a:lnTo>
                  <a:pt x="177694" y="442839"/>
                </a:lnTo>
                <a:lnTo>
                  <a:pt x="204433" y="392056"/>
                </a:lnTo>
                <a:lnTo>
                  <a:pt x="241525" y="343644"/>
                </a:lnTo>
                <a:lnTo>
                  <a:pt x="289418" y="299165"/>
                </a:lnTo>
                <a:lnTo>
                  <a:pt x="346756" y="259519"/>
                </a:lnTo>
                <a:lnTo>
                  <a:pt x="411036" y="224614"/>
                </a:lnTo>
                <a:lnTo>
                  <a:pt x="479530" y="193373"/>
                </a:lnTo>
                <a:lnTo>
                  <a:pt x="550202" y="164102"/>
                </a:lnTo>
                <a:lnTo>
                  <a:pt x="622304" y="135101"/>
                </a:lnTo>
                <a:lnTo>
                  <a:pt x="696478" y="105365"/>
                </a:lnTo>
                <a:lnTo>
                  <a:pt x="774315" y="75138"/>
                </a:lnTo>
                <a:lnTo>
                  <a:pt x="857536" y="46157"/>
                </a:lnTo>
                <a:lnTo>
                  <a:pt x="947030" y="21472"/>
                </a:lnTo>
                <a:lnTo>
                  <a:pt x="1042094" y="4865"/>
                </a:lnTo>
                <a:lnTo>
                  <a:pt x="1140114" y="0"/>
                </a:lnTo>
                <a:lnTo>
                  <a:pt x="1236844" y="9517"/>
                </a:lnTo>
                <a:lnTo>
                  <a:pt x="1327236" y="34315"/>
                </a:lnTo>
                <a:lnTo>
                  <a:pt x="1406625" y="73210"/>
                </a:lnTo>
                <a:lnTo>
                  <a:pt x="1471943" y="123085"/>
                </a:lnTo>
                <a:lnTo>
                  <a:pt x="1522619" y="179499"/>
                </a:lnTo>
                <a:lnTo>
                  <a:pt x="1560885" y="237611"/>
                </a:lnTo>
                <a:lnTo>
                  <a:pt x="1591373" y="293186"/>
                </a:lnTo>
                <a:lnTo>
                  <a:pt x="1620069" y="343450"/>
                </a:lnTo>
                <a:lnTo>
                  <a:pt x="1652863" y="387555"/>
                </a:lnTo>
                <a:lnTo>
                  <a:pt x="1694072" y="426578"/>
                </a:lnTo>
                <a:lnTo>
                  <a:pt x="1745297" y="463049"/>
                </a:lnTo>
                <a:lnTo>
                  <a:pt x="1804930" y="500160"/>
                </a:lnTo>
                <a:lnTo>
                  <a:pt x="1868422" y="540863"/>
                </a:lnTo>
                <a:lnTo>
                  <a:pt x="1929259" y="587107"/>
                </a:lnTo>
                <a:lnTo>
                  <a:pt x="1980392" y="639388"/>
                </a:lnTo>
                <a:lnTo>
                  <a:pt x="2015750" y="696726"/>
                </a:lnTo>
                <a:close/>
              </a:path>
            </a:pathLst>
          </a:custGeom>
          <a:solidFill xmlns:a="http://schemas.openxmlformats.org/drawingml/2006/main">
            <a:srgbClr val="F5F6F7"/>
          </a:solidFill>
          <a:ln xmlns:a="http://schemas.openxmlformats.org/drawingml/2006/main" w="23813">
            <a:solidFill>
              <a:srgbClr val="AAB2BA"/>
            </a:solidFill>
          </a:ln>
        </p:spPr>
      </p:sp>
      <p:sp>
        <p:nvSpPr>
          <p:cNvPr id="6" name="p3_ellipse_5">
            <a:extLst xmlns:a="http://schemas.openxmlformats.org/drawingml/2006/main">
              <a:ext uri="{FF2B5EF4-FFF2-40B4-BE49-F238E27FC236}">
                <a16:creationId xmlns:a16="http://schemas.microsoft.com/office/drawing/2014/main" id="{B9AC25A0-08F0-4234-BCD9-52D7D095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811" y="237477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7" name="p3_path">
            <a:extLst xmlns:a="http://schemas.openxmlformats.org/drawingml/2006/main">
              <a:ext uri="{FF2B5EF4-FFF2-40B4-BE49-F238E27FC236}">
                <a16:creationId xmlns:a16="http://schemas.microsoft.com/office/drawing/2014/main" id="{56D3C23A-A79A-4F39-8280-DB21908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90725"/>
            <a:ext cx="1625346" cy="432054"/>
          </a:xfrm>
          <a:custGeom xmlns:a="http://schemas.openxmlformats.org/drawingml/2006/main">
            <a:pathLst>
              <a:path w="2257425" h="600075">
                <a:moveTo>
                  <a:pt x="0" y="0"/>
                </a:moveTo>
                <a:lnTo>
                  <a:pt x="225742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166B0"/>
            </a:solidFill>
          </a:ln>
        </p:spPr>
      </p:sp>
      <p:sp>
        <p:nvSpPr>
          <p:cNvPr id="8" name="p3_path">
            <a:extLst xmlns:a="http://schemas.openxmlformats.org/drawingml/2006/main">
              <a:ext uri="{FF2B5EF4-FFF2-40B4-BE49-F238E27FC236}">
                <a16:creationId xmlns:a16="http://schemas.microsoft.com/office/drawing/2014/main" id="{A7BC9DFA-369D-4C5E-A5E1-E218CFE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738" y="2362421"/>
            <a:ext cx="94783" cy="75672"/>
          </a:xfrm>
          <a:custGeom xmlns:a="http://schemas.openxmlformats.org/drawingml/2006/main">
            <a:pathLst>
              <a:path w="131643" h="105100">
                <a:moveTo>
                  <a:pt x="0" y="105100"/>
                </a:moveTo>
                <a:lnTo>
                  <a:pt x="131643" y="83830"/>
                </a:lnTo>
                <a:lnTo>
                  <a:pt x="27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166B0"/>
            </a:solidFill>
          </a:ln>
        </p:spPr>
      </p:sp>
      <p:sp>
        <p:nvSpPr>
          <p:cNvPr id="9" name="p3_path">
            <a:extLst xmlns:a="http://schemas.openxmlformats.org/drawingml/2006/main">
              <a:ext uri="{FF2B5EF4-FFF2-40B4-BE49-F238E27FC236}">
                <a16:creationId xmlns:a16="http://schemas.microsoft.com/office/drawing/2014/main" id="{687734BB-95D7-4767-B054-C36C099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39365"/>
            <a:ext cx="720090" cy="617220"/>
          </a:xfrm>
          <a:custGeom xmlns:a="http://schemas.openxmlformats.org/drawingml/2006/main">
            <a:pathLst>
              <a:path w="1000125" h="857250">
                <a:moveTo>
                  <a:pt x="0" y="0"/>
                </a:moveTo>
                <a:lnTo>
                  <a:pt x="1000125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56A"/>
            </a:solidFill>
          </a:ln>
        </p:spPr>
      </p:sp>
      <p:sp>
        <p:nvSpPr>
          <p:cNvPr id="10" name="p3_path">
            <a:extLst xmlns:a="http://schemas.openxmlformats.org/drawingml/2006/main">
              <a:ext uri="{FF2B5EF4-FFF2-40B4-BE49-F238E27FC236}">
                <a16:creationId xmlns:a16="http://schemas.microsoft.com/office/drawing/2014/main" id="{C2A4AF40-85AC-4574-A19F-7825F76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175" y="3069807"/>
            <a:ext cx="92040" cy="86778"/>
          </a:xfrm>
          <a:custGeom xmlns:a="http://schemas.openxmlformats.org/drawingml/2006/main">
            <a:pathLst>
              <a:path w="127834" h="120525">
                <a:moveTo>
                  <a:pt x="0" y="82569"/>
                </a:moveTo>
                <a:lnTo>
                  <a:pt x="127834" y="120525"/>
                </a:lnTo>
                <a:lnTo>
                  <a:pt x="707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56A"/>
            </a:solidFill>
          </a:ln>
        </p:spPr>
      </p:sp>
      <p:sp>
        <p:nvSpPr>
          <p:cNvPr id="11" name="p3_textbox_10">
            <a:extLst xmlns:a="http://schemas.openxmlformats.org/drawingml/2006/main">
              <a:ext uri="{FF2B5EF4-FFF2-40B4-BE49-F238E27FC236}">
                <a16:creationId xmlns:a16="http://schemas.microsoft.com/office/drawing/2014/main" id="{56294979-4B8C-4E10-BF56-19426D6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" y="1647825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rPr>
              <a:t>激发光</a:t>
            </a:r>
          </a:p>
        </p:txBody>
      </p:sp>
      <p:sp>
        <p:nvSpPr>
          <p:cNvPr id="12" name="p3_textbox_11">
            <a:extLst xmlns:a="http://schemas.openxmlformats.org/drawingml/2006/main">
              <a:ext uri="{FF2B5EF4-FFF2-40B4-BE49-F238E27FC236}">
                <a16:creationId xmlns:a16="http://schemas.microsoft.com/office/drawing/2014/main" id="{87DC46DE-B689-4497-B1B0-539268C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019" y="3225165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荧光</a:t>
            </a:r>
          </a:p>
        </p:txBody>
      </p:sp>
      <p:sp>
        <p:nvSpPr>
          <p:cNvPr id="16" name="p3_path">
            <a:extLst xmlns:a="http://schemas.openxmlformats.org/drawingml/2006/main">
              <a:ext uri="{FF2B5EF4-FFF2-40B4-BE49-F238E27FC236}">
                <a16:creationId xmlns:a16="http://schemas.microsoft.com/office/drawing/2014/main" id="{E39EA236-BDCA-4B13-A84E-1325DD5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2142173"/>
            <a:ext cx="858" cy="2100263"/>
          </a:xfrm>
          <a:custGeom xmlns:a="http://schemas.openxmlformats.org/drawingml/2006/main">
            <a:pathLst>
              <a:path w="953" h="2333625">
                <a:moveTo>
                  <a:pt x="0" y="2333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17" name="p3_path">
            <a:extLst xmlns:a="http://schemas.openxmlformats.org/drawingml/2006/main">
              <a:ext uri="{FF2B5EF4-FFF2-40B4-BE49-F238E27FC236}">
                <a16:creationId xmlns:a16="http://schemas.microsoft.com/office/drawing/2014/main" id="{868A3F97-F736-4D9A-9650-B12038E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4242435"/>
            <a:ext cx="4800600" cy="858"/>
          </a:xfrm>
          <a:custGeom xmlns:a="http://schemas.openxmlformats.org/drawingml/2006/main">
            <a:pathLst>
              <a:path w="5334000" h="953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18" name="p3_path">
            <a:extLst xmlns:a="http://schemas.openxmlformats.org/drawingml/2006/main">
              <a:ext uri="{FF2B5EF4-FFF2-40B4-BE49-F238E27FC236}">
                <a16:creationId xmlns:a16="http://schemas.microsoft.com/office/drawing/2014/main" id="{B61EF96D-8035-4F6C-8B86-689AF89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2443318"/>
            <a:ext cx="4714875" cy="1799117"/>
          </a:xfrm>
          <a:custGeom xmlns:a="http://schemas.openxmlformats.org/drawingml/2006/main">
            <a:pathLst>
              <a:path w="5238750" h="1999019">
                <a:moveTo>
                  <a:pt x="0" y="1986810"/>
                </a:moveTo>
                <a:lnTo>
                  <a:pt x="40298" y="1983780"/>
                </a:lnTo>
                <a:lnTo>
                  <a:pt x="80596" y="1980092"/>
                </a:lnTo>
                <a:lnTo>
                  <a:pt x="120894" y="1975627"/>
                </a:lnTo>
                <a:lnTo>
                  <a:pt x="161192" y="1970251"/>
                </a:lnTo>
                <a:lnTo>
                  <a:pt x="201490" y="1963812"/>
                </a:lnTo>
                <a:lnTo>
                  <a:pt x="241788" y="1956145"/>
                </a:lnTo>
                <a:lnTo>
                  <a:pt x="282087" y="1947064"/>
                </a:lnTo>
                <a:lnTo>
                  <a:pt x="322385" y="1936370"/>
                </a:lnTo>
                <a:lnTo>
                  <a:pt x="362683" y="1923845"/>
                </a:lnTo>
                <a:lnTo>
                  <a:pt x="402981" y="1909259"/>
                </a:lnTo>
                <a:lnTo>
                  <a:pt x="443279" y="1892370"/>
                </a:lnTo>
                <a:lnTo>
                  <a:pt x="483577" y="1872926"/>
                </a:lnTo>
                <a:lnTo>
                  <a:pt x="523875" y="1850669"/>
                </a:lnTo>
                <a:lnTo>
                  <a:pt x="564173" y="1825342"/>
                </a:lnTo>
                <a:lnTo>
                  <a:pt x="604471" y="1796689"/>
                </a:lnTo>
                <a:lnTo>
                  <a:pt x="644769" y="1764468"/>
                </a:lnTo>
                <a:lnTo>
                  <a:pt x="685067" y="1728451"/>
                </a:lnTo>
                <a:lnTo>
                  <a:pt x="725365" y="1688437"/>
                </a:lnTo>
                <a:lnTo>
                  <a:pt x="765663" y="1644258"/>
                </a:lnTo>
                <a:lnTo>
                  <a:pt x="805962" y="1595785"/>
                </a:lnTo>
                <a:lnTo>
                  <a:pt x="846260" y="1542942"/>
                </a:lnTo>
                <a:lnTo>
                  <a:pt x="886558" y="1485708"/>
                </a:lnTo>
                <a:lnTo>
                  <a:pt x="926856" y="1424131"/>
                </a:lnTo>
                <a:lnTo>
                  <a:pt x="967154" y="1358330"/>
                </a:lnTo>
                <a:lnTo>
                  <a:pt x="1007452" y="1288506"/>
                </a:lnTo>
                <a:lnTo>
                  <a:pt x="1047750" y="1214945"/>
                </a:lnTo>
                <a:lnTo>
                  <a:pt x="1088048" y="1138019"/>
                </a:lnTo>
                <a:lnTo>
                  <a:pt x="1128346" y="1058192"/>
                </a:lnTo>
                <a:lnTo>
                  <a:pt x="1168644" y="976015"/>
                </a:lnTo>
                <a:lnTo>
                  <a:pt x="1208942" y="892127"/>
                </a:lnTo>
                <a:lnTo>
                  <a:pt x="1249240" y="807244"/>
                </a:lnTo>
                <a:lnTo>
                  <a:pt x="1289538" y="722157"/>
                </a:lnTo>
                <a:lnTo>
                  <a:pt x="1329837" y="637717"/>
                </a:lnTo>
                <a:lnTo>
                  <a:pt x="1370135" y="554825"/>
                </a:lnTo>
                <a:lnTo>
                  <a:pt x="1410433" y="474414"/>
                </a:lnTo>
                <a:lnTo>
                  <a:pt x="1450731" y="397434"/>
                </a:lnTo>
                <a:lnTo>
                  <a:pt x="1491029" y="324834"/>
                </a:lnTo>
                <a:lnTo>
                  <a:pt x="1531327" y="257543"/>
                </a:lnTo>
                <a:lnTo>
                  <a:pt x="1571625" y="196448"/>
                </a:lnTo>
                <a:lnTo>
                  <a:pt x="1611923" y="142378"/>
                </a:lnTo>
                <a:lnTo>
                  <a:pt x="1652221" y="96083"/>
                </a:lnTo>
                <a:lnTo>
                  <a:pt x="1692519" y="58216"/>
                </a:lnTo>
                <a:lnTo>
                  <a:pt x="1732817" y="29323"/>
                </a:lnTo>
                <a:lnTo>
                  <a:pt x="1773115" y="9823"/>
                </a:lnTo>
                <a:lnTo>
                  <a:pt x="1813413" y="0"/>
                </a:lnTo>
                <a:lnTo>
                  <a:pt x="1853712" y="0"/>
                </a:lnTo>
                <a:lnTo>
                  <a:pt x="1894010" y="9823"/>
                </a:lnTo>
                <a:lnTo>
                  <a:pt x="1934308" y="29323"/>
                </a:lnTo>
                <a:lnTo>
                  <a:pt x="1974606" y="58216"/>
                </a:lnTo>
                <a:lnTo>
                  <a:pt x="2014904" y="96083"/>
                </a:lnTo>
                <a:lnTo>
                  <a:pt x="2055202" y="142378"/>
                </a:lnTo>
                <a:lnTo>
                  <a:pt x="2095500" y="196448"/>
                </a:lnTo>
                <a:lnTo>
                  <a:pt x="2135798" y="257543"/>
                </a:lnTo>
                <a:lnTo>
                  <a:pt x="2176096" y="324834"/>
                </a:lnTo>
                <a:lnTo>
                  <a:pt x="2216394" y="397434"/>
                </a:lnTo>
                <a:lnTo>
                  <a:pt x="2256692" y="474414"/>
                </a:lnTo>
                <a:lnTo>
                  <a:pt x="2296990" y="554825"/>
                </a:lnTo>
                <a:lnTo>
                  <a:pt x="2337288" y="637717"/>
                </a:lnTo>
                <a:lnTo>
                  <a:pt x="2377587" y="722157"/>
                </a:lnTo>
                <a:lnTo>
                  <a:pt x="2417885" y="807244"/>
                </a:lnTo>
                <a:lnTo>
                  <a:pt x="2458183" y="892127"/>
                </a:lnTo>
                <a:lnTo>
                  <a:pt x="2498481" y="976015"/>
                </a:lnTo>
                <a:lnTo>
                  <a:pt x="2538779" y="1058192"/>
                </a:lnTo>
                <a:lnTo>
                  <a:pt x="2579077" y="1138019"/>
                </a:lnTo>
                <a:lnTo>
                  <a:pt x="2619375" y="1214945"/>
                </a:lnTo>
                <a:lnTo>
                  <a:pt x="2659673" y="1288506"/>
                </a:lnTo>
                <a:lnTo>
                  <a:pt x="2699971" y="1358330"/>
                </a:lnTo>
                <a:lnTo>
                  <a:pt x="2740269" y="1424131"/>
                </a:lnTo>
                <a:lnTo>
                  <a:pt x="2780567" y="1485708"/>
                </a:lnTo>
                <a:lnTo>
                  <a:pt x="2820865" y="1542942"/>
                </a:lnTo>
                <a:lnTo>
                  <a:pt x="2861163" y="1595785"/>
                </a:lnTo>
                <a:lnTo>
                  <a:pt x="2901462" y="1644258"/>
                </a:lnTo>
                <a:lnTo>
                  <a:pt x="2941760" y="1688437"/>
                </a:lnTo>
                <a:lnTo>
                  <a:pt x="2982058" y="1728451"/>
                </a:lnTo>
                <a:lnTo>
                  <a:pt x="3022356" y="1764468"/>
                </a:lnTo>
                <a:lnTo>
                  <a:pt x="3062654" y="1796689"/>
                </a:lnTo>
                <a:lnTo>
                  <a:pt x="3102952" y="1825342"/>
                </a:lnTo>
                <a:lnTo>
                  <a:pt x="3143250" y="1850669"/>
                </a:lnTo>
                <a:lnTo>
                  <a:pt x="3183548" y="1872926"/>
                </a:lnTo>
                <a:lnTo>
                  <a:pt x="3223846" y="1892370"/>
                </a:lnTo>
                <a:lnTo>
                  <a:pt x="3264144" y="1909259"/>
                </a:lnTo>
                <a:lnTo>
                  <a:pt x="3304442" y="1923845"/>
                </a:lnTo>
                <a:lnTo>
                  <a:pt x="3344740" y="1936370"/>
                </a:lnTo>
                <a:lnTo>
                  <a:pt x="3385038" y="1947064"/>
                </a:lnTo>
                <a:lnTo>
                  <a:pt x="3425337" y="1956145"/>
                </a:lnTo>
                <a:lnTo>
                  <a:pt x="3465635" y="1963812"/>
                </a:lnTo>
                <a:lnTo>
                  <a:pt x="3505933" y="1970251"/>
                </a:lnTo>
                <a:lnTo>
                  <a:pt x="3546231" y="1975627"/>
                </a:lnTo>
                <a:lnTo>
                  <a:pt x="3586529" y="1980092"/>
                </a:lnTo>
                <a:lnTo>
                  <a:pt x="3626827" y="1983780"/>
                </a:lnTo>
                <a:lnTo>
                  <a:pt x="3667125" y="1986810"/>
                </a:lnTo>
                <a:lnTo>
                  <a:pt x="3707423" y="1989285"/>
                </a:lnTo>
                <a:lnTo>
                  <a:pt x="3747721" y="1991297"/>
                </a:lnTo>
                <a:lnTo>
                  <a:pt x="3788019" y="1992923"/>
                </a:lnTo>
                <a:lnTo>
                  <a:pt x="3828317" y="1994230"/>
                </a:lnTo>
                <a:lnTo>
                  <a:pt x="3868615" y="1995275"/>
                </a:lnTo>
                <a:lnTo>
                  <a:pt x="3908913" y="1996107"/>
                </a:lnTo>
                <a:lnTo>
                  <a:pt x="3949212" y="1996765"/>
                </a:lnTo>
                <a:lnTo>
                  <a:pt x="3989510" y="1997283"/>
                </a:lnTo>
                <a:lnTo>
                  <a:pt x="4029808" y="1997688"/>
                </a:lnTo>
                <a:lnTo>
                  <a:pt x="4070106" y="1998004"/>
                </a:lnTo>
                <a:lnTo>
                  <a:pt x="4110404" y="1998249"/>
                </a:lnTo>
                <a:lnTo>
                  <a:pt x="4150702" y="1998437"/>
                </a:lnTo>
                <a:lnTo>
                  <a:pt x="4191000" y="1998582"/>
                </a:lnTo>
                <a:lnTo>
                  <a:pt x="4231298" y="1998692"/>
                </a:lnTo>
                <a:lnTo>
                  <a:pt x="4271596" y="1998776"/>
                </a:lnTo>
                <a:lnTo>
                  <a:pt x="4311894" y="1998839"/>
                </a:lnTo>
                <a:lnTo>
                  <a:pt x="4352192" y="1998886"/>
                </a:lnTo>
                <a:lnTo>
                  <a:pt x="4392490" y="1998921"/>
                </a:lnTo>
                <a:lnTo>
                  <a:pt x="4432788" y="1998948"/>
                </a:lnTo>
                <a:lnTo>
                  <a:pt x="4473087" y="1998967"/>
                </a:lnTo>
                <a:lnTo>
                  <a:pt x="4513385" y="1998982"/>
                </a:lnTo>
                <a:lnTo>
                  <a:pt x="4553683" y="1998992"/>
                </a:lnTo>
                <a:lnTo>
                  <a:pt x="4593981" y="1999000"/>
                </a:lnTo>
                <a:lnTo>
                  <a:pt x="4634279" y="1999005"/>
                </a:lnTo>
                <a:lnTo>
                  <a:pt x="4674577" y="1999009"/>
                </a:lnTo>
                <a:lnTo>
                  <a:pt x="4714875" y="1999012"/>
                </a:lnTo>
                <a:lnTo>
                  <a:pt x="4755173" y="1999014"/>
                </a:lnTo>
                <a:lnTo>
                  <a:pt x="4795471" y="1999015"/>
                </a:lnTo>
                <a:lnTo>
                  <a:pt x="4835769" y="1999016"/>
                </a:lnTo>
                <a:lnTo>
                  <a:pt x="4876067" y="1999017"/>
                </a:lnTo>
                <a:lnTo>
                  <a:pt x="4916365" y="1999018"/>
                </a:lnTo>
                <a:lnTo>
                  <a:pt x="4956663" y="1999018"/>
                </a:lnTo>
                <a:lnTo>
                  <a:pt x="4996962" y="1999018"/>
                </a:lnTo>
                <a:lnTo>
                  <a:pt x="5037260" y="1999018"/>
                </a:lnTo>
                <a:lnTo>
                  <a:pt x="5077558" y="1999019"/>
                </a:lnTo>
                <a:lnTo>
                  <a:pt x="5117856" y="1999019"/>
                </a:lnTo>
                <a:lnTo>
                  <a:pt x="5158154" y="1999019"/>
                </a:lnTo>
                <a:lnTo>
                  <a:pt x="5198452" y="1999019"/>
                </a:lnTo>
                <a:lnTo>
                  <a:pt x="5238750" y="1999019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166B0"/>
            </a:solidFill>
          </a:ln>
        </p:spPr>
      </p:sp>
      <p:sp>
        <p:nvSpPr>
          <p:cNvPr id="19" name="p3_path">
            <a:extLst xmlns:a="http://schemas.openxmlformats.org/drawingml/2006/main">
              <a:ext uri="{FF2B5EF4-FFF2-40B4-BE49-F238E27FC236}">
                <a16:creationId xmlns:a16="http://schemas.microsoft.com/office/drawing/2014/main" id="{E177CC2C-A0C0-466F-80B8-842C359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2442766"/>
            <a:ext cx="4714875" cy="1799663"/>
          </a:xfrm>
          <a:custGeom xmlns:a="http://schemas.openxmlformats.org/drawingml/2006/main">
            <a:pathLst>
              <a:path w="5238750" h="1999625">
                <a:moveTo>
                  <a:pt x="0" y="1999625"/>
                </a:moveTo>
                <a:lnTo>
                  <a:pt x="40298" y="1999622"/>
                </a:lnTo>
                <a:lnTo>
                  <a:pt x="80596" y="1999619"/>
                </a:lnTo>
                <a:lnTo>
                  <a:pt x="120894" y="1999614"/>
                </a:lnTo>
                <a:lnTo>
                  <a:pt x="161192" y="1999608"/>
                </a:lnTo>
                <a:lnTo>
                  <a:pt x="201490" y="1999600"/>
                </a:lnTo>
                <a:lnTo>
                  <a:pt x="241788" y="1999589"/>
                </a:lnTo>
                <a:lnTo>
                  <a:pt x="282087" y="1999575"/>
                </a:lnTo>
                <a:lnTo>
                  <a:pt x="322385" y="1999556"/>
                </a:lnTo>
                <a:lnTo>
                  <a:pt x="362683" y="1999532"/>
                </a:lnTo>
                <a:lnTo>
                  <a:pt x="402981" y="1999500"/>
                </a:lnTo>
                <a:lnTo>
                  <a:pt x="443279" y="1999459"/>
                </a:lnTo>
                <a:lnTo>
                  <a:pt x="483577" y="1999407"/>
                </a:lnTo>
                <a:lnTo>
                  <a:pt x="523875" y="1999339"/>
                </a:lnTo>
                <a:lnTo>
                  <a:pt x="564173" y="1999252"/>
                </a:lnTo>
                <a:lnTo>
                  <a:pt x="604471" y="1999142"/>
                </a:lnTo>
                <a:lnTo>
                  <a:pt x="644769" y="1999002"/>
                </a:lnTo>
                <a:lnTo>
                  <a:pt x="685067" y="1998825"/>
                </a:lnTo>
                <a:lnTo>
                  <a:pt x="725365" y="1998602"/>
                </a:lnTo>
                <a:lnTo>
                  <a:pt x="765663" y="1998323"/>
                </a:lnTo>
                <a:lnTo>
                  <a:pt x="805962" y="1997974"/>
                </a:lnTo>
                <a:lnTo>
                  <a:pt x="846260" y="1997540"/>
                </a:lnTo>
                <a:lnTo>
                  <a:pt x="886558" y="1997004"/>
                </a:lnTo>
                <a:lnTo>
                  <a:pt x="926856" y="1996342"/>
                </a:lnTo>
                <a:lnTo>
                  <a:pt x="967154" y="1995530"/>
                </a:lnTo>
                <a:lnTo>
                  <a:pt x="1007452" y="1994538"/>
                </a:lnTo>
                <a:lnTo>
                  <a:pt x="1047750" y="1993329"/>
                </a:lnTo>
                <a:lnTo>
                  <a:pt x="1088048" y="1991863"/>
                </a:lnTo>
                <a:lnTo>
                  <a:pt x="1128346" y="1990094"/>
                </a:lnTo>
                <a:lnTo>
                  <a:pt x="1168644" y="1987967"/>
                </a:lnTo>
                <a:lnTo>
                  <a:pt x="1208942" y="1985420"/>
                </a:lnTo>
                <a:lnTo>
                  <a:pt x="1249240" y="1982384"/>
                </a:lnTo>
                <a:lnTo>
                  <a:pt x="1289538" y="1978781"/>
                </a:lnTo>
                <a:lnTo>
                  <a:pt x="1329837" y="1974521"/>
                </a:lnTo>
                <a:lnTo>
                  <a:pt x="1370135" y="1969509"/>
                </a:lnTo>
                <a:lnTo>
                  <a:pt x="1410433" y="1963635"/>
                </a:lnTo>
                <a:lnTo>
                  <a:pt x="1450731" y="1956782"/>
                </a:lnTo>
                <a:lnTo>
                  <a:pt x="1491029" y="1948820"/>
                </a:lnTo>
                <a:lnTo>
                  <a:pt x="1531327" y="1939612"/>
                </a:lnTo>
                <a:lnTo>
                  <a:pt x="1571625" y="1929009"/>
                </a:lnTo>
                <a:lnTo>
                  <a:pt x="1611923" y="1916853"/>
                </a:lnTo>
                <a:lnTo>
                  <a:pt x="1652221" y="1902978"/>
                </a:lnTo>
                <a:lnTo>
                  <a:pt x="1692519" y="1887214"/>
                </a:lnTo>
                <a:lnTo>
                  <a:pt x="1732817" y="1869382"/>
                </a:lnTo>
                <a:lnTo>
                  <a:pt x="1773115" y="1849304"/>
                </a:lnTo>
                <a:lnTo>
                  <a:pt x="1813413" y="1826800"/>
                </a:lnTo>
                <a:lnTo>
                  <a:pt x="1853712" y="1801694"/>
                </a:lnTo>
                <a:lnTo>
                  <a:pt x="1894010" y="1773815"/>
                </a:lnTo>
                <a:lnTo>
                  <a:pt x="1934308" y="1743002"/>
                </a:lnTo>
                <a:lnTo>
                  <a:pt x="1974606" y="1709111"/>
                </a:lnTo>
                <a:lnTo>
                  <a:pt x="2014904" y="1672012"/>
                </a:lnTo>
                <a:lnTo>
                  <a:pt x="2055202" y="1631600"/>
                </a:lnTo>
                <a:lnTo>
                  <a:pt x="2095500" y="1587798"/>
                </a:lnTo>
                <a:lnTo>
                  <a:pt x="2135798" y="1540561"/>
                </a:lnTo>
                <a:lnTo>
                  <a:pt x="2176096" y="1489878"/>
                </a:lnTo>
                <a:lnTo>
                  <a:pt x="2216394" y="1435784"/>
                </a:lnTo>
                <a:lnTo>
                  <a:pt x="2256692" y="1378355"/>
                </a:lnTo>
                <a:lnTo>
                  <a:pt x="2296990" y="1317716"/>
                </a:lnTo>
                <a:lnTo>
                  <a:pt x="2337288" y="1254046"/>
                </a:lnTo>
                <a:lnTo>
                  <a:pt x="2377587" y="1187574"/>
                </a:lnTo>
                <a:lnTo>
                  <a:pt x="2417885" y="1118588"/>
                </a:lnTo>
                <a:lnTo>
                  <a:pt x="2458183" y="1047428"/>
                </a:lnTo>
                <a:lnTo>
                  <a:pt x="2498481" y="974490"/>
                </a:lnTo>
                <a:lnTo>
                  <a:pt x="2538779" y="900221"/>
                </a:lnTo>
                <a:lnTo>
                  <a:pt x="2579077" y="825119"/>
                </a:lnTo>
                <a:lnTo>
                  <a:pt x="2619375" y="749726"/>
                </a:lnTo>
                <a:lnTo>
                  <a:pt x="2659673" y="674624"/>
                </a:lnTo>
                <a:lnTo>
                  <a:pt x="2699971" y="600426"/>
                </a:lnTo>
                <a:lnTo>
                  <a:pt x="2740269" y="527772"/>
                </a:lnTo>
                <a:lnTo>
                  <a:pt x="2780567" y="457317"/>
                </a:lnTo>
                <a:lnTo>
                  <a:pt x="2820865" y="389723"/>
                </a:lnTo>
                <a:lnTo>
                  <a:pt x="2861163" y="325647"/>
                </a:lnTo>
                <a:lnTo>
                  <a:pt x="2901462" y="265735"/>
                </a:lnTo>
                <a:lnTo>
                  <a:pt x="2941760" y="210604"/>
                </a:lnTo>
                <a:lnTo>
                  <a:pt x="2982058" y="160840"/>
                </a:lnTo>
                <a:lnTo>
                  <a:pt x="3022356" y="116982"/>
                </a:lnTo>
                <a:lnTo>
                  <a:pt x="3062654" y="79511"/>
                </a:lnTo>
                <a:lnTo>
                  <a:pt x="3102952" y="48847"/>
                </a:lnTo>
                <a:lnTo>
                  <a:pt x="3143250" y="25338"/>
                </a:lnTo>
                <a:lnTo>
                  <a:pt x="3183548" y="9251"/>
                </a:lnTo>
                <a:lnTo>
                  <a:pt x="3223846" y="773"/>
                </a:lnTo>
                <a:lnTo>
                  <a:pt x="3264144" y="0"/>
                </a:lnTo>
                <a:lnTo>
                  <a:pt x="3304442" y="6942"/>
                </a:lnTo>
                <a:lnTo>
                  <a:pt x="3344740" y="21519"/>
                </a:lnTo>
                <a:lnTo>
                  <a:pt x="3385038" y="43563"/>
                </a:lnTo>
                <a:lnTo>
                  <a:pt x="3425337" y="72821"/>
                </a:lnTo>
                <a:lnTo>
                  <a:pt x="3465635" y="108962"/>
                </a:lnTo>
                <a:lnTo>
                  <a:pt x="3505933" y="151580"/>
                </a:lnTo>
                <a:lnTo>
                  <a:pt x="3546231" y="200204"/>
                </a:lnTo>
                <a:lnTo>
                  <a:pt x="3586529" y="254307"/>
                </a:lnTo>
                <a:lnTo>
                  <a:pt x="3626827" y="313311"/>
                </a:lnTo>
                <a:lnTo>
                  <a:pt x="3667125" y="376605"/>
                </a:lnTo>
                <a:lnTo>
                  <a:pt x="3707423" y="443548"/>
                </a:lnTo>
                <a:lnTo>
                  <a:pt x="3747721" y="513484"/>
                </a:lnTo>
                <a:lnTo>
                  <a:pt x="3788019" y="585751"/>
                </a:lnTo>
                <a:lnTo>
                  <a:pt x="3828317" y="659692"/>
                </a:lnTo>
                <a:lnTo>
                  <a:pt x="3868615" y="734663"/>
                </a:lnTo>
                <a:lnTo>
                  <a:pt x="3908913" y="810046"/>
                </a:lnTo>
                <a:lnTo>
                  <a:pt x="3949212" y="885250"/>
                </a:lnTo>
                <a:lnTo>
                  <a:pt x="3989510" y="959727"/>
                </a:lnTo>
                <a:lnTo>
                  <a:pt x="4029808" y="1032969"/>
                </a:lnTo>
                <a:lnTo>
                  <a:pt x="4070106" y="1104518"/>
                </a:lnTo>
                <a:lnTo>
                  <a:pt x="4110404" y="1173968"/>
                </a:lnTo>
                <a:lnTo>
                  <a:pt x="4150702" y="1240967"/>
                </a:lnTo>
                <a:lnTo>
                  <a:pt x="4191000" y="1305218"/>
                </a:lnTo>
                <a:lnTo>
                  <a:pt x="4231298" y="1366479"/>
                </a:lnTo>
                <a:lnTo>
                  <a:pt x="4271596" y="1424562"/>
                </a:lnTo>
                <a:lnTo>
                  <a:pt x="4311894" y="1479331"/>
                </a:lnTo>
                <a:lnTo>
                  <a:pt x="4352192" y="1530699"/>
                </a:lnTo>
                <a:lnTo>
                  <a:pt x="4392490" y="1578626"/>
                </a:lnTo>
                <a:lnTo>
                  <a:pt x="4432788" y="1623113"/>
                </a:lnTo>
                <a:lnTo>
                  <a:pt x="4473087" y="1664197"/>
                </a:lnTo>
                <a:lnTo>
                  <a:pt x="4513385" y="1701951"/>
                </a:lnTo>
                <a:lnTo>
                  <a:pt x="4553683" y="1736475"/>
                </a:lnTo>
                <a:lnTo>
                  <a:pt x="4593981" y="1767892"/>
                </a:lnTo>
                <a:lnTo>
                  <a:pt x="4634279" y="1796345"/>
                </a:lnTo>
                <a:lnTo>
                  <a:pt x="4674577" y="1821993"/>
                </a:lnTo>
                <a:lnTo>
                  <a:pt x="4714875" y="1845003"/>
                </a:lnTo>
                <a:lnTo>
                  <a:pt x="4755173" y="1865552"/>
                </a:lnTo>
                <a:lnTo>
                  <a:pt x="4795471" y="1883818"/>
                </a:lnTo>
                <a:lnTo>
                  <a:pt x="4835769" y="1899982"/>
                </a:lnTo>
                <a:lnTo>
                  <a:pt x="4876067" y="1914221"/>
                </a:lnTo>
                <a:lnTo>
                  <a:pt x="4916365" y="1926707"/>
                </a:lnTo>
                <a:lnTo>
                  <a:pt x="4956663" y="1937608"/>
                </a:lnTo>
                <a:lnTo>
                  <a:pt x="4996962" y="1947083"/>
                </a:lnTo>
                <a:lnTo>
                  <a:pt x="5037260" y="1955282"/>
                </a:lnTo>
                <a:lnTo>
                  <a:pt x="5077558" y="1962347"/>
                </a:lnTo>
                <a:lnTo>
                  <a:pt x="5117856" y="1968407"/>
                </a:lnTo>
                <a:lnTo>
                  <a:pt x="5158154" y="1973583"/>
                </a:lnTo>
                <a:lnTo>
                  <a:pt x="5198452" y="1977984"/>
                </a:lnTo>
                <a:lnTo>
                  <a:pt x="5238750" y="1981712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56A"/>
            </a:solidFill>
          </a:ln>
        </p:spPr>
      </p:sp>
      <p:sp>
        <p:nvSpPr>
          <p:cNvPr id="20" name="p3_textbox_19">
            <a:extLst xmlns:a="http://schemas.openxmlformats.org/drawingml/2006/main">
              <a:ext uri="{FF2B5EF4-FFF2-40B4-BE49-F238E27FC236}">
                <a16:creationId xmlns:a16="http://schemas.microsoft.com/office/drawing/2014/main" id="{A8690E3E-7B0D-4CB5-B426-B4998E47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255" y="1902143"/>
            <a:ext cx="19288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0" b="0">
                <a:solidFill>
                  <a:srgbClr val="3166B0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3166B0"/>
                </a:solidFill>
                <a:latin typeface="Arial"/>
                <a:ea typeface="Arial"/>
                <a:cs typeface="Arial"/>
              </a:rPr>
              <a:t>Absorption</a:t>
            </a:r>
          </a:p>
        </p:txBody>
      </p:sp>
      <p:sp>
        <p:nvSpPr>
          <p:cNvPr id="21" name="p3_textbox_20">
            <a:extLst xmlns:a="http://schemas.openxmlformats.org/drawingml/2006/main">
              <a:ext uri="{FF2B5EF4-FFF2-40B4-BE49-F238E27FC236}">
                <a16:creationId xmlns:a16="http://schemas.microsoft.com/office/drawing/2014/main" id="{D1F60B10-FBEE-47A7-BFDD-DBDC059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48" y="1902143"/>
            <a:ext cx="1714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0" b="0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00856A"/>
                </a:solidFill>
                <a:latin typeface="Arial"/>
                <a:ea typeface="Arial"/>
                <a:cs typeface="Arial"/>
              </a:rPr>
              <a:t>Emission</a:t>
            </a:r>
          </a:p>
        </p:txBody>
      </p:sp>
      <p:sp>
        <p:nvSpPr>
          <p:cNvPr id="22" name="p3_path">
            <a:extLst xmlns:a="http://schemas.openxmlformats.org/drawingml/2006/main">
              <a:ext uri="{FF2B5EF4-FFF2-40B4-BE49-F238E27FC236}">
                <a16:creationId xmlns:a16="http://schemas.microsoft.com/office/drawing/2014/main" id="{AC32039A-952D-477B-93CC-50888C3F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40792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3" name="p3_path">
            <a:extLst xmlns:a="http://schemas.openxmlformats.org/drawingml/2006/main">
              <a:ext uri="{FF2B5EF4-FFF2-40B4-BE49-F238E27FC236}">
                <a16:creationId xmlns:a16="http://schemas.microsoft.com/office/drawing/2014/main" id="{0A82B44F-A8F6-43A2-A697-2E9AF39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506027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4" name="p3_path">
            <a:extLst xmlns:a="http://schemas.openxmlformats.org/drawingml/2006/main">
              <a:ext uri="{FF2B5EF4-FFF2-40B4-BE49-F238E27FC236}">
                <a16:creationId xmlns:a16="http://schemas.microsoft.com/office/drawing/2014/main" id="{867B046E-1001-44CE-9D32-1C568819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60413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5" name="p3_path">
            <a:extLst xmlns:a="http://schemas.openxmlformats.org/drawingml/2006/main">
              <a:ext uri="{FF2B5EF4-FFF2-40B4-BE49-F238E27FC236}">
                <a16:creationId xmlns:a16="http://schemas.microsoft.com/office/drawing/2014/main" id="{5603DFC7-632E-437B-86B7-C7953F58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70224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6" name="p3_path">
            <a:extLst xmlns:a="http://schemas.openxmlformats.org/drawingml/2006/main">
              <a:ext uri="{FF2B5EF4-FFF2-40B4-BE49-F238E27FC236}">
                <a16:creationId xmlns:a16="http://schemas.microsoft.com/office/drawing/2014/main" id="{6FE817BF-DB59-4056-8AB0-F14676D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80035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7" name="p3_path">
            <a:extLst xmlns:a="http://schemas.openxmlformats.org/drawingml/2006/main">
              <a:ext uri="{FF2B5EF4-FFF2-40B4-BE49-F238E27FC236}">
                <a16:creationId xmlns:a16="http://schemas.microsoft.com/office/drawing/2014/main" id="{D86FD100-B6A6-418C-8FFA-BED5F03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89845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8" name="p3_path">
            <a:extLst xmlns:a="http://schemas.openxmlformats.org/drawingml/2006/main">
              <a:ext uri="{FF2B5EF4-FFF2-40B4-BE49-F238E27FC236}">
                <a16:creationId xmlns:a16="http://schemas.microsoft.com/office/drawing/2014/main" id="{E15E46E5-3CBB-4428-8984-18EECEF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299656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29" name="p3_path">
            <a:extLst xmlns:a="http://schemas.openxmlformats.org/drawingml/2006/main">
              <a:ext uri="{FF2B5EF4-FFF2-40B4-BE49-F238E27FC236}">
                <a16:creationId xmlns:a16="http://schemas.microsoft.com/office/drawing/2014/main" id="{2C781D5B-AFBB-47B7-BFE7-4C4ECA5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094672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0" name="p3_path">
            <a:extLst xmlns:a="http://schemas.openxmlformats.org/drawingml/2006/main">
              <a:ext uri="{FF2B5EF4-FFF2-40B4-BE49-F238E27FC236}">
                <a16:creationId xmlns:a16="http://schemas.microsoft.com/office/drawing/2014/main" id="{96A82255-1E72-4CAC-A0AF-74EAFA52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19278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1" name="p3_path">
            <a:extLst xmlns:a="http://schemas.openxmlformats.org/drawingml/2006/main">
              <a:ext uri="{FF2B5EF4-FFF2-40B4-BE49-F238E27FC236}">
                <a16:creationId xmlns:a16="http://schemas.microsoft.com/office/drawing/2014/main" id="{C7309C5E-4826-4040-942B-4D80DEEF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29088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2" name="p3_path">
            <a:extLst xmlns:a="http://schemas.openxmlformats.org/drawingml/2006/main">
              <a:ext uri="{FF2B5EF4-FFF2-40B4-BE49-F238E27FC236}">
                <a16:creationId xmlns:a16="http://schemas.microsoft.com/office/drawing/2014/main" id="{609C05A4-6A6C-4B41-8195-B7015E2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38899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3" name="p3_path">
            <a:extLst xmlns:a="http://schemas.openxmlformats.org/drawingml/2006/main">
              <a:ext uri="{FF2B5EF4-FFF2-40B4-BE49-F238E27FC236}">
                <a16:creationId xmlns:a16="http://schemas.microsoft.com/office/drawing/2014/main" id="{B5508677-9706-46CF-92D8-1FF7C47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48710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4" name="p3_path">
            <a:extLst xmlns:a="http://schemas.openxmlformats.org/drawingml/2006/main">
              <a:ext uri="{FF2B5EF4-FFF2-40B4-BE49-F238E27FC236}">
                <a16:creationId xmlns:a16="http://schemas.microsoft.com/office/drawing/2014/main" id="{D81F0D1D-8F05-47C0-9508-2AF8C3A2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58521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5" name="p3_path">
            <a:extLst xmlns:a="http://schemas.openxmlformats.org/drawingml/2006/main">
              <a:ext uri="{FF2B5EF4-FFF2-40B4-BE49-F238E27FC236}">
                <a16:creationId xmlns:a16="http://schemas.microsoft.com/office/drawing/2014/main" id="{84F4131A-B749-4DE1-9FDC-893D2BA3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683317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6" name="p3_path">
            <a:extLst xmlns:a="http://schemas.openxmlformats.org/drawingml/2006/main">
              <a:ext uri="{FF2B5EF4-FFF2-40B4-BE49-F238E27FC236}">
                <a16:creationId xmlns:a16="http://schemas.microsoft.com/office/drawing/2014/main" id="{F74B7E94-51F3-42AF-A9C8-8FAAE39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78142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7" name="p3_path">
            <a:extLst xmlns:a="http://schemas.openxmlformats.org/drawingml/2006/main">
              <a:ext uri="{FF2B5EF4-FFF2-40B4-BE49-F238E27FC236}">
                <a16:creationId xmlns:a16="http://schemas.microsoft.com/office/drawing/2014/main" id="{8B98FC54-8D79-42AE-855D-ACAC98D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87953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8" name="p3_path">
            <a:extLst xmlns:a="http://schemas.openxmlformats.org/drawingml/2006/main">
              <a:ext uri="{FF2B5EF4-FFF2-40B4-BE49-F238E27FC236}">
                <a16:creationId xmlns:a16="http://schemas.microsoft.com/office/drawing/2014/main" id="{D600E11F-C960-4EB4-88FC-C9FFD9D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397764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39" name="p3_path">
            <a:extLst xmlns:a="http://schemas.openxmlformats.org/drawingml/2006/main">
              <a:ext uri="{FF2B5EF4-FFF2-40B4-BE49-F238E27FC236}">
                <a16:creationId xmlns:a16="http://schemas.microsoft.com/office/drawing/2014/main" id="{F7456FC4-9F25-42AE-AF40-DCAF8EE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317" y="407574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0" name="p3_path">
            <a:extLst xmlns:a="http://schemas.openxmlformats.org/drawingml/2006/main">
              <a:ext uri="{FF2B5EF4-FFF2-40B4-BE49-F238E27FC236}">
                <a16:creationId xmlns:a16="http://schemas.microsoft.com/office/drawing/2014/main" id="{D4544E8D-26BC-4B01-8576-BB14B6CF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40792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1" name="p3_path">
            <a:extLst xmlns:a="http://schemas.openxmlformats.org/drawingml/2006/main">
              <a:ext uri="{FF2B5EF4-FFF2-40B4-BE49-F238E27FC236}">
                <a16:creationId xmlns:a16="http://schemas.microsoft.com/office/drawing/2014/main" id="{BAA481A1-C18E-4610-82E9-0CFF4B1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506027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2" name="p3_path">
            <a:extLst xmlns:a="http://schemas.openxmlformats.org/drawingml/2006/main">
              <a:ext uri="{FF2B5EF4-FFF2-40B4-BE49-F238E27FC236}">
                <a16:creationId xmlns:a16="http://schemas.microsoft.com/office/drawing/2014/main" id="{A73CC422-D6F9-4358-A97D-0FF93EB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60413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3" name="p3_path">
            <a:extLst xmlns:a="http://schemas.openxmlformats.org/drawingml/2006/main">
              <a:ext uri="{FF2B5EF4-FFF2-40B4-BE49-F238E27FC236}">
                <a16:creationId xmlns:a16="http://schemas.microsoft.com/office/drawing/2014/main" id="{A12F380C-9F1C-48D3-8D8D-39294997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70224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4" name="p3_path">
            <a:extLst xmlns:a="http://schemas.openxmlformats.org/drawingml/2006/main">
              <a:ext uri="{FF2B5EF4-FFF2-40B4-BE49-F238E27FC236}">
                <a16:creationId xmlns:a16="http://schemas.microsoft.com/office/drawing/2014/main" id="{86C9D962-6B5B-425D-A0F2-43DCADA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80035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5" name="p3_path">
            <a:extLst xmlns:a="http://schemas.openxmlformats.org/drawingml/2006/main">
              <a:ext uri="{FF2B5EF4-FFF2-40B4-BE49-F238E27FC236}">
                <a16:creationId xmlns:a16="http://schemas.microsoft.com/office/drawing/2014/main" id="{ED99A611-BDB0-40CF-B0FF-5EA41E0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89845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6" name="p3_path">
            <a:extLst xmlns:a="http://schemas.openxmlformats.org/drawingml/2006/main">
              <a:ext uri="{FF2B5EF4-FFF2-40B4-BE49-F238E27FC236}">
                <a16:creationId xmlns:a16="http://schemas.microsoft.com/office/drawing/2014/main" id="{890FF8F2-124A-40F2-AB78-D29E5EB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299656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7" name="p3_path">
            <a:extLst xmlns:a="http://schemas.openxmlformats.org/drawingml/2006/main">
              <a:ext uri="{FF2B5EF4-FFF2-40B4-BE49-F238E27FC236}">
                <a16:creationId xmlns:a16="http://schemas.microsoft.com/office/drawing/2014/main" id="{7B907ADD-C570-44F0-884E-5281AEC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094672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8" name="p3_path">
            <a:extLst xmlns:a="http://schemas.openxmlformats.org/drawingml/2006/main">
              <a:ext uri="{FF2B5EF4-FFF2-40B4-BE49-F238E27FC236}">
                <a16:creationId xmlns:a16="http://schemas.microsoft.com/office/drawing/2014/main" id="{0F014060-4F47-4003-8B85-7F02D6E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19278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49" name="p3_path">
            <a:extLst xmlns:a="http://schemas.openxmlformats.org/drawingml/2006/main">
              <a:ext uri="{FF2B5EF4-FFF2-40B4-BE49-F238E27FC236}">
                <a16:creationId xmlns:a16="http://schemas.microsoft.com/office/drawing/2014/main" id="{8F3AC295-DCEF-4C01-918E-F7151BF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29088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0" name="p3_path">
            <a:extLst xmlns:a="http://schemas.openxmlformats.org/drawingml/2006/main">
              <a:ext uri="{FF2B5EF4-FFF2-40B4-BE49-F238E27FC236}">
                <a16:creationId xmlns:a16="http://schemas.microsoft.com/office/drawing/2014/main" id="{DF3F85DD-76FC-4F3B-A5A0-D96E7DC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38899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1" name="p3_path">
            <a:extLst xmlns:a="http://schemas.openxmlformats.org/drawingml/2006/main">
              <a:ext uri="{FF2B5EF4-FFF2-40B4-BE49-F238E27FC236}">
                <a16:creationId xmlns:a16="http://schemas.microsoft.com/office/drawing/2014/main" id="{7C0052ED-29A6-46DD-9C16-1C5BB0BB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48710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2" name="p3_path">
            <a:extLst xmlns:a="http://schemas.openxmlformats.org/drawingml/2006/main">
              <a:ext uri="{FF2B5EF4-FFF2-40B4-BE49-F238E27FC236}">
                <a16:creationId xmlns:a16="http://schemas.microsoft.com/office/drawing/2014/main" id="{2C7EB034-6A96-41D2-B007-BA315944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58521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3" name="p3_path">
            <a:extLst xmlns:a="http://schemas.openxmlformats.org/drawingml/2006/main">
              <a:ext uri="{FF2B5EF4-FFF2-40B4-BE49-F238E27FC236}">
                <a16:creationId xmlns:a16="http://schemas.microsoft.com/office/drawing/2014/main" id="{EC029910-10A0-4EF7-B612-7F8B0927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683317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4" name="p3_path">
            <a:extLst xmlns:a="http://schemas.openxmlformats.org/drawingml/2006/main">
              <a:ext uri="{FF2B5EF4-FFF2-40B4-BE49-F238E27FC236}">
                <a16:creationId xmlns:a16="http://schemas.microsoft.com/office/drawing/2014/main" id="{0ED8CA08-DD17-4751-BC9E-05C1411B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781425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5" name="p3_path">
            <a:extLst xmlns:a="http://schemas.openxmlformats.org/drawingml/2006/main">
              <a:ext uri="{FF2B5EF4-FFF2-40B4-BE49-F238E27FC236}">
                <a16:creationId xmlns:a16="http://schemas.microsoft.com/office/drawing/2014/main" id="{CEDE1198-4A0C-4C4B-A5E5-159BB026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879533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6" name="p3_path">
            <a:extLst xmlns:a="http://schemas.openxmlformats.org/drawingml/2006/main">
              <a:ext uri="{FF2B5EF4-FFF2-40B4-BE49-F238E27FC236}">
                <a16:creationId xmlns:a16="http://schemas.microsoft.com/office/drawing/2014/main" id="{ECA21929-B5AA-4F6A-A319-42F5431D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3977640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7" name="p3_path">
            <a:extLst xmlns:a="http://schemas.openxmlformats.org/drawingml/2006/main">
              <a:ext uri="{FF2B5EF4-FFF2-40B4-BE49-F238E27FC236}">
                <a16:creationId xmlns:a16="http://schemas.microsoft.com/office/drawing/2014/main" id="{6DEF2990-6DC1-4C63-9E5F-FC4D0601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3" y="4075748"/>
            <a:ext cx="858" cy="51016"/>
          </a:xfrm>
          <a:custGeom xmlns:a="http://schemas.openxmlformats.org/drawingml/2006/main">
            <a:pathLst>
              <a:path w="953" h="56684">
                <a:moveTo>
                  <a:pt x="0" y="0"/>
                </a:moveTo>
                <a:lnTo>
                  <a:pt x="0" y="5668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AB2BA"/>
            </a:solidFill>
          </a:ln>
        </p:spPr>
      </p:sp>
      <p:sp>
        <p:nvSpPr>
          <p:cNvPr id="58" name="p3_path">
            <a:extLst xmlns:a="http://schemas.openxmlformats.org/drawingml/2006/main">
              <a:ext uri="{FF2B5EF4-FFF2-40B4-BE49-F238E27FC236}">
                <a16:creationId xmlns:a16="http://schemas.microsoft.com/office/drawing/2014/main" id="{4BCF7752-D0B9-4C27-A3C9-5EAEE9B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893" y="2425065"/>
            <a:ext cx="1191578" cy="858"/>
          </a:xfrm>
          <a:custGeom xmlns:a="http://schemas.openxmlformats.org/drawingml/2006/main">
            <a:pathLst>
              <a:path w="1323975" h="953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9636E"/>
            </a:solidFill>
          </a:ln>
        </p:spPr>
      </p:sp>
      <p:sp>
        <p:nvSpPr>
          <p:cNvPr id="59" name="p3_path">
            <a:extLst xmlns:a="http://schemas.openxmlformats.org/drawingml/2006/main">
              <a:ext uri="{FF2B5EF4-FFF2-40B4-BE49-F238E27FC236}">
                <a16:creationId xmlns:a16="http://schemas.microsoft.com/office/drawing/2014/main" id="{9BADFFCA-FF2A-48C0-BB66-F81D1B08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893" y="2373630"/>
            <a:ext cx="858" cy="10287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9636E"/>
            </a:solidFill>
          </a:ln>
        </p:spPr>
      </p:sp>
      <p:sp>
        <p:nvSpPr>
          <p:cNvPr id="60" name="p3_path">
            <a:extLst xmlns:a="http://schemas.openxmlformats.org/drawingml/2006/main">
              <a:ext uri="{FF2B5EF4-FFF2-40B4-BE49-F238E27FC236}">
                <a16:creationId xmlns:a16="http://schemas.microsoft.com/office/drawing/2014/main" id="{9F292608-7C7C-4EC0-9639-AF0F15B1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70" y="2373630"/>
            <a:ext cx="858" cy="10287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9636E"/>
            </a:solidFill>
          </a:ln>
        </p:spPr>
      </p:sp>
      <p:sp>
        <p:nvSpPr>
          <p:cNvPr id="61" name="p3_textbox_60">
            <a:extLst xmlns:a="http://schemas.openxmlformats.org/drawingml/2006/main">
              <a:ext uri="{FF2B5EF4-FFF2-40B4-BE49-F238E27FC236}">
                <a16:creationId xmlns:a16="http://schemas.microsoft.com/office/drawing/2014/main" id="{BD686301-5983-41B6-BE74-7473001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870" y="1447800"/>
            <a:ext cx="19288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9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Stokes shift</a:t>
            </a:r>
          </a:p>
        </p:txBody>
      </p:sp>
      <p:sp>
        <p:nvSpPr>
          <p:cNvPr id="62" name="p3_textbox_61">
            <a:extLst xmlns:a="http://schemas.openxmlformats.org/drawingml/2006/main">
              <a:ext uri="{FF2B5EF4-FFF2-40B4-BE49-F238E27FC236}">
                <a16:creationId xmlns:a16="http://schemas.microsoft.com/office/drawing/2014/main" id="{28C765B4-9408-4034-AB7E-8EF4736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2113"/>
            <a:ext cx="180022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归一化信号</a:t>
            </a:r>
          </a:p>
        </p:txBody>
      </p:sp>
      <p:sp>
        <p:nvSpPr>
          <p:cNvPr id="63" name="p3_textbox_62">
            <a:extLst xmlns:a="http://schemas.openxmlformats.org/drawingml/2006/main">
              <a:ext uri="{FF2B5EF4-FFF2-40B4-BE49-F238E27FC236}">
                <a16:creationId xmlns:a16="http://schemas.microsoft.com/office/drawing/2014/main" id="{CCEB3FD1-EBE6-4CC6-9B02-1CAD008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371023"/>
            <a:ext cx="94297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23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23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波长</a:t>
            </a:r>
          </a:p>
        </p:txBody>
      </p:sp>
      <p:sp>
        <p:nvSpPr>
          <p:cNvPr id="68" name="v2_p3_60">
            <a:extLst xmlns:a="http://schemas.openxmlformats.org/drawingml/2006/main">
              <a:ext uri="{FF2B5EF4-FFF2-40B4-BE49-F238E27FC236}">
                <a16:creationId xmlns:a16="http://schemas.microsoft.com/office/drawing/2014/main" id="{BC05F720-AD0E-4F04-AE6F-C6802D0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荧光标签</a:t>
            </a:r>
          </a:p>
        </p:txBody>
      </p:sp>
      <p:sp>
        <p:nvSpPr>
          <p:cNvPr id="69" name="v2_p3_61">
            <a:extLst xmlns:a="http://schemas.openxmlformats.org/drawingml/2006/main">
              <a:ext uri="{FF2B5EF4-FFF2-40B4-BE49-F238E27FC236}">
                <a16:creationId xmlns:a16="http://schemas.microsoft.com/office/drawing/2014/main" id="{34217A1E-A9B6-42F5-8F1A-FAC12EC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蛋白质如何被荧光标记？</a:t>
            </a:r>
          </a:p>
        </p:txBody>
      </p:sp>
      <p:sp>
        <p:nvSpPr>
          <p:cNvPr id="70" name="v2_p3_62">
            <a:extLst xmlns:a="http://schemas.openxmlformats.org/drawingml/2006/main">
              <a:ext uri="{FF2B5EF4-FFF2-40B4-BE49-F238E27FC236}">
                <a16:creationId xmlns:a16="http://schemas.microsoft.com/office/drawing/2014/main" id="{22B8A132-3127-45EC-A374-BC9753E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GFP融合表达</a:t>
            </a:r>
          </a:p>
        </p:txBody>
      </p:sp>
      <p:sp>
        <p:nvSpPr>
          <p:cNvPr id="71" name="v2_p3_63">
            <a:extLst xmlns:a="http://schemas.openxmlformats.org/drawingml/2006/main">
              <a:ext uri="{FF2B5EF4-FFF2-40B4-BE49-F238E27FC236}">
                <a16:creationId xmlns:a16="http://schemas.microsoft.com/office/drawing/2014/main" id="{DC6E3931-49BF-46DA-BA1F-91F49AC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将GFP与目标蛋白融合表达</a:t>
            </a:r>
          </a:p>
        </p:txBody>
      </p:sp>
      <p:sp>
        <p:nvSpPr>
          <p:cNvPr id="72" name="v2_p3_64">
            <a:extLst xmlns:a="http://schemas.openxmlformats.org/drawingml/2006/main">
              <a:ext uri="{FF2B5EF4-FFF2-40B4-BE49-F238E27FC236}">
                <a16:creationId xmlns:a16="http://schemas.microsoft.com/office/drawing/2014/main" id="{C65F182C-A258-4698-A1E6-78D1ADD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有机染料标记</a:t>
            </a:r>
          </a:p>
        </p:txBody>
      </p:sp>
      <p:sp>
        <p:nvSpPr>
          <p:cNvPr id="73" name="v2_p3_65">
            <a:extLst xmlns:a="http://schemas.openxmlformats.org/drawingml/2006/main">
              <a:ext uri="{FF2B5EF4-FFF2-40B4-BE49-F238E27FC236}">
                <a16:creationId xmlns:a16="http://schemas.microsoft.com/office/drawing/2014/main" id="{F7C545EC-64D7-4883-8990-8CF523D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在特定位点连接染料</a:t>
            </a:r>
          </a:p>
        </p:txBody>
      </p:sp>
      <p:sp>
        <p:nvSpPr>
          <p:cNvPr id="74" name="v2_p3_66">
            <a:extLst xmlns:a="http://schemas.openxmlformats.org/drawingml/2006/main">
              <a:ext uri="{FF2B5EF4-FFF2-40B4-BE49-F238E27FC236}">
                <a16:creationId xmlns:a16="http://schemas.microsoft.com/office/drawing/2014/main" id="{92332452-AC68-4A68-A312-043D0A7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抗体标记</a:t>
            </a:r>
          </a:p>
        </p:txBody>
      </p:sp>
      <p:sp>
        <p:nvSpPr>
          <p:cNvPr id="75" name="v2_p3_67">
            <a:extLst xmlns:a="http://schemas.openxmlformats.org/drawingml/2006/main">
              <a:ext uri="{FF2B5EF4-FFF2-40B4-BE49-F238E27FC236}">
                <a16:creationId xmlns:a16="http://schemas.microsoft.com/office/drawing/2014/main" id="{B3CF6C2B-0992-418A-8C50-143235C1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识别目标并携带荧光团</a:t>
            </a:r>
          </a:p>
        </p:txBody>
      </p:sp>
      <p:sp>
        <p:nvSpPr>
          <p:cNvPr id="76" name="v2_p3_68">
            <a:extLst xmlns:a="http://schemas.openxmlformats.org/drawingml/2006/main">
              <a:ext uri="{FF2B5EF4-FFF2-40B4-BE49-F238E27FC236}">
                <a16:creationId xmlns:a16="http://schemas.microsoft.com/office/drawing/2014/main" id="{F581DEA0-9853-40A2-8068-17A5D3F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Stokes位移</a:t>
            </a:r>
          </a:p>
        </p:txBody>
      </p:sp>
      <p:sp>
        <p:nvSpPr>
          <p:cNvPr id="77" name="v2_p3_69">
            <a:extLst xmlns:a="http://schemas.openxmlformats.org/drawingml/2006/main">
              <a:ext uri="{FF2B5EF4-FFF2-40B4-BE49-F238E27FC236}">
                <a16:creationId xmlns:a16="http://schemas.microsoft.com/office/drawing/2014/main" id="{AE813910-E4DB-4A67-A417-9A432F83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7205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吸收峰与发射峰之间的光谱位移</a:t>
            </a:r>
          </a:p>
        </p:txBody>
      </p:sp>
      <p:sp>
        <p:nvSpPr>
          <p:cNvPr id="78" name="v2_p3_70">
            <a:extLst xmlns:a="http://schemas.openxmlformats.org/drawingml/2006/main">
              <a:ext uri="{FF2B5EF4-FFF2-40B4-BE49-F238E27FC236}">
                <a16:creationId xmlns:a16="http://schemas.microsoft.com/office/drawing/2014/main" id="{266DC085-6F6E-4C2C-ADE9-61E264BC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006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波段差异帮助滤光与分光</a:t>
            </a:r>
          </a:p>
        </p:txBody>
      </p:sp>
      <p:sp>
        <p:nvSpPr>
          <p:cNvPr id="79" name="v2_p3_71">
            <a:extLst xmlns:a="http://schemas.openxmlformats.org/drawingml/2006/main">
              <a:ext uri="{FF2B5EF4-FFF2-40B4-BE49-F238E27FC236}">
                <a16:creationId xmlns:a16="http://schemas.microsoft.com/office/drawing/2014/main" id="{38BAAB47-3AD7-478F-983D-A3F927A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示意光谱，非实验数据</a:t>
            </a:r>
          </a:p>
        </p:txBody>
      </p:sp>
    </p:spTree>
    <p:extLst>
      <p:ext uri="{BB962C8B-B14F-4D97-AF65-F5344CB8AC3E}">
        <p14:creationId xmlns:p14="http://schemas.microsoft.com/office/powerpoint/2010/main" val="541862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4_textbox_0">
            <a:extLst xmlns:a="http://schemas.openxmlformats.org/drawingml/2006/main">
              <a:ext uri="{FF2B5EF4-FFF2-40B4-BE49-F238E27FC236}">
                <a16:creationId xmlns:a16="http://schemas.microsoft.com/office/drawing/2014/main" id="{8872F96D-CF71-4621-BD8B-74782B26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一束荧光，不止一种信息</a:t>
            </a:r>
          </a:p>
        </p:txBody>
      </p:sp>
      <p:sp>
        <p:nvSpPr>
          <p:cNvPr id="2" name="p4_path">
            <a:extLst xmlns:a="http://schemas.openxmlformats.org/drawingml/2006/main">
              <a:ext uri="{FF2B5EF4-FFF2-40B4-BE49-F238E27FC236}">
                <a16:creationId xmlns:a16="http://schemas.microsoft.com/office/drawing/2014/main" id="{4F151F22-CE59-4C14-B3C6-E4C8823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4_textbox_2">
            <a:extLst xmlns:a="http://schemas.openxmlformats.org/drawingml/2006/main">
              <a:ext uri="{FF2B5EF4-FFF2-40B4-BE49-F238E27FC236}">
                <a16:creationId xmlns:a16="http://schemas.microsoft.com/office/drawing/2014/main" id="{C26E673A-42BC-444B-9693-DCFB977B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Lichtman &amp; Conchello, Nat. Methods, 2005; Torrado et al., 2024;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Ha et al., 2024; Lelek et al., 2021, Nat. Rev. Methods Primers.</a:t>
            </a:r>
          </a:p>
        </p:txBody>
      </p:sp>
      <p:sp>
        <p:nvSpPr>
          <p:cNvPr id="4" name="p4_textbox_3">
            <a:extLst xmlns:a="http://schemas.openxmlformats.org/drawingml/2006/main">
              <a:ext uri="{FF2B5EF4-FFF2-40B4-BE49-F238E27FC236}">
                <a16:creationId xmlns:a16="http://schemas.microsoft.com/office/drawing/2014/main" id="{05C7290B-CDBD-4F9A-933F-7892FA4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v2_p4_4">
            <a:extLst xmlns:a="http://schemas.openxmlformats.org/drawingml/2006/main">
              <a:ext uri="{FF2B5EF4-FFF2-40B4-BE49-F238E27FC236}">
                <a16:creationId xmlns:a16="http://schemas.microsoft.com/office/drawing/2014/main" id="{8FCDD37C-A7B2-4891-AD62-94C7A19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3171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生物学问题</a:t>
            </a:r>
          </a:p>
        </p:txBody>
      </p:sp>
      <p:sp>
        <p:nvSpPr>
          <p:cNvPr id="40" name="v2_p4_5">
            <a:extLst xmlns:a="http://schemas.openxmlformats.org/drawingml/2006/main">
              <a:ext uri="{FF2B5EF4-FFF2-40B4-BE49-F238E27FC236}">
                <a16:creationId xmlns:a16="http://schemas.microsoft.com/office/drawing/2014/main" id="{10EEC63F-0E7A-4074-8DE8-5875192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光学可观测量</a:t>
            </a:r>
          </a:p>
        </p:txBody>
      </p:sp>
      <p:sp>
        <p:nvSpPr>
          <p:cNvPr id="41" name="v2_p4_6">
            <a:extLst xmlns:a="http://schemas.openxmlformats.org/drawingml/2006/main">
              <a:ext uri="{FF2B5EF4-FFF2-40B4-BE49-F238E27FC236}">
                <a16:creationId xmlns:a16="http://schemas.microsoft.com/office/drawing/2014/main" id="{8C16A0BF-C86F-4097-9F23-D8ABBAA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6685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测量方法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D7C839-73B9-46A2-AE7D-3CD08436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57350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988C5-DF7E-49BC-9A4E-DC1A56E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556" y="1657350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42723"/>
                </a:moveTo>
                <a:lnTo>
                  <a:pt x="9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D27DB4-3F21-46C4-AA0A-3A324F6A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556" y="1614627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0"/>
                </a:moveTo>
                <a:lnTo>
                  <a:pt x="95669" y="427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F993E1-B7C4-4AC4-876F-0D795ED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504825" cy="953"/>
          </a:xfrm>
          <a:custGeom xmlns:a="http://schemas.openxmlformats.org/drawingml/2006/main">
            <a:pathLst>
              <a:path w="504825" h="953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BF4531-8D7E-4CDB-9198-D876393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056" y="1657350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42723"/>
                </a:moveTo>
                <a:lnTo>
                  <a:pt x="9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9E39E3-4907-4696-9F6F-0B98A342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056" y="1614627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0"/>
                </a:moveTo>
                <a:lnTo>
                  <a:pt x="95669" y="427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2850"/>
                <a:gridCol w="4314825"/>
                <a:gridCol w="2905125"/>
              </a:tblGrid>
              <a:tr h="647700"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标记信号有何特征？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00856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强度 / 光谱</a:t>
                      </a:r>
                    </a:p>
                  </a:txBody>
                  <a:tcPr marL="91440" marR="91440" marT="45720" marB="45720" anchor="ctr">
                    <a:solidFill>
                      <a:srgbClr val="EFF6F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荧光测量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</a:tr>
              <a:tr h="647700"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局部环境或相互作用改变？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00856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荧光寿命</a:t>
                      </a:r>
                    </a:p>
                  </a:txBody>
                  <a:tcPr marL="91440" marR="91440" marT="45720" marB="45720" anchor="ctr">
                    <a:solidFill>
                      <a:srgbClr val="EFF6F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</a:tr>
              <a:tr h="647700"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构象 / 纳米距离改变？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00856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FRET efficiency</a:t>
                      </a:r>
                    </a:p>
                  </a:txBody>
                  <a:tcPr marL="91440" marR="91440" marT="45720" marB="45720" anchor="ctr">
                    <a:solidFill>
                      <a:srgbClr val="EFF6F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FRET / smFRET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</a:tr>
              <a:tr h="647700"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蛋白标签位于何处？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00856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图像位置分布 / PSF</a:t>
                      </a:r>
                    </a:p>
                  </a:txBody>
                  <a:tcPr marL="91440" marR="91440" marT="45720" marB="45720" anchor="ctr">
                    <a:solidFill>
                      <a:srgbClr val="EFF6F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荧光显微成像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EE5E2"/>
                      </a:solidFill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</a:tr>
              <a:tr h="647700"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更精细的空间组织？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00856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Localization（定位）</a:t>
                      </a:r>
                    </a:p>
                  </a:txBody>
                  <a:tcPr marL="91440" marR="91440" marT="45720" marB="45720" anchor="ctr">
                    <a:solidFill>
                      <a:srgbClr val="EFF6F3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  <a:tc>
                  <a:txBody>
                    <a:bodyPr lIns="152400" tIns="133350" rIns="762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025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SMLM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  <a:lnTlToBr w="6350">
                      <a:noFill/>
                    </a:lnTlToBr>
                    <a:lnBlToTr w="6350"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9" name="v2_p4_13">
            <a:extLst xmlns:a="http://schemas.openxmlformats.org/drawingml/2006/main">
              <a:ext uri="{FF2B5EF4-FFF2-40B4-BE49-F238E27FC236}">
                <a16:creationId xmlns:a16="http://schemas.microsoft.com/office/drawing/2014/main" id="{A452E921-D8CF-4EC5-A3C7-5226BD1E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同一问题可结合多种方法；光信号需要标记与对照才能解释。</a:t>
            </a:r>
          </a:p>
        </p:txBody>
      </p:sp>
    </p:spTree>
    <p:extLst>
      <p:ext uri="{BB962C8B-B14F-4D97-AF65-F5344CB8AC3E}">
        <p14:creationId xmlns:p14="http://schemas.microsoft.com/office/powerpoint/2010/main" val="1900651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5_textbox_0">
            <a:extLst xmlns:a="http://schemas.openxmlformats.org/drawingml/2006/main">
              <a:ext uri="{FF2B5EF4-FFF2-40B4-BE49-F238E27FC236}">
                <a16:creationId xmlns:a16="http://schemas.microsoft.com/office/drawing/2014/main" id="{A23E201D-00EB-4653-B027-7CE3D756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光信号还有“时间”</a:t>
            </a:r>
          </a:p>
        </p:txBody>
      </p:sp>
      <p:sp>
        <p:nvSpPr>
          <p:cNvPr id="2" name="p5_path">
            <a:extLst xmlns:a="http://schemas.openxmlformats.org/drawingml/2006/main">
              <a:ext uri="{FF2B5EF4-FFF2-40B4-BE49-F238E27FC236}">
                <a16:creationId xmlns:a16="http://schemas.microsoft.com/office/drawing/2014/main" id="{DFE18ABA-F6BA-471A-8840-B944F21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5_textbox_2">
            <a:extLst xmlns:a="http://schemas.openxmlformats.org/drawingml/2006/main">
              <a:ext uri="{FF2B5EF4-FFF2-40B4-BE49-F238E27FC236}">
                <a16:creationId xmlns:a16="http://schemas.microsoft.com/office/drawing/2014/main" id="{07BFFA71-4E2B-440C-B198-8088C1C1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Torrado et al., Nat. Rev. Methods Primers, 2024.</a:t>
            </a:r>
          </a:p>
        </p:txBody>
      </p:sp>
      <p:sp>
        <p:nvSpPr>
          <p:cNvPr id="4" name="p5_textbox_3">
            <a:extLst xmlns:a="http://schemas.openxmlformats.org/drawingml/2006/main">
              <a:ext uri="{FF2B5EF4-FFF2-40B4-BE49-F238E27FC236}">
                <a16:creationId xmlns:a16="http://schemas.microsoft.com/office/drawing/2014/main" id="{DE038ED2-72AB-439F-916C-16AC79C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p5_path">
            <a:extLst xmlns:a="http://schemas.openxmlformats.org/drawingml/2006/main">
              <a:ext uri="{FF2B5EF4-FFF2-40B4-BE49-F238E27FC236}">
                <a16:creationId xmlns:a16="http://schemas.microsoft.com/office/drawing/2014/main" id="{10B28EBB-AD6D-45A9-8ACF-FF6B78D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6" y="2713958"/>
            <a:ext cx="829" cy="1897666"/>
          </a:xfrm>
          <a:custGeom xmlns:a="http://schemas.openxmlformats.org/drawingml/2006/main">
            <a:pathLst>
              <a:path w="953" h="2181225">
                <a:moveTo>
                  <a:pt x="0" y="2181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8" name="p5_path">
            <a:extLst xmlns:a="http://schemas.openxmlformats.org/drawingml/2006/main">
              <a:ext uri="{FF2B5EF4-FFF2-40B4-BE49-F238E27FC236}">
                <a16:creationId xmlns:a16="http://schemas.microsoft.com/office/drawing/2014/main" id="{AA7CF4FB-CAD4-4ED4-A60B-C13D3D1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6" y="4611624"/>
            <a:ext cx="5303520" cy="829"/>
          </a:xfrm>
          <a:custGeom xmlns:a="http://schemas.openxmlformats.org/drawingml/2006/main">
            <a:pathLst>
              <a:path w="6096000" h="953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9" name="p5_path">
            <a:extLst xmlns:a="http://schemas.openxmlformats.org/drawingml/2006/main">
              <a:ext uri="{FF2B5EF4-FFF2-40B4-BE49-F238E27FC236}">
                <a16:creationId xmlns:a16="http://schemas.microsoft.com/office/drawing/2014/main" id="{96D3CCEE-2D18-4A11-B508-07E11737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6" y="2788539"/>
            <a:ext cx="5303520" cy="1822190"/>
          </a:xfrm>
          <a:custGeom xmlns:a="http://schemas.openxmlformats.org/drawingml/2006/main">
            <a:pathLst>
              <a:path w="6096000" h="2094471">
                <a:moveTo>
                  <a:pt x="0" y="0"/>
                </a:moveTo>
                <a:lnTo>
                  <a:pt x="46892" y="119284"/>
                </a:lnTo>
                <a:lnTo>
                  <a:pt x="93785" y="231777"/>
                </a:lnTo>
                <a:lnTo>
                  <a:pt x="140677" y="337867"/>
                </a:lnTo>
                <a:lnTo>
                  <a:pt x="187569" y="437918"/>
                </a:lnTo>
                <a:lnTo>
                  <a:pt x="234462" y="532274"/>
                </a:lnTo>
                <a:lnTo>
                  <a:pt x="281354" y="621258"/>
                </a:lnTo>
                <a:lnTo>
                  <a:pt x="328246" y="705177"/>
                </a:lnTo>
                <a:lnTo>
                  <a:pt x="375138" y="784320"/>
                </a:lnTo>
                <a:lnTo>
                  <a:pt x="422031" y="858957"/>
                </a:lnTo>
                <a:lnTo>
                  <a:pt x="468923" y="929345"/>
                </a:lnTo>
                <a:lnTo>
                  <a:pt x="515815" y="995727"/>
                </a:lnTo>
                <a:lnTo>
                  <a:pt x="562708" y="1058330"/>
                </a:lnTo>
                <a:lnTo>
                  <a:pt x="609600" y="1117370"/>
                </a:lnTo>
                <a:lnTo>
                  <a:pt x="656492" y="1173049"/>
                </a:lnTo>
                <a:lnTo>
                  <a:pt x="703385" y="1225558"/>
                </a:lnTo>
                <a:lnTo>
                  <a:pt x="750277" y="1275078"/>
                </a:lnTo>
                <a:lnTo>
                  <a:pt x="797169" y="1321780"/>
                </a:lnTo>
                <a:lnTo>
                  <a:pt x="844062" y="1365823"/>
                </a:lnTo>
                <a:lnTo>
                  <a:pt x="890954" y="1407359"/>
                </a:lnTo>
                <a:lnTo>
                  <a:pt x="937846" y="1446530"/>
                </a:lnTo>
                <a:lnTo>
                  <a:pt x="984738" y="1483472"/>
                </a:lnTo>
                <a:lnTo>
                  <a:pt x="1031631" y="1518311"/>
                </a:lnTo>
                <a:lnTo>
                  <a:pt x="1078523" y="1551166"/>
                </a:lnTo>
                <a:lnTo>
                  <a:pt x="1125415" y="1582152"/>
                </a:lnTo>
                <a:lnTo>
                  <a:pt x="1172308" y="1611374"/>
                </a:lnTo>
                <a:lnTo>
                  <a:pt x="1219200" y="1638932"/>
                </a:lnTo>
                <a:lnTo>
                  <a:pt x="1266092" y="1664921"/>
                </a:lnTo>
                <a:lnTo>
                  <a:pt x="1312985" y="1689432"/>
                </a:lnTo>
                <a:lnTo>
                  <a:pt x="1359877" y="1712546"/>
                </a:lnTo>
                <a:lnTo>
                  <a:pt x="1406769" y="1734346"/>
                </a:lnTo>
                <a:lnTo>
                  <a:pt x="1453662" y="1754904"/>
                </a:lnTo>
                <a:lnTo>
                  <a:pt x="1500554" y="1774292"/>
                </a:lnTo>
                <a:lnTo>
                  <a:pt x="1547446" y="1792576"/>
                </a:lnTo>
                <a:lnTo>
                  <a:pt x="1594338" y="1809820"/>
                </a:lnTo>
                <a:lnTo>
                  <a:pt x="1641231" y="1826082"/>
                </a:lnTo>
                <a:lnTo>
                  <a:pt x="1688123" y="1841418"/>
                </a:lnTo>
                <a:lnTo>
                  <a:pt x="1735015" y="1855881"/>
                </a:lnTo>
                <a:lnTo>
                  <a:pt x="1781908" y="1869521"/>
                </a:lnTo>
                <a:lnTo>
                  <a:pt x="1828800" y="1882385"/>
                </a:lnTo>
                <a:lnTo>
                  <a:pt x="1875692" y="1894516"/>
                </a:lnTo>
                <a:lnTo>
                  <a:pt x="1922585" y="1905957"/>
                </a:lnTo>
                <a:lnTo>
                  <a:pt x="1969477" y="1916746"/>
                </a:lnTo>
                <a:lnTo>
                  <a:pt x="2016369" y="1926922"/>
                </a:lnTo>
                <a:lnTo>
                  <a:pt x="2063262" y="1936518"/>
                </a:lnTo>
                <a:lnTo>
                  <a:pt x="2110154" y="1945568"/>
                </a:lnTo>
                <a:lnTo>
                  <a:pt x="2157046" y="1954102"/>
                </a:lnTo>
                <a:lnTo>
                  <a:pt x="2203938" y="1962151"/>
                </a:lnTo>
                <a:lnTo>
                  <a:pt x="2250831" y="1969742"/>
                </a:lnTo>
                <a:lnTo>
                  <a:pt x="2297723" y="1976900"/>
                </a:lnTo>
                <a:lnTo>
                  <a:pt x="2344615" y="1983652"/>
                </a:lnTo>
                <a:lnTo>
                  <a:pt x="2391508" y="1990018"/>
                </a:lnTo>
                <a:lnTo>
                  <a:pt x="2438400" y="1996023"/>
                </a:lnTo>
                <a:lnTo>
                  <a:pt x="2485292" y="2001685"/>
                </a:lnTo>
                <a:lnTo>
                  <a:pt x="2532185" y="2007026"/>
                </a:lnTo>
                <a:lnTo>
                  <a:pt x="2579077" y="2012062"/>
                </a:lnTo>
                <a:lnTo>
                  <a:pt x="2625969" y="2016812"/>
                </a:lnTo>
                <a:lnTo>
                  <a:pt x="2672862" y="2021291"/>
                </a:lnTo>
                <a:lnTo>
                  <a:pt x="2719754" y="2025515"/>
                </a:lnTo>
                <a:lnTo>
                  <a:pt x="2766646" y="2029499"/>
                </a:lnTo>
                <a:lnTo>
                  <a:pt x="2813538" y="2033256"/>
                </a:lnTo>
                <a:lnTo>
                  <a:pt x="2860431" y="2036799"/>
                </a:lnTo>
                <a:lnTo>
                  <a:pt x="2907323" y="2040141"/>
                </a:lnTo>
                <a:lnTo>
                  <a:pt x="2954215" y="2043292"/>
                </a:lnTo>
                <a:lnTo>
                  <a:pt x="3001108" y="2046264"/>
                </a:lnTo>
                <a:lnTo>
                  <a:pt x="3048000" y="2049066"/>
                </a:lnTo>
                <a:lnTo>
                  <a:pt x="3094892" y="2051710"/>
                </a:lnTo>
                <a:lnTo>
                  <a:pt x="3141785" y="2054202"/>
                </a:lnTo>
                <a:lnTo>
                  <a:pt x="3188677" y="2056553"/>
                </a:lnTo>
                <a:lnTo>
                  <a:pt x="3235569" y="2058770"/>
                </a:lnTo>
                <a:lnTo>
                  <a:pt x="3282462" y="2060861"/>
                </a:lnTo>
                <a:lnTo>
                  <a:pt x="3329354" y="2062833"/>
                </a:lnTo>
                <a:lnTo>
                  <a:pt x="3376246" y="2064692"/>
                </a:lnTo>
                <a:lnTo>
                  <a:pt x="3423138" y="2066446"/>
                </a:lnTo>
                <a:lnTo>
                  <a:pt x="3470031" y="2068100"/>
                </a:lnTo>
                <a:lnTo>
                  <a:pt x="3516923" y="2069659"/>
                </a:lnTo>
                <a:lnTo>
                  <a:pt x="3563815" y="2071130"/>
                </a:lnTo>
                <a:lnTo>
                  <a:pt x="3610708" y="2072518"/>
                </a:lnTo>
                <a:lnTo>
                  <a:pt x="3657600" y="2073826"/>
                </a:lnTo>
                <a:lnTo>
                  <a:pt x="3704492" y="2075060"/>
                </a:lnTo>
                <a:lnTo>
                  <a:pt x="3751385" y="2076223"/>
                </a:lnTo>
                <a:lnTo>
                  <a:pt x="3798277" y="2077320"/>
                </a:lnTo>
                <a:lnTo>
                  <a:pt x="3845169" y="2078355"/>
                </a:lnTo>
                <a:lnTo>
                  <a:pt x="3892062" y="2079331"/>
                </a:lnTo>
                <a:lnTo>
                  <a:pt x="3938954" y="2080252"/>
                </a:lnTo>
                <a:lnTo>
                  <a:pt x="3985846" y="2081120"/>
                </a:lnTo>
                <a:lnTo>
                  <a:pt x="4032738" y="2081938"/>
                </a:lnTo>
                <a:lnTo>
                  <a:pt x="4079631" y="2082710"/>
                </a:lnTo>
                <a:lnTo>
                  <a:pt x="4126523" y="2083438"/>
                </a:lnTo>
                <a:lnTo>
                  <a:pt x="4173415" y="2084125"/>
                </a:lnTo>
                <a:lnTo>
                  <a:pt x="4220308" y="2084772"/>
                </a:lnTo>
                <a:lnTo>
                  <a:pt x="4267200" y="2085383"/>
                </a:lnTo>
                <a:lnTo>
                  <a:pt x="4314092" y="2085959"/>
                </a:lnTo>
                <a:lnTo>
                  <a:pt x="4360985" y="2086502"/>
                </a:lnTo>
                <a:lnTo>
                  <a:pt x="4407877" y="2087014"/>
                </a:lnTo>
                <a:lnTo>
                  <a:pt x="4454769" y="2087497"/>
                </a:lnTo>
                <a:lnTo>
                  <a:pt x="4501662" y="2087953"/>
                </a:lnTo>
                <a:lnTo>
                  <a:pt x="4548554" y="2088382"/>
                </a:lnTo>
                <a:lnTo>
                  <a:pt x="4595446" y="2088788"/>
                </a:lnTo>
                <a:lnTo>
                  <a:pt x="4642338" y="2089170"/>
                </a:lnTo>
                <a:lnTo>
                  <a:pt x="4689231" y="2089530"/>
                </a:lnTo>
                <a:lnTo>
                  <a:pt x="4736123" y="2089870"/>
                </a:lnTo>
                <a:lnTo>
                  <a:pt x="4783015" y="2090190"/>
                </a:lnTo>
                <a:lnTo>
                  <a:pt x="4829908" y="2090493"/>
                </a:lnTo>
                <a:lnTo>
                  <a:pt x="4876800" y="2090778"/>
                </a:lnTo>
                <a:lnTo>
                  <a:pt x="4923692" y="2091046"/>
                </a:lnTo>
                <a:lnTo>
                  <a:pt x="4970585" y="2091300"/>
                </a:lnTo>
                <a:lnTo>
                  <a:pt x="5017477" y="2091539"/>
                </a:lnTo>
                <a:lnTo>
                  <a:pt x="5064369" y="2091765"/>
                </a:lnTo>
                <a:lnTo>
                  <a:pt x="5111262" y="2091977"/>
                </a:lnTo>
                <a:lnTo>
                  <a:pt x="5158154" y="2092178"/>
                </a:lnTo>
                <a:lnTo>
                  <a:pt x="5205046" y="2092367"/>
                </a:lnTo>
                <a:lnTo>
                  <a:pt x="5251938" y="2092545"/>
                </a:lnTo>
                <a:lnTo>
                  <a:pt x="5298831" y="2092713"/>
                </a:lnTo>
                <a:lnTo>
                  <a:pt x="5345723" y="2092872"/>
                </a:lnTo>
                <a:lnTo>
                  <a:pt x="5392615" y="2093022"/>
                </a:lnTo>
                <a:lnTo>
                  <a:pt x="5439508" y="2093163"/>
                </a:lnTo>
                <a:lnTo>
                  <a:pt x="5486400" y="2093296"/>
                </a:lnTo>
                <a:lnTo>
                  <a:pt x="5533292" y="2093421"/>
                </a:lnTo>
                <a:lnTo>
                  <a:pt x="5580185" y="2093540"/>
                </a:lnTo>
                <a:lnTo>
                  <a:pt x="5627077" y="2093651"/>
                </a:lnTo>
                <a:lnTo>
                  <a:pt x="5673969" y="2093756"/>
                </a:lnTo>
                <a:lnTo>
                  <a:pt x="5720862" y="2093856"/>
                </a:lnTo>
                <a:lnTo>
                  <a:pt x="5767754" y="2093949"/>
                </a:lnTo>
                <a:lnTo>
                  <a:pt x="5814646" y="2094037"/>
                </a:lnTo>
                <a:lnTo>
                  <a:pt x="5861538" y="2094121"/>
                </a:lnTo>
                <a:lnTo>
                  <a:pt x="5908431" y="2094199"/>
                </a:lnTo>
                <a:lnTo>
                  <a:pt x="5955323" y="2094273"/>
                </a:lnTo>
                <a:lnTo>
                  <a:pt x="6002215" y="2094343"/>
                </a:lnTo>
                <a:lnTo>
                  <a:pt x="6049108" y="2094409"/>
                </a:lnTo>
                <a:lnTo>
                  <a:pt x="6096000" y="209447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59636E"/>
            </a:solidFill>
          </a:ln>
        </p:spPr>
      </p:sp>
      <p:sp>
        <p:nvSpPr>
          <p:cNvPr id="10" name="p5_path">
            <a:extLst xmlns:a="http://schemas.openxmlformats.org/drawingml/2006/main">
              <a:ext uri="{FF2B5EF4-FFF2-40B4-BE49-F238E27FC236}">
                <a16:creationId xmlns:a16="http://schemas.microsoft.com/office/drawing/2014/main" id="{91918537-D553-47B3-BDB9-B5D686D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6" y="2788539"/>
            <a:ext cx="5303520" cy="1673437"/>
          </a:xfrm>
          <a:custGeom xmlns:a="http://schemas.openxmlformats.org/drawingml/2006/main">
            <a:pathLst>
              <a:path w="6096000" h="1923491">
                <a:moveTo>
                  <a:pt x="0" y="0"/>
                </a:moveTo>
                <a:lnTo>
                  <a:pt x="46892" y="39913"/>
                </a:lnTo>
                <a:lnTo>
                  <a:pt x="93785" y="79066"/>
                </a:lnTo>
                <a:lnTo>
                  <a:pt x="140677" y="117473"/>
                </a:lnTo>
                <a:lnTo>
                  <a:pt x="187569" y="155149"/>
                </a:lnTo>
                <a:lnTo>
                  <a:pt x="234462" y="192107"/>
                </a:lnTo>
                <a:lnTo>
                  <a:pt x="281354" y="228361"/>
                </a:lnTo>
                <a:lnTo>
                  <a:pt x="328246" y="263924"/>
                </a:lnTo>
                <a:lnTo>
                  <a:pt x="375138" y="298810"/>
                </a:lnTo>
                <a:lnTo>
                  <a:pt x="422031" y="333032"/>
                </a:lnTo>
                <a:lnTo>
                  <a:pt x="468923" y="366602"/>
                </a:lnTo>
                <a:lnTo>
                  <a:pt x="515815" y="399532"/>
                </a:lnTo>
                <a:lnTo>
                  <a:pt x="562708" y="431835"/>
                </a:lnTo>
                <a:lnTo>
                  <a:pt x="609600" y="463523"/>
                </a:lnTo>
                <a:lnTo>
                  <a:pt x="656492" y="494607"/>
                </a:lnTo>
                <a:lnTo>
                  <a:pt x="703385" y="525100"/>
                </a:lnTo>
                <a:lnTo>
                  <a:pt x="750277" y="555011"/>
                </a:lnTo>
                <a:lnTo>
                  <a:pt x="797169" y="584353"/>
                </a:lnTo>
                <a:lnTo>
                  <a:pt x="844062" y="613136"/>
                </a:lnTo>
                <a:lnTo>
                  <a:pt x="890954" y="641370"/>
                </a:lnTo>
                <a:lnTo>
                  <a:pt x="937846" y="669067"/>
                </a:lnTo>
                <a:lnTo>
                  <a:pt x="984738" y="696236"/>
                </a:lnTo>
                <a:lnTo>
                  <a:pt x="1031631" y="722888"/>
                </a:lnTo>
                <a:lnTo>
                  <a:pt x="1078523" y="749033"/>
                </a:lnTo>
                <a:lnTo>
                  <a:pt x="1125415" y="774679"/>
                </a:lnTo>
                <a:lnTo>
                  <a:pt x="1172308" y="799836"/>
                </a:lnTo>
                <a:lnTo>
                  <a:pt x="1219200" y="824515"/>
                </a:lnTo>
                <a:lnTo>
                  <a:pt x="1266092" y="848724"/>
                </a:lnTo>
                <a:lnTo>
                  <a:pt x="1312985" y="872471"/>
                </a:lnTo>
                <a:lnTo>
                  <a:pt x="1359877" y="895766"/>
                </a:lnTo>
                <a:lnTo>
                  <a:pt x="1406769" y="918617"/>
                </a:lnTo>
                <a:lnTo>
                  <a:pt x="1453662" y="941033"/>
                </a:lnTo>
                <a:lnTo>
                  <a:pt x="1500554" y="963023"/>
                </a:lnTo>
                <a:lnTo>
                  <a:pt x="1547446" y="984593"/>
                </a:lnTo>
                <a:lnTo>
                  <a:pt x="1594338" y="1005752"/>
                </a:lnTo>
                <a:lnTo>
                  <a:pt x="1641231" y="1026509"/>
                </a:lnTo>
                <a:lnTo>
                  <a:pt x="1688123" y="1046870"/>
                </a:lnTo>
                <a:lnTo>
                  <a:pt x="1735015" y="1066843"/>
                </a:lnTo>
                <a:lnTo>
                  <a:pt x="1781908" y="1086436"/>
                </a:lnTo>
                <a:lnTo>
                  <a:pt x="1828800" y="1105656"/>
                </a:lnTo>
                <a:lnTo>
                  <a:pt x="1875692" y="1124509"/>
                </a:lnTo>
                <a:lnTo>
                  <a:pt x="1922585" y="1143004"/>
                </a:lnTo>
                <a:lnTo>
                  <a:pt x="1969477" y="1161146"/>
                </a:lnTo>
                <a:lnTo>
                  <a:pt x="2016369" y="1178943"/>
                </a:lnTo>
                <a:lnTo>
                  <a:pt x="2063262" y="1196401"/>
                </a:lnTo>
                <a:lnTo>
                  <a:pt x="2110154" y="1213526"/>
                </a:lnTo>
                <a:lnTo>
                  <a:pt x="2157046" y="1230325"/>
                </a:lnTo>
                <a:lnTo>
                  <a:pt x="2203938" y="1246804"/>
                </a:lnTo>
                <a:lnTo>
                  <a:pt x="2250831" y="1262969"/>
                </a:lnTo>
                <a:lnTo>
                  <a:pt x="2297723" y="1278826"/>
                </a:lnTo>
                <a:lnTo>
                  <a:pt x="2344615" y="1294381"/>
                </a:lnTo>
                <a:lnTo>
                  <a:pt x="2391508" y="1309640"/>
                </a:lnTo>
                <a:lnTo>
                  <a:pt x="2438400" y="1324609"/>
                </a:lnTo>
                <a:lnTo>
                  <a:pt x="2485292" y="1339292"/>
                </a:lnTo>
                <a:lnTo>
                  <a:pt x="2532185" y="1353695"/>
                </a:lnTo>
                <a:lnTo>
                  <a:pt x="2579077" y="1367825"/>
                </a:lnTo>
                <a:lnTo>
                  <a:pt x="2625969" y="1381685"/>
                </a:lnTo>
                <a:lnTo>
                  <a:pt x="2672862" y="1395281"/>
                </a:lnTo>
                <a:lnTo>
                  <a:pt x="2719754" y="1408618"/>
                </a:lnTo>
                <a:lnTo>
                  <a:pt x="2766646" y="1421701"/>
                </a:lnTo>
                <a:lnTo>
                  <a:pt x="2813538" y="1434535"/>
                </a:lnTo>
                <a:lnTo>
                  <a:pt x="2860431" y="1447124"/>
                </a:lnTo>
                <a:lnTo>
                  <a:pt x="2907323" y="1459474"/>
                </a:lnTo>
                <a:lnTo>
                  <a:pt x="2954215" y="1471588"/>
                </a:lnTo>
                <a:lnTo>
                  <a:pt x="3001108" y="1483472"/>
                </a:lnTo>
                <a:lnTo>
                  <a:pt x="3048000" y="1495129"/>
                </a:lnTo>
                <a:lnTo>
                  <a:pt x="3094892" y="1506564"/>
                </a:lnTo>
                <a:lnTo>
                  <a:pt x="3141785" y="1517782"/>
                </a:lnTo>
                <a:lnTo>
                  <a:pt x="3188677" y="1528786"/>
                </a:lnTo>
                <a:lnTo>
                  <a:pt x="3235569" y="1539580"/>
                </a:lnTo>
                <a:lnTo>
                  <a:pt x="3282462" y="1550169"/>
                </a:lnTo>
                <a:lnTo>
                  <a:pt x="3329354" y="1560556"/>
                </a:lnTo>
                <a:lnTo>
                  <a:pt x="3376246" y="1570745"/>
                </a:lnTo>
                <a:lnTo>
                  <a:pt x="3423138" y="1580740"/>
                </a:lnTo>
                <a:lnTo>
                  <a:pt x="3470031" y="1590544"/>
                </a:lnTo>
                <a:lnTo>
                  <a:pt x="3516923" y="1600162"/>
                </a:lnTo>
                <a:lnTo>
                  <a:pt x="3563815" y="1609597"/>
                </a:lnTo>
                <a:lnTo>
                  <a:pt x="3610708" y="1618852"/>
                </a:lnTo>
                <a:lnTo>
                  <a:pt x="3657600" y="1627931"/>
                </a:lnTo>
                <a:lnTo>
                  <a:pt x="3704492" y="1636837"/>
                </a:lnTo>
                <a:lnTo>
                  <a:pt x="3751385" y="1645573"/>
                </a:lnTo>
                <a:lnTo>
                  <a:pt x="3798277" y="1654143"/>
                </a:lnTo>
                <a:lnTo>
                  <a:pt x="3845169" y="1662549"/>
                </a:lnTo>
                <a:lnTo>
                  <a:pt x="3892062" y="1670796"/>
                </a:lnTo>
                <a:lnTo>
                  <a:pt x="3938954" y="1678885"/>
                </a:lnTo>
                <a:lnTo>
                  <a:pt x="3985846" y="1686820"/>
                </a:lnTo>
                <a:lnTo>
                  <a:pt x="4032738" y="1694604"/>
                </a:lnTo>
                <a:lnTo>
                  <a:pt x="4079631" y="1702240"/>
                </a:lnTo>
                <a:lnTo>
                  <a:pt x="4126523" y="1709731"/>
                </a:lnTo>
                <a:lnTo>
                  <a:pt x="4173415" y="1717078"/>
                </a:lnTo>
                <a:lnTo>
                  <a:pt x="4220308" y="1724286"/>
                </a:lnTo>
                <a:lnTo>
                  <a:pt x="4267200" y="1731357"/>
                </a:lnTo>
                <a:lnTo>
                  <a:pt x="4314092" y="1738293"/>
                </a:lnTo>
                <a:lnTo>
                  <a:pt x="4360985" y="1745096"/>
                </a:lnTo>
                <a:lnTo>
                  <a:pt x="4407877" y="1751770"/>
                </a:lnTo>
                <a:lnTo>
                  <a:pt x="4454769" y="1758317"/>
                </a:lnTo>
                <a:lnTo>
                  <a:pt x="4501662" y="1764740"/>
                </a:lnTo>
                <a:lnTo>
                  <a:pt x="4548554" y="1771040"/>
                </a:lnTo>
                <a:lnTo>
                  <a:pt x="4595446" y="1777220"/>
                </a:lnTo>
                <a:lnTo>
                  <a:pt x="4642338" y="1783282"/>
                </a:lnTo>
                <a:lnTo>
                  <a:pt x="4689231" y="1789229"/>
                </a:lnTo>
                <a:lnTo>
                  <a:pt x="4736123" y="1795062"/>
                </a:lnTo>
                <a:lnTo>
                  <a:pt x="4783015" y="1800785"/>
                </a:lnTo>
                <a:lnTo>
                  <a:pt x="4829908" y="1806398"/>
                </a:lnTo>
                <a:lnTo>
                  <a:pt x="4876800" y="1811905"/>
                </a:lnTo>
                <a:lnTo>
                  <a:pt x="4923692" y="1817307"/>
                </a:lnTo>
                <a:lnTo>
                  <a:pt x="4970585" y="1822605"/>
                </a:lnTo>
                <a:lnTo>
                  <a:pt x="5017477" y="1827803"/>
                </a:lnTo>
                <a:lnTo>
                  <a:pt x="5064369" y="1832902"/>
                </a:lnTo>
                <a:lnTo>
                  <a:pt x="5111262" y="1837904"/>
                </a:lnTo>
                <a:lnTo>
                  <a:pt x="5158154" y="1842810"/>
                </a:lnTo>
                <a:lnTo>
                  <a:pt x="5205046" y="1847623"/>
                </a:lnTo>
                <a:lnTo>
                  <a:pt x="5251938" y="1852344"/>
                </a:lnTo>
                <a:lnTo>
                  <a:pt x="5298831" y="1856976"/>
                </a:lnTo>
                <a:lnTo>
                  <a:pt x="5345723" y="1861519"/>
                </a:lnTo>
                <a:lnTo>
                  <a:pt x="5392615" y="1865976"/>
                </a:lnTo>
                <a:lnTo>
                  <a:pt x="5439508" y="1870347"/>
                </a:lnTo>
                <a:lnTo>
                  <a:pt x="5486400" y="1874636"/>
                </a:lnTo>
                <a:lnTo>
                  <a:pt x="5533292" y="1878843"/>
                </a:lnTo>
                <a:lnTo>
                  <a:pt x="5580185" y="1882969"/>
                </a:lnTo>
                <a:lnTo>
                  <a:pt x="5627077" y="1887017"/>
                </a:lnTo>
                <a:lnTo>
                  <a:pt x="5673969" y="1890988"/>
                </a:lnTo>
                <a:lnTo>
                  <a:pt x="5720862" y="1894884"/>
                </a:lnTo>
                <a:lnTo>
                  <a:pt x="5767754" y="1898705"/>
                </a:lnTo>
                <a:lnTo>
                  <a:pt x="5814646" y="1902453"/>
                </a:lnTo>
                <a:lnTo>
                  <a:pt x="5861538" y="1906130"/>
                </a:lnTo>
                <a:lnTo>
                  <a:pt x="5908431" y="1909737"/>
                </a:lnTo>
                <a:lnTo>
                  <a:pt x="5955323" y="1913275"/>
                </a:lnTo>
                <a:lnTo>
                  <a:pt x="6002215" y="1916746"/>
                </a:lnTo>
                <a:lnTo>
                  <a:pt x="6049108" y="1920151"/>
                </a:lnTo>
                <a:lnTo>
                  <a:pt x="6096000" y="192349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56A"/>
            </a:solidFill>
          </a:ln>
        </p:spPr>
      </p:sp>
      <p:sp>
        <p:nvSpPr>
          <p:cNvPr id="11" name="p5_textbox_10">
            <a:extLst xmlns:a="http://schemas.openxmlformats.org/drawingml/2006/main">
              <a:ext uri="{FF2B5EF4-FFF2-40B4-BE49-F238E27FC236}">
                <a16:creationId xmlns:a16="http://schemas.microsoft.com/office/drawing/2014/main" id="{8C11F7F8-BC43-4153-9471-983DA5D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90775"/>
            <a:ext cx="3066098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归一化荧光强度</a:t>
            </a:r>
          </a:p>
        </p:txBody>
      </p:sp>
      <p:sp>
        <p:nvSpPr>
          <p:cNvPr id="12" name="p5_textbox_11">
            <a:extLst xmlns:a="http://schemas.openxmlformats.org/drawingml/2006/main">
              <a:ext uri="{FF2B5EF4-FFF2-40B4-BE49-F238E27FC236}">
                <a16:creationId xmlns:a16="http://schemas.microsoft.com/office/drawing/2014/main" id="{558E7421-D361-4AF6-ACA1-CD19176C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166" y="3981831"/>
            <a:ext cx="1657350" cy="31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27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27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短寿命</a:t>
            </a:r>
          </a:p>
        </p:txBody>
      </p:sp>
      <p:sp>
        <p:nvSpPr>
          <p:cNvPr id="13" name="p5_textbox_12">
            <a:extLst xmlns:a="http://schemas.openxmlformats.org/drawingml/2006/main">
              <a:ext uri="{FF2B5EF4-FFF2-40B4-BE49-F238E27FC236}">
                <a16:creationId xmlns:a16="http://schemas.microsoft.com/office/drawing/2014/main" id="{01E848DB-E62A-44D3-8371-EC76D5D8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412" y="3526060"/>
            <a:ext cx="1657350" cy="31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27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27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长寿命</a:t>
            </a:r>
          </a:p>
        </p:txBody>
      </p:sp>
      <p:sp>
        <p:nvSpPr>
          <p:cNvPr id="14" name="p5_textbox_13">
            <a:extLst xmlns:a="http://schemas.openxmlformats.org/drawingml/2006/main">
              <a:ext uri="{FF2B5EF4-FFF2-40B4-BE49-F238E27FC236}">
                <a16:creationId xmlns:a16="http://schemas.microsoft.com/office/drawing/2014/main" id="{A21B547D-EF4B-4900-B2C4-493EC57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4976241"/>
            <a:ext cx="2734628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62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2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激发后时间 / ns</a:t>
            </a:r>
          </a:p>
        </p:txBody>
      </p:sp>
      <p:sp>
        <p:nvSpPr>
          <p:cNvPr id="15" name="p5_path">
            <a:extLst xmlns:a="http://schemas.openxmlformats.org/drawingml/2006/main">
              <a:ext uri="{FF2B5EF4-FFF2-40B4-BE49-F238E27FC236}">
                <a16:creationId xmlns:a16="http://schemas.microsoft.com/office/drawing/2014/main" id="{92E475FF-4D42-487D-BA5E-F45F757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6" y="4611624"/>
            <a:ext cx="829" cy="58007"/>
          </a:xfrm>
          <a:custGeom xmlns:a="http://schemas.openxmlformats.org/drawingml/2006/main"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636E"/>
            </a:solidFill>
          </a:ln>
        </p:spPr>
      </p:sp>
      <p:sp>
        <p:nvSpPr>
          <p:cNvPr id="16" name="p5_textbox_15">
            <a:extLst xmlns:a="http://schemas.openxmlformats.org/drawingml/2006/main">
              <a:ext uri="{FF2B5EF4-FFF2-40B4-BE49-F238E27FC236}">
                <a16:creationId xmlns:a16="http://schemas.microsoft.com/office/drawing/2014/main" id="{79857425-4121-4499-840E-AA5C50D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04" y="4719352"/>
            <a:ext cx="298323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p5_path">
            <a:extLst xmlns:a="http://schemas.openxmlformats.org/drawingml/2006/main">
              <a:ext uri="{FF2B5EF4-FFF2-40B4-BE49-F238E27FC236}">
                <a16:creationId xmlns:a16="http://schemas.microsoft.com/office/drawing/2014/main" id="{A3D9FD66-1447-4C65-85AD-A87FA180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246" y="4611624"/>
            <a:ext cx="829" cy="58007"/>
          </a:xfrm>
          <a:custGeom xmlns:a="http://schemas.openxmlformats.org/drawingml/2006/main"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636E"/>
            </a:solidFill>
          </a:ln>
        </p:spPr>
      </p:sp>
      <p:sp>
        <p:nvSpPr>
          <p:cNvPr id="18" name="p5_textbox_17">
            <a:extLst xmlns:a="http://schemas.openxmlformats.org/drawingml/2006/main">
              <a:ext uri="{FF2B5EF4-FFF2-40B4-BE49-F238E27FC236}">
                <a16:creationId xmlns:a16="http://schemas.microsoft.com/office/drawing/2014/main" id="{5AAF251A-3827-4219-961B-017B14C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084" y="4719352"/>
            <a:ext cx="298323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p5_path">
            <a:extLst xmlns:a="http://schemas.openxmlformats.org/drawingml/2006/main">
              <a:ext uri="{FF2B5EF4-FFF2-40B4-BE49-F238E27FC236}">
                <a16:creationId xmlns:a16="http://schemas.microsoft.com/office/drawing/2014/main" id="{4381A83F-5A00-4C52-ADD9-4F63BE1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126" y="4611624"/>
            <a:ext cx="829" cy="58007"/>
          </a:xfrm>
          <a:custGeom xmlns:a="http://schemas.openxmlformats.org/drawingml/2006/main"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636E"/>
            </a:solidFill>
          </a:ln>
        </p:spPr>
      </p:sp>
      <p:sp>
        <p:nvSpPr>
          <p:cNvPr id="20" name="p5_textbox_19">
            <a:extLst xmlns:a="http://schemas.openxmlformats.org/drawingml/2006/main">
              <a:ext uri="{FF2B5EF4-FFF2-40B4-BE49-F238E27FC236}">
                <a16:creationId xmlns:a16="http://schemas.microsoft.com/office/drawing/2014/main" id="{01366EEB-C50E-4D20-BA9D-662FD05D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964" y="4719352"/>
            <a:ext cx="298323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p5_path">
            <a:extLst xmlns:a="http://schemas.openxmlformats.org/drawingml/2006/main">
              <a:ext uri="{FF2B5EF4-FFF2-40B4-BE49-F238E27FC236}">
                <a16:creationId xmlns:a16="http://schemas.microsoft.com/office/drawing/2014/main" id="{9A92CA3E-4EAD-47FC-9345-AF303DF1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006" y="4611624"/>
            <a:ext cx="829" cy="58007"/>
          </a:xfrm>
          <a:custGeom xmlns:a="http://schemas.openxmlformats.org/drawingml/2006/main"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636E"/>
            </a:solidFill>
          </a:ln>
        </p:spPr>
      </p:sp>
      <p:sp>
        <p:nvSpPr>
          <p:cNvPr id="22" name="p5_textbox_21">
            <a:extLst xmlns:a="http://schemas.openxmlformats.org/drawingml/2006/main">
              <a:ext uri="{FF2B5EF4-FFF2-40B4-BE49-F238E27FC236}">
                <a16:creationId xmlns:a16="http://schemas.microsoft.com/office/drawing/2014/main" id="{144863CB-6914-4E60-9ED9-A2EB388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844" y="4719352"/>
            <a:ext cx="298323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5_path">
            <a:extLst xmlns:a="http://schemas.openxmlformats.org/drawingml/2006/main">
              <a:ext uri="{FF2B5EF4-FFF2-40B4-BE49-F238E27FC236}">
                <a16:creationId xmlns:a16="http://schemas.microsoft.com/office/drawing/2014/main" id="{18B3464F-47DB-4B4B-A98B-6EE52E5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886" y="4611624"/>
            <a:ext cx="829" cy="58007"/>
          </a:xfrm>
          <a:custGeom xmlns:a="http://schemas.openxmlformats.org/drawingml/2006/main"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636E"/>
            </a:solidFill>
          </a:ln>
        </p:spPr>
      </p:sp>
      <p:sp>
        <p:nvSpPr>
          <p:cNvPr id="24" name="p5_textbox_23">
            <a:extLst xmlns:a="http://schemas.openxmlformats.org/drawingml/2006/main">
              <a:ext uri="{FF2B5EF4-FFF2-40B4-BE49-F238E27FC236}">
                <a16:creationId xmlns:a16="http://schemas.microsoft.com/office/drawing/2014/main" id="{F03062BB-C7CA-4B41-91DB-E7A0DC94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24" y="4719352"/>
            <a:ext cx="298323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5" name="p5_textbox_24">
            <a:extLst xmlns:a="http://schemas.openxmlformats.org/drawingml/2006/main">
              <a:ext uri="{FF2B5EF4-FFF2-40B4-BE49-F238E27FC236}">
                <a16:creationId xmlns:a16="http://schemas.microsoft.com/office/drawing/2014/main" id="{A01E935A-B7BD-442E-97B5-BB3B620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032" y="2247900"/>
            <a:ext cx="1827276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8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178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FLIM</a:t>
            </a:r>
          </a:p>
        </p:txBody>
      </p:sp>
      <p:sp>
        <p:nvSpPr>
          <p:cNvPr id="26" name="p5_textbox_25">
            <a:extLst xmlns:a="http://schemas.openxmlformats.org/drawingml/2006/main">
              <a:ext uri="{FF2B5EF4-FFF2-40B4-BE49-F238E27FC236}">
                <a16:creationId xmlns:a16="http://schemas.microsoft.com/office/drawing/2014/main" id="{4C420BA4-76CF-48E4-AFAA-6905842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92146"/>
            <a:ext cx="26822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48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48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寿命的空间分布</a:t>
            </a:r>
          </a:p>
        </p:txBody>
      </p:sp>
      <p:sp>
        <p:nvSpPr>
          <p:cNvPr id="27" name="p5_rect_26">
            <a:extLst xmlns:a="http://schemas.openxmlformats.org/drawingml/2006/main">
              <a:ext uri="{FF2B5EF4-FFF2-40B4-BE49-F238E27FC236}">
                <a16:creationId xmlns:a16="http://schemas.microsoft.com/office/drawing/2014/main" id="{C4971216-2C18-4272-8F99-C9E7155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28" name="p5_rect_27">
            <a:extLst xmlns:a="http://schemas.openxmlformats.org/drawingml/2006/main">
              <a:ext uri="{FF2B5EF4-FFF2-40B4-BE49-F238E27FC236}">
                <a16:creationId xmlns:a16="http://schemas.microsoft.com/office/drawing/2014/main" id="{70C40235-A98F-4792-9927-111CA73D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29" name="p5_rect_28">
            <a:extLst xmlns:a="http://schemas.openxmlformats.org/drawingml/2006/main">
              <a:ext uri="{FF2B5EF4-FFF2-40B4-BE49-F238E27FC236}">
                <a16:creationId xmlns:a16="http://schemas.microsoft.com/office/drawing/2014/main" id="{8F89CD3D-1E23-4056-BE99-D96A117F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30" name="p5_rect_29">
            <a:extLst xmlns:a="http://schemas.openxmlformats.org/drawingml/2006/main">
              <a:ext uri="{FF2B5EF4-FFF2-40B4-BE49-F238E27FC236}">
                <a16:creationId xmlns:a16="http://schemas.microsoft.com/office/drawing/2014/main" id="{E42B0750-96B9-4792-9616-43481BEE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31" name="p5_rect_30">
            <a:extLst xmlns:a="http://schemas.openxmlformats.org/drawingml/2006/main">
              <a:ext uri="{FF2B5EF4-FFF2-40B4-BE49-F238E27FC236}">
                <a16:creationId xmlns:a16="http://schemas.microsoft.com/office/drawing/2014/main" id="{2FC303CF-569C-4677-921E-D4F98F5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32" name="p5_rect_31">
            <a:extLst xmlns:a="http://schemas.openxmlformats.org/drawingml/2006/main">
              <a:ext uri="{FF2B5EF4-FFF2-40B4-BE49-F238E27FC236}">
                <a16:creationId xmlns:a16="http://schemas.microsoft.com/office/drawing/2014/main" id="{851B5A8A-2D9F-487F-8A59-07CD167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088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33" name="p5_rect_32">
            <a:extLst xmlns:a="http://schemas.openxmlformats.org/drawingml/2006/main">
              <a:ext uri="{FF2B5EF4-FFF2-40B4-BE49-F238E27FC236}">
                <a16:creationId xmlns:a16="http://schemas.microsoft.com/office/drawing/2014/main" id="{682FA473-D571-4FDF-BAE4-0005A17C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088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34" name="p5_rect_33">
            <a:extLst xmlns:a="http://schemas.openxmlformats.org/drawingml/2006/main">
              <a:ext uri="{FF2B5EF4-FFF2-40B4-BE49-F238E27FC236}">
                <a16:creationId xmlns:a16="http://schemas.microsoft.com/office/drawing/2014/main" id="{6D3D15CF-6BB0-413D-B48C-2F7512B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088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35" name="p5_rect_34">
            <a:extLst xmlns:a="http://schemas.openxmlformats.org/drawingml/2006/main">
              <a:ext uri="{FF2B5EF4-FFF2-40B4-BE49-F238E27FC236}">
                <a16:creationId xmlns:a16="http://schemas.microsoft.com/office/drawing/2014/main" id="{9AA0DA6D-2A4D-4B43-8D3C-FC7EB9C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088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36" name="p5_rect_35">
            <a:extLst xmlns:a="http://schemas.openxmlformats.org/drawingml/2006/main">
              <a:ext uri="{FF2B5EF4-FFF2-40B4-BE49-F238E27FC236}">
                <a16:creationId xmlns:a16="http://schemas.microsoft.com/office/drawing/2014/main" id="{F69EA98B-304F-4FAA-891A-FE11DB1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088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37" name="p5_rect_36">
            <a:extLst xmlns:a="http://schemas.openxmlformats.org/drawingml/2006/main">
              <a:ext uri="{FF2B5EF4-FFF2-40B4-BE49-F238E27FC236}">
                <a16:creationId xmlns:a16="http://schemas.microsoft.com/office/drawing/2014/main" id="{484FD38C-ADF4-4885-AF28-61E38AB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38" name="p5_rect_37">
            <a:extLst xmlns:a="http://schemas.openxmlformats.org/drawingml/2006/main">
              <a:ext uri="{FF2B5EF4-FFF2-40B4-BE49-F238E27FC236}">
                <a16:creationId xmlns:a16="http://schemas.microsoft.com/office/drawing/2014/main" id="{EF85B723-79AA-4EA2-A2FF-E1E7F8B5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39" name="p5_rect_38">
            <a:extLst xmlns:a="http://schemas.openxmlformats.org/drawingml/2006/main">
              <a:ext uri="{FF2B5EF4-FFF2-40B4-BE49-F238E27FC236}">
                <a16:creationId xmlns:a16="http://schemas.microsoft.com/office/drawing/2014/main" id="{F0C12EFB-22AD-46E7-95AF-A6F7F9F0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40" name="p5_rect_39">
            <a:extLst xmlns:a="http://schemas.openxmlformats.org/drawingml/2006/main">
              <a:ext uri="{FF2B5EF4-FFF2-40B4-BE49-F238E27FC236}">
                <a16:creationId xmlns:a16="http://schemas.microsoft.com/office/drawing/2014/main" id="{26B31EB6-2E00-4404-9ECA-AC29139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41" name="p5_rect_40">
            <a:extLst xmlns:a="http://schemas.openxmlformats.org/drawingml/2006/main">
              <a:ext uri="{FF2B5EF4-FFF2-40B4-BE49-F238E27FC236}">
                <a16:creationId xmlns:a16="http://schemas.microsoft.com/office/drawing/2014/main" id="{5BED4D42-7F5C-4EAF-B02E-A5544A25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42" name="p5_rect_41">
            <a:extLst xmlns:a="http://schemas.openxmlformats.org/drawingml/2006/main">
              <a:ext uri="{FF2B5EF4-FFF2-40B4-BE49-F238E27FC236}">
                <a16:creationId xmlns:a16="http://schemas.microsoft.com/office/drawing/2014/main" id="{BB051563-95EB-4CDC-B5D2-D5E4037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43" name="p5_rect_42">
            <a:extLst xmlns:a="http://schemas.openxmlformats.org/drawingml/2006/main">
              <a:ext uri="{FF2B5EF4-FFF2-40B4-BE49-F238E27FC236}">
                <a16:creationId xmlns:a16="http://schemas.microsoft.com/office/drawing/2014/main" id="{094032B3-9827-41F2-BC69-3E5B4CF2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44" name="p5_rect_43">
            <a:extLst xmlns:a="http://schemas.openxmlformats.org/drawingml/2006/main">
              <a:ext uri="{FF2B5EF4-FFF2-40B4-BE49-F238E27FC236}">
                <a16:creationId xmlns:a16="http://schemas.microsoft.com/office/drawing/2014/main" id="{E61A0F58-42A1-401F-B624-715EF499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45" name="p5_rect_44">
            <a:extLst xmlns:a="http://schemas.openxmlformats.org/drawingml/2006/main">
              <a:ext uri="{FF2B5EF4-FFF2-40B4-BE49-F238E27FC236}">
                <a16:creationId xmlns:a16="http://schemas.microsoft.com/office/drawing/2014/main" id="{E973A316-426B-4BE4-8ADA-BB48E734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46" name="p5_rect_45">
            <a:extLst xmlns:a="http://schemas.openxmlformats.org/drawingml/2006/main">
              <a:ext uri="{FF2B5EF4-FFF2-40B4-BE49-F238E27FC236}">
                <a16:creationId xmlns:a16="http://schemas.microsoft.com/office/drawing/2014/main" id="{D8CF2F00-7B00-4145-A6E0-C5EFBBAD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47" name="p5_rect_46">
            <a:extLst xmlns:a="http://schemas.openxmlformats.org/drawingml/2006/main">
              <a:ext uri="{FF2B5EF4-FFF2-40B4-BE49-F238E27FC236}">
                <a16:creationId xmlns:a16="http://schemas.microsoft.com/office/drawing/2014/main" id="{496E853B-C6C8-4707-B60F-E7E6984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2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48" name="p5_rect_47">
            <a:extLst xmlns:a="http://schemas.openxmlformats.org/drawingml/2006/main">
              <a:ext uri="{FF2B5EF4-FFF2-40B4-BE49-F238E27FC236}">
                <a16:creationId xmlns:a16="http://schemas.microsoft.com/office/drawing/2014/main" id="{98C8343D-A579-44CB-A4D4-0B8D4A4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2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49" name="p5_rect_48">
            <a:extLst xmlns:a="http://schemas.openxmlformats.org/drawingml/2006/main">
              <a:ext uri="{FF2B5EF4-FFF2-40B4-BE49-F238E27FC236}">
                <a16:creationId xmlns:a16="http://schemas.microsoft.com/office/drawing/2014/main" id="{41A34970-3880-4B37-AAA6-935101D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2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50" name="p5_rect_49">
            <a:extLst xmlns:a="http://schemas.openxmlformats.org/drawingml/2006/main">
              <a:ext uri="{FF2B5EF4-FFF2-40B4-BE49-F238E27FC236}">
                <a16:creationId xmlns:a16="http://schemas.microsoft.com/office/drawing/2014/main" id="{350FFE50-1492-4B66-9951-274E2F7D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2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51" name="p5_rect_50">
            <a:extLst xmlns:a="http://schemas.openxmlformats.org/drawingml/2006/main">
              <a:ext uri="{FF2B5EF4-FFF2-40B4-BE49-F238E27FC236}">
                <a16:creationId xmlns:a16="http://schemas.microsoft.com/office/drawing/2014/main" id="{296E2647-F8FA-42A2-B9D9-DC75E12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2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52" name="p5_rect_51">
            <a:extLst xmlns:a="http://schemas.openxmlformats.org/drawingml/2006/main">
              <a:ext uri="{FF2B5EF4-FFF2-40B4-BE49-F238E27FC236}">
                <a16:creationId xmlns:a16="http://schemas.microsoft.com/office/drawing/2014/main" id="{5B6F3F4A-5CCD-49FD-B196-6334E2C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53" name="p5_rect_52">
            <a:extLst xmlns:a="http://schemas.openxmlformats.org/drawingml/2006/main">
              <a:ext uri="{FF2B5EF4-FFF2-40B4-BE49-F238E27FC236}">
                <a16:creationId xmlns:a16="http://schemas.microsoft.com/office/drawing/2014/main" id="{CB05EB91-7E36-4F5A-87A6-D660CE21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54" name="p5_rect_53">
            <a:extLst xmlns:a="http://schemas.openxmlformats.org/drawingml/2006/main">
              <a:ext uri="{FF2B5EF4-FFF2-40B4-BE49-F238E27FC236}">
                <a16:creationId xmlns:a16="http://schemas.microsoft.com/office/drawing/2014/main" id="{AD443EC5-6038-4944-A735-3EBD88AA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55" name="p5_rect_54">
            <a:extLst xmlns:a="http://schemas.openxmlformats.org/drawingml/2006/main">
              <a:ext uri="{FF2B5EF4-FFF2-40B4-BE49-F238E27FC236}">
                <a16:creationId xmlns:a16="http://schemas.microsoft.com/office/drawing/2014/main" id="{37B90CBF-D64F-45A4-8ED0-B33BF100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56" name="p5_rect_55">
            <a:extLst xmlns:a="http://schemas.openxmlformats.org/drawingml/2006/main">
              <a:ext uri="{FF2B5EF4-FFF2-40B4-BE49-F238E27FC236}">
                <a16:creationId xmlns:a16="http://schemas.microsoft.com/office/drawing/2014/main" id="{B4BA33C1-8BDC-43A6-B89B-6259702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57" name="p5_rect_56">
            <a:extLst xmlns:a="http://schemas.openxmlformats.org/drawingml/2006/main">
              <a:ext uri="{FF2B5EF4-FFF2-40B4-BE49-F238E27FC236}">
                <a16:creationId xmlns:a16="http://schemas.microsoft.com/office/drawing/2014/main" id="{4183C97E-6135-44B6-8074-BF012D2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028" y="3195066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58" name="p5_rect_57">
            <a:extLst xmlns:a="http://schemas.openxmlformats.org/drawingml/2006/main">
              <a:ext uri="{FF2B5EF4-FFF2-40B4-BE49-F238E27FC236}">
                <a16:creationId xmlns:a16="http://schemas.microsoft.com/office/drawing/2014/main" id="{9CE30D5B-2262-4D96-B308-7B9D70B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028" y="3429762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59" name="p5_rect_58">
            <a:extLst xmlns:a="http://schemas.openxmlformats.org/drawingml/2006/main">
              <a:ext uri="{FF2B5EF4-FFF2-40B4-BE49-F238E27FC236}">
                <a16:creationId xmlns:a16="http://schemas.microsoft.com/office/drawing/2014/main" id="{3393F473-F903-4020-A710-7D8986D9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028" y="3664458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60" name="p5_rect_59">
            <a:extLst xmlns:a="http://schemas.openxmlformats.org/drawingml/2006/main">
              <a:ext uri="{FF2B5EF4-FFF2-40B4-BE49-F238E27FC236}">
                <a16:creationId xmlns:a16="http://schemas.microsoft.com/office/drawing/2014/main" id="{89665D1D-1EDB-4840-AD90-322AFA6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028" y="3899154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61" name="p5_rect_60">
            <a:extLst xmlns:a="http://schemas.openxmlformats.org/drawingml/2006/main">
              <a:ext uri="{FF2B5EF4-FFF2-40B4-BE49-F238E27FC236}">
                <a16:creationId xmlns:a16="http://schemas.microsoft.com/office/drawing/2014/main" id="{547AFDAB-FE9D-4C53-9A90-1A64E5E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028" y="4133850"/>
            <a:ext cx="276606" cy="226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62" name="p5_rect_61">
            <a:extLst xmlns:a="http://schemas.openxmlformats.org/drawingml/2006/main">
              <a:ext uri="{FF2B5EF4-FFF2-40B4-BE49-F238E27FC236}">
                <a16:creationId xmlns:a16="http://schemas.microsoft.com/office/drawing/2014/main" id="{C3CF7C2A-DDC1-4439-8450-223989A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628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noFill/>
          </a:ln>
        </p:spPr>
      </p:sp>
      <p:sp>
        <p:nvSpPr>
          <p:cNvPr id="63" name="p5_rect_62">
            <a:extLst xmlns:a="http://schemas.openxmlformats.org/drawingml/2006/main">
              <a:ext uri="{FF2B5EF4-FFF2-40B4-BE49-F238E27FC236}">
                <a16:creationId xmlns:a16="http://schemas.microsoft.com/office/drawing/2014/main" id="{C01217DB-7229-4654-89DC-28A0908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E2"/>
          </a:solidFill>
          <a:ln xmlns:a="http://schemas.openxmlformats.org/drawingml/2006/main" w="0">
            <a:noFill/>
          </a:ln>
        </p:spPr>
      </p:sp>
      <p:sp>
        <p:nvSpPr>
          <p:cNvPr id="64" name="p5_rect_63">
            <a:extLst xmlns:a="http://schemas.openxmlformats.org/drawingml/2006/main">
              <a:ext uri="{FF2B5EF4-FFF2-40B4-BE49-F238E27FC236}">
                <a16:creationId xmlns:a16="http://schemas.microsoft.com/office/drawing/2014/main" id="{20953044-B9FE-4A63-BF2B-EA0843E0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2C3"/>
          </a:solidFill>
          <a:ln xmlns:a="http://schemas.openxmlformats.org/drawingml/2006/main" w="0">
            <a:noFill/>
          </a:ln>
        </p:spPr>
      </p:sp>
      <p:sp>
        <p:nvSpPr>
          <p:cNvPr id="65" name="p5_rect_64">
            <a:extLst xmlns:a="http://schemas.openxmlformats.org/drawingml/2006/main">
              <a:ext uri="{FF2B5EF4-FFF2-40B4-BE49-F238E27FC236}">
                <a16:creationId xmlns:a16="http://schemas.microsoft.com/office/drawing/2014/main" id="{A4ED5A15-0DEE-4AAE-BECA-51E3118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176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5A0"/>
          </a:solidFill>
          <a:ln xmlns:a="http://schemas.openxmlformats.org/drawingml/2006/main" w="0">
            <a:noFill/>
          </a:ln>
        </p:spPr>
      </p:sp>
      <p:sp>
        <p:nvSpPr>
          <p:cNvPr id="66" name="p5_rect_65">
            <a:extLst xmlns:a="http://schemas.openxmlformats.org/drawingml/2006/main">
              <a:ext uri="{FF2B5EF4-FFF2-40B4-BE49-F238E27FC236}">
                <a16:creationId xmlns:a16="http://schemas.microsoft.com/office/drawing/2014/main" id="{3D5B926A-0FDA-4E2D-8061-AC1CACDA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692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9C7E"/>
          </a:solidFill>
          <a:ln xmlns:a="http://schemas.openxmlformats.org/drawingml/2006/main" w="0">
            <a:noFill/>
          </a:ln>
        </p:spPr>
      </p:sp>
      <p:sp>
        <p:nvSpPr>
          <p:cNvPr id="67" name="p5_rect_66">
            <a:extLst xmlns:a="http://schemas.openxmlformats.org/drawingml/2006/main">
              <a:ext uri="{FF2B5EF4-FFF2-40B4-BE49-F238E27FC236}">
                <a16:creationId xmlns:a16="http://schemas.microsoft.com/office/drawing/2014/main" id="{F3888AFD-F7E8-414A-A628-4E7FD0D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208" y="4653534"/>
            <a:ext cx="318516" cy="134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68" name="p5_textbox_67">
            <a:extLst xmlns:a="http://schemas.openxmlformats.org/drawingml/2006/main">
              <a:ext uri="{FF2B5EF4-FFF2-40B4-BE49-F238E27FC236}">
                <a16:creationId xmlns:a16="http://schemas.microsoft.com/office/drawing/2014/main" id="{A06B9663-4BC8-42CF-B42E-58820EB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5078" y="4896612"/>
            <a:ext cx="12573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短寿命</a:t>
            </a:r>
          </a:p>
        </p:txBody>
      </p:sp>
      <p:sp>
        <p:nvSpPr>
          <p:cNvPr id="69" name="p5_textbox_68">
            <a:extLst xmlns:a="http://schemas.openxmlformats.org/drawingml/2006/main">
              <a:ext uri="{FF2B5EF4-FFF2-40B4-BE49-F238E27FC236}">
                <a16:creationId xmlns:a16="http://schemas.microsoft.com/office/drawing/2014/main" id="{FDE5082C-E99F-417E-8533-8B58D52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614" y="4896612"/>
            <a:ext cx="12573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长寿命</a:t>
            </a:r>
          </a:p>
        </p:txBody>
      </p:sp>
      <p:sp>
        <p:nvSpPr>
          <p:cNvPr id="72" name="v2_p5_67">
            <a:extLst xmlns:a="http://schemas.openxmlformats.org/drawingml/2006/main">
              <a:ext uri="{FF2B5EF4-FFF2-40B4-BE49-F238E27FC236}">
                <a16:creationId xmlns:a16="http://schemas.microsoft.com/office/drawing/2014/main" id="{45FD5EBC-579E-4B9D-A6DC-77DA34F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8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荧光寿命：激发后衰减的时间特征，通常为纳秒量级</a:t>
            </a:r>
          </a:p>
        </p:txBody>
      </p:sp>
      <p:sp>
        <p:nvSpPr>
          <p:cNvPr id="73" name="v2_p5_68">
            <a:extLst xmlns:a="http://schemas.openxmlformats.org/drawingml/2006/main">
              <a:ext uri="{FF2B5EF4-FFF2-40B4-BE49-F238E27FC236}">
                <a16:creationId xmlns:a16="http://schemas.microsoft.com/office/drawing/2014/main" id="{C0D78B93-304A-4348-A1B9-1DCA92BE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9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对局部环境、分子相互作用等变化敏感，提供亮度之外的信息。</a:t>
            </a:r>
          </a:p>
        </p:txBody>
      </p:sp>
      <p:sp>
        <p:nvSpPr>
          <p:cNvPr id="74" name="v2_p5_69">
            <a:extLst xmlns:a="http://schemas.openxmlformats.org/drawingml/2006/main">
              <a:ext uri="{FF2B5EF4-FFF2-40B4-BE49-F238E27FC236}">
                <a16:creationId xmlns:a16="http://schemas.microsoft.com/office/drawing/2014/main" id="{2A28C6BE-5685-49C1-BBF8-D1C892F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强度成像：记录强弱   |   寿命成像：进一步读取时间</a:t>
            </a:r>
          </a:p>
        </p:txBody>
      </p:sp>
      <p:sp>
        <p:nvSpPr>
          <p:cNvPr id="75" name="v2_p5_70">
            <a:extLst xmlns:a="http://schemas.openxmlformats.org/drawingml/2006/main">
              <a:ext uri="{FF2B5EF4-FFF2-40B4-BE49-F238E27FC236}">
                <a16:creationId xmlns:a16="http://schemas.microsoft.com/office/drawing/2014/main" id="{B062D694-C200-46F7-A608-27484E3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时间域FLIM的一种实现：脉冲激发 + TCSPC</a:t>
            </a:r>
          </a:p>
        </p:txBody>
      </p:sp>
      <p:sp>
        <p:nvSpPr>
          <p:cNvPr id="76" name="v2_p5_71">
            <a:extLst xmlns:a="http://schemas.openxmlformats.org/drawingml/2006/main">
              <a:ext uri="{FF2B5EF4-FFF2-40B4-BE49-F238E27FC236}">
                <a16:creationId xmlns:a16="http://schemas.microsoft.com/office/drawing/2014/main" id="{CBAB015C-2B74-4DBF-BD71-020A14E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102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示意，非实验数据</a:t>
            </a:r>
          </a:p>
        </p:txBody>
      </p:sp>
    </p:spTree>
    <p:extLst>
      <p:ext uri="{BB962C8B-B14F-4D97-AF65-F5344CB8AC3E}">
        <p14:creationId xmlns:p14="http://schemas.microsoft.com/office/powerpoint/2010/main" val="558584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p6_textbox_0">
            <a:extLst xmlns:a="http://schemas.openxmlformats.org/drawingml/2006/main">
              <a:ext uri="{FF2B5EF4-FFF2-40B4-BE49-F238E27FC236}">
                <a16:creationId xmlns:a16="http://schemas.microsoft.com/office/drawing/2014/main" id="{97CF5AE3-6080-4DCB-AF34-9AF1D53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FRET：一把纳米尺度的光谱尺</a:t>
            </a:r>
          </a:p>
        </p:txBody>
      </p:sp>
      <p:sp>
        <p:nvSpPr>
          <p:cNvPr id="2" name="p6_path">
            <a:extLst xmlns:a="http://schemas.openxmlformats.org/drawingml/2006/main">
              <a:ext uri="{FF2B5EF4-FFF2-40B4-BE49-F238E27FC236}">
                <a16:creationId xmlns:a16="http://schemas.microsoft.com/office/drawing/2014/main" id="{421B4335-AF01-4343-AED7-A633E75B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6_textbox_2">
            <a:extLst xmlns:a="http://schemas.openxmlformats.org/drawingml/2006/main">
              <a:ext uri="{FF2B5EF4-FFF2-40B4-BE49-F238E27FC236}">
                <a16:creationId xmlns:a16="http://schemas.microsoft.com/office/drawing/2014/main" id="{406EB858-01AC-486A-AF65-6258AED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Ha et al., Nat. Rev. Methods Primers, 2024.</a:t>
            </a:r>
          </a:p>
        </p:txBody>
      </p:sp>
      <p:sp>
        <p:nvSpPr>
          <p:cNvPr id="4" name="p6_textbox_3">
            <a:extLst xmlns:a="http://schemas.openxmlformats.org/drawingml/2006/main">
              <a:ext uri="{FF2B5EF4-FFF2-40B4-BE49-F238E27FC236}">
                <a16:creationId xmlns:a16="http://schemas.microsoft.com/office/drawing/2014/main" id="{6749F577-259A-4231-8A90-99C1A9B6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p6_textbox_4">
            <a:extLst xmlns:a="http://schemas.openxmlformats.org/drawingml/2006/main">
              <a:ext uri="{FF2B5EF4-FFF2-40B4-BE49-F238E27FC236}">
                <a16:creationId xmlns:a16="http://schemas.microsoft.com/office/drawing/2014/main" id="{903E9280-196B-4A11-9B97-58BA6FB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FRET（Förster resonance energy transfer）</a:t>
            </a:r>
          </a:p>
        </p:txBody>
      </p:sp>
      <p:sp>
        <p:nvSpPr>
          <p:cNvPr id="6" name="p6_textbox_5">
            <a:extLst xmlns:a="http://schemas.openxmlformats.org/drawingml/2006/main">
              <a:ext uri="{FF2B5EF4-FFF2-40B4-BE49-F238E27FC236}">
                <a16:creationId xmlns:a16="http://schemas.microsoft.com/office/drawing/2014/main" id="{EE11F6AC-912A-4EBE-B928-A305898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149668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较远</a:t>
            </a:r>
          </a:p>
        </p:txBody>
      </p:sp>
      <p:sp>
        <p:nvSpPr>
          <p:cNvPr id="7" name="p6_ellipse_6">
            <a:extLst xmlns:a="http://schemas.openxmlformats.org/drawingml/2006/main">
              <a:ext uri="{FF2B5EF4-FFF2-40B4-BE49-F238E27FC236}">
                <a16:creationId xmlns:a16="http://schemas.microsoft.com/office/drawing/2014/main" id="{BEC5DDB9-E88F-4460-9DD1-8C3E7CA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99" y="2314766"/>
            <a:ext cx="324612" cy="324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8" name="p6_ellipse_7">
            <a:extLst xmlns:a="http://schemas.openxmlformats.org/drawingml/2006/main">
              <a:ext uri="{FF2B5EF4-FFF2-40B4-BE49-F238E27FC236}">
                <a16:creationId xmlns:a16="http://schemas.microsoft.com/office/drawing/2014/main" id="{B0D39B8C-EA49-436F-8212-46B36E28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087" y="2314766"/>
            <a:ext cx="324612" cy="324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C24"/>
          </a:solidFill>
          <a:ln xmlns:a="http://schemas.openxmlformats.org/drawingml/2006/main" w="0">
            <a:noFill/>
          </a:ln>
        </p:spPr>
      </p:sp>
      <p:sp>
        <p:nvSpPr>
          <p:cNvPr id="9" name="p6_path">
            <a:extLst xmlns:a="http://schemas.openxmlformats.org/drawingml/2006/main">
              <a:ext uri="{FF2B5EF4-FFF2-40B4-BE49-F238E27FC236}">
                <a16:creationId xmlns:a16="http://schemas.microsoft.com/office/drawing/2014/main" id="{D890A8A4-2430-422E-8916-C5B8C233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976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0" name="p6_path">
            <a:extLst xmlns:a="http://schemas.openxmlformats.org/drawingml/2006/main">
              <a:ext uri="{FF2B5EF4-FFF2-40B4-BE49-F238E27FC236}">
                <a16:creationId xmlns:a16="http://schemas.microsoft.com/office/drawing/2014/main" id="{AC37DE53-8A41-4D77-9C12-93B4018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438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1" name="p6_path">
            <a:extLst xmlns:a="http://schemas.openxmlformats.org/drawingml/2006/main">
              <a:ext uri="{FF2B5EF4-FFF2-40B4-BE49-F238E27FC236}">
                <a16:creationId xmlns:a16="http://schemas.microsoft.com/office/drawing/2014/main" id="{9827777B-0000-4693-96DE-99BAF57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01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2" name="p6_path">
            <a:extLst xmlns:a="http://schemas.openxmlformats.org/drawingml/2006/main">
              <a:ext uri="{FF2B5EF4-FFF2-40B4-BE49-F238E27FC236}">
                <a16:creationId xmlns:a16="http://schemas.microsoft.com/office/drawing/2014/main" id="{148FC36D-E8B9-4145-AA52-F5B5C16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3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3" name="p6_path">
            <a:extLst xmlns:a="http://schemas.openxmlformats.org/drawingml/2006/main">
              <a:ext uri="{FF2B5EF4-FFF2-40B4-BE49-F238E27FC236}">
                <a16:creationId xmlns:a16="http://schemas.microsoft.com/office/drawing/2014/main" id="{C456EB05-65E6-46E0-BA13-C022DF0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25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4" name="p6_path">
            <a:extLst xmlns:a="http://schemas.openxmlformats.org/drawingml/2006/main">
              <a:ext uri="{FF2B5EF4-FFF2-40B4-BE49-F238E27FC236}">
                <a16:creationId xmlns:a16="http://schemas.microsoft.com/office/drawing/2014/main" id="{07991827-0E9B-4013-9690-B06E38B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288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5" name="p6_path">
            <a:extLst xmlns:a="http://schemas.openxmlformats.org/drawingml/2006/main">
              <a:ext uri="{FF2B5EF4-FFF2-40B4-BE49-F238E27FC236}">
                <a16:creationId xmlns:a16="http://schemas.microsoft.com/office/drawing/2014/main" id="{0B48E24F-480A-4255-AC72-943E6AC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50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6" name="p6_path">
            <a:extLst xmlns:a="http://schemas.openxmlformats.org/drawingml/2006/main">
              <a:ext uri="{FF2B5EF4-FFF2-40B4-BE49-F238E27FC236}">
                <a16:creationId xmlns:a16="http://schemas.microsoft.com/office/drawing/2014/main" id="{A07177B1-AE83-4E42-9C4F-96044BA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12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7" name="p6_path">
            <a:extLst xmlns:a="http://schemas.openxmlformats.org/drawingml/2006/main">
              <a:ext uri="{FF2B5EF4-FFF2-40B4-BE49-F238E27FC236}">
                <a16:creationId xmlns:a16="http://schemas.microsoft.com/office/drawing/2014/main" id="{E54841BC-384E-4EF3-A673-4CCCB9D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674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8" name="p6_path">
            <a:extLst xmlns:a="http://schemas.openxmlformats.org/drawingml/2006/main">
              <a:ext uri="{FF2B5EF4-FFF2-40B4-BE49-F238E27FC236}">
                <a16:creationId xmlns:a16="http://schemas.microsoft.com/office/drawing/2014/main" id="{4209AA47-DD56-4B19-AA33-0FD0773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37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9" name="p6_path">
            <a:extLst xmlns:a="http://schemas.openxmlformats.org/drawingml/2006/main">
              <a:ext uri="{FF2B5EF4-FFF2-40B4-BE49-F238E27FC236}">
                <a16:creationId xmlns:a16="http://schemas.microsoft.com/office/drawing/2014/main" id="{97C38F37-C4F5-43FD-9FDB-E2E145E5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599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0" name="p6_path">
            <a:extLst xmlns:a="http://schemas.openxmlformats.org/drawingml/2006/main">
              <a:ext uri="{FF2B5EF4-FFF2-40B4-BE49-F238E27FC236}">
                <a16:creationId xmlns:a16="http://schemas.microsoft.com/office/drawing/2014/main" id="{47A191DE-DADA-4DE9-AD75-5FB4F97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061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1" name="p6_path">
            <a:extLst xmlns:a="http://schemas.openxmlformats.org/drawingml/2006/main">
              <a:ext uri="{FF2B5EF4-FFF2-40B4-BE49-F238E27FC236}">
                <a16:creationId xmlns:a16="http://schemas.microsoft.com/office/drawing/2014/main" id="{4464146F-22E9-47B7-8B1A-435BD238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524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2" name="p6_path">
            <a:extLst xmlns:a="http://schemas.openxmlformats.org/drawingml/2006/main">
              <a:ext uri="{FF2B5EF4-FFF2-40B4-BE49-F238E27FC236}">
                <a16:creationId xmlns:a16="http://schemas.microsoft.com/office/drawing/2014/main" id="{A46E4BAC-7922-49F7-9193-B86A628F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6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3" name="p6_path">
            <a:extLst xmlns:a="http://schemas.openxmlformats.org/drawingml/2006/main">
              <a:ext uri="{FF2B5EF4-FFF2-40B4-BE49-F238E27FC236}">
                <a16:creationId xmlns:a16="http://schemas.microsoft.com/office/drawing/2014/main" id="{4C6055F3-E05B-43B5-99FE-DAE558C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49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4" name="p6_path">
            <a:extLst xmlns:a="http://schemas.openxmlformats.org/drawingml/2006/main">
              <a:ext uri="{FF2B5EF4-FFF2-40B4-BE49-F238E27FC236}">
                <a16:creationId xmlns:a16="http://schemas.microsoft.com/office/drawing/2014/main" id="{EF98A9C6-229F-47D9-820D-5F98DBF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11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5" name="p6_path">
            <a:extLst xmlns:a="http://schemas.openxmlformats.org/drawingml/2006/main">
              <a:ext uri="{FF2B5EF4-FFF2-40B4-BE49-F238E27FC236}">
                <a16:creationId xmlns:a16="http://schemas.microsoft.com/office/drawing/2014/main" id="{92E0E0AD-3574-44B2-8481-D10809C8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373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6" name="p6_path">
            <a:extLst xmlns:a="http://schemas.openxmlformats.org/drawingml/2006/main">
              <a:ext uri="{FF2B5EF4-FFF2-40B4-BE49-F238E27FC236}">
                <a16:creationId xmlns:a16="http://schemas.microsoft.com/office/drawing/2014/main" id="{8940627B-9B50-4DFF-974A-0777A05A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35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7" name="p6_path">
            <a:extLst xmlns:a="http://schemas.openxmlformats.org/drawingml/2006/main">
              <a:ext uri="{FF2B5EF4-FFF2-40B4-BE49-F238E27FC236}">
                <a16:creationId xmlns:a16="http://schemas.microsoft.com/office/drawing/2014/main" id="{00D7A661-CA70-4ED4-BCAE-04170E8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98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8" name="p6_path">
            <a:extLst xmlns:a="http://schemas.openxmlformats.org/drawingml/2006/main">
              <a:ext uri="{FF2B5EF4-FFF2-40B4-BE49-F238E27FC236}">
                <a16:creationId xmlns:a16="http://schemas.microsoft.com/office/drawing/2014/main" id="{5555D92D-8D6D-4C62-948F-9734EDDB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760" y="2477072"/>
            <a:ext cx="41321" cy="677"/>
          </a:xfrm>
          <a:custGeom xmlns:a="http://schemas.openxmlformats.org/drawingml/2006/main">
            <a:pathLst>
              <a:path w="58198" h="953">
                <a:moveTo>
                  <a:pt x="0" y="0"/>
                </a:moveTo>
                <a:lnTo>
                  <a:pt x="58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9" name="p6_textbox_28">
            <a:extLst xmlns:a="http://schemas.openxmlformats.org/drawingml/2006/main">
              <a:ext uri="{FF2B5EF4-FFF2-40B4-BE49-F238E27FC236}">
                <a16:creationId xmlns:a16="http://schemas.microsoft.com/office/drawing/2014/main" id="{8C4A2E43-BEF0-46C9-8EB6-EFC325C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2740819"/>
            <a:ext cx="980599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00856A"/>
                </a:solidFill>
                <a:latin typeface="Arial"/>
                <a:ea typeface="Arial"/>
                <a:cs typeface="Arial"/>
              </a:rPr>
              <a:t>Donor</a:t>
            </a:r>
          </a:p>
        </p:txBody>
      </p:sp>
      <p:sp>
        <p:nvSpPr>
          <p:cNvPr id="30" name="p6_textbox_29">
            <a:extLst xmlns:a="http://schemas.openxmlformats.org/drawingml/2006/main">
              <a:ext uri="{FF2B5EF4-FFF2-40B4-BE49-F238E27FC236}">
                <a16:creationId xmlns:a16="http://schemas.microsoft.com/office/drawing/2014/main" id="{605F1FCE-9297-4708-A6D1-57A57AD6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12" y="2740819"/>
            <a:ext cx="1109091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C25C24"/>
                </a:solidFill>
                <a:latin typeface="Arial"/>
                <a:ea typeface="Arial"/>
                <a:cs typeface="Arial"/>
              </a:rPr>
              <a:t>Acceptor</a:t>
            </a:r>
          </a:p>
        </p:txBody>
      </p:sp>
      <p:sp>
        <p:nvSpPr>
          <p:cNvPr id="31" name="p6_textbox_30">
            <a:extLst xmlns:a="http://schemas.openxmlformats.org/drawingml/2006/main">
              <a:ext uri="{FF2B5EF4-FFF2-40B4-BE49-F238E27FC236}">
                <a16:creationId xmlns:a16="http://schemas.microsoft.com/office/drawing/2014/main" id="{B40EF4AC-7C2E-4418-963D-2A9B164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2770"/>
            <a:ext cx="1115854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较近</a:t>
            </a:r>
          </a:p>
        </p:txBody>
      </p:sp>
      <p:sp>
        <p:nvSpPr>
          <p:cNvPr id="32" name="p6_ellipse_31">
            <a:extLst xmlns:a="http://schemas.openxmlformats.org/drawingml/2006/main">
              <a:ext uri="{FF2B5EF4-FFF2-40B4-BE49-F238E27FC236}">
                <a16:creationId xmlns:a16="http://schemas.microsoft.com/office/drawing/2014/main" id="{D9726A73-4EB0-4CB8-972B-946ED6CB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096" y="3335941"/>
            <a:ext cx="324612" cy="324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3" name="p6_ellipse_32">
            <a:extLst xmlns:a="http://schemas.openxmlformats.org/drawingml/2006/main">
              <a:ext uri="{FF2B5EF4-FFF2-40B4-BE49-F238E27FC236}">
                <a16:creationId xmlns:a16="http://schemas.microsoft.com/office/drawing/2014/main" id="{E6193DD4-1049-4C6C-9F73-BA08FE86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02" y="3335941"/>
            <a:ext cx="324612" cy="324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C24"/>
          </a:solidFill>
          <a:ln xmlns:a="http://schemas.openxmlformats.org/drawingml/2006/main" w="0">
            <a:noFill/>
          </a:ln>
        </p:spPr>
      </p:sp>
      <p:sp>
        <p:nvSpPr>
          <p:cNvPr id="34" name="p6_path">
            <a:extLst xmlns:a="http://schemas.openxmlformats.org/drawingml/2006/main">
              <a:ext uri="{FF2B5EF4-FFF2-40B4-BE49-F238E27FC236}">
                <a16:creationId xmlns:a16="http://schemas.microsoft.com/office/drawing/2014/main" id="{0FE3F652-C318-4D43-A47C-260F04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335" y="3498247"/>
            <a:ext cx="40793" cy="677"/>
          </a:xfrm>
          <a:custGeom xmlns:a="http://schemas.openxmlformats.org/drawingml/2006/main">
            <a:pathLst>
              <a:path w="57455" h="953">
                <a:moveTo>
                  <a:pt x="0" y="0"/>
                </a:moveTo>
                <a:lnTo>
                  <a:pt x="57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5" name="p6_path">
            <a:extLst xmlns:a="http://schemas.openxmlformats.org/drawingml/2006/main">
              <a:ext uri="{FF2B5EF4-FFF2-40B4-BE49-F238E27FC236}">
                <a16:creationId xmlns:a16="http://schemas.microsoft.com/office/drawing/2014/main" id="{BA2F73DE-B896-4086-BCDF-D1AAB4D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783" y="3498247"/>
            <a:ext cx="40793" cy="677"/>
          </a:xfrm>
          <a:custGeom xmlns:a="http://schemas.openxmlformats.org/drawingml/2006/main">
            <a:pathLst>
              <a:path w="57455" h="953">
                <a:moveTo>
                  <a:pt x="0" y="0"/>
                </a:moveTo>
                <a:lnTo>
                  <a:pt x="57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6" name="p6_path">
            <a:extLst xmlns:a="http://schemas.openxmlformats.org/drawingml/2006/main">
              <a:ext uri="{FF2B5EF4-FFF2-40B4-BE49-F238E27FC236}">
                <a16:creationId xmlns:a16="http://schemas.microsoft.com/office/drawing/2014/main" id="{F00D8E42-F053-4AE8-BF44-1C612C81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231" y="3498247"/>
            <a:ext cx="40793" cy="677"/>
          </a:xfrm>
          <a:custGeom xmlns:a="http://schemas.openxmlformats.org/drawingml/2006/main">
            <a:pathLst>
              <a:path w="57455" h="953">
                <a:moveTo>
                  <a:pt x="0" y="0"/>
                </a:moveTo>
                <a:lnTo>
                  <a:pt x="57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7" name="p6_path">
            <a:extLst xmlns:a="http://schemas.openxmlformats.org/drawingml/2006/main">
              <a:ext uri="{FF2B5EF4-FFF2-40B4-BE49-F238E27FC236}">
                <a16:creationId xmlns:a16="http://schemas.microsoft.com/office/drawing/2014/main" id="{9B3D457E-9E15-4E8B-8418-E42E264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679" y="3498247"/>
            <a:ext cx="40793" cy="677"/>
          </a:xfrm>
          <a:custGeom xmlns:a="http://schemas.openxmlformats.org/drawingml/2006/main">
            <a:pathLst>
              <a:path w="57455" h="953">
                <a:moveTo>
                  <a:pt x="0" y="0"/>
                </a:moveTo>
                <a:lnTo>
                  <a:pt x="57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8" name="p6_path">
            <a:extLst xmlns:a="http://schemas.openxmlformats.org/drawingml/2006/main">
              <a:ext uri="{FF2B5EF4-FFF2-40B4-BE49-F238E27FC236}">
                <a16:creationId xmlns:a16="http://schemas.microsoft.com/office/drawing/2014/main" id="{5C879A19-B171-4023-9060-FF916F3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127" y="3498247"/>
            <a:ext cx="40793" cy="677"/>
          </a:xfrm>
          <a:custGeom xmlns:a="http://schemas.openxmlformats.org/drawingml/2006/main">
            <a:pathLst>
              <a:path w="57455" h="953">
                <a:moveTo>
                  <a:pt x="0" y="0"/>
                </a:moveTo>
                <a:lnTo>
                  <a:pt x="57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9" name="p6_textbox_38">
            <a:extLst xmlns:a="http://schemas.openxmlformats.org/drawingml/2006/main">
              <a:ext uri="{FF2B5EF4-FFF2-40B4-BE49-F238E27FC236}">
                <a16:creationId xmlns:a16="http://schemas.microsoft.com/office/drawing/2014/main" id="{283D5AD9-550D-4F61-9470-ACEC31CA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70" y="3836384"/>
            <a:ext cx="2962084" cy="263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非辐射能量转移</a:t>
            </a:r>
          </a:p>
        </p:txBody>
      </p:sp>
      <p:sp>
        <p:nvSpPr>
          <p:cNvPr id="40" name="p6_path">
            <a:extLst xmlns:a="http://schemas.openxmlformats.org/drawingml/2006/main">
              <a:ext uri="{FF2B5EF4-FFF2-40B4-BE49-F238E27FC236}">
                <a16:creationId xmlns:a16="http://schemas.microsoft.com/office/drawing/2014/main" id="{F06F9A72-6EF8-4E82-84CF-542A1D81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958" y="2002536"/>
            <a:ext cx="934" cy="2156270"/>
          </a:xfrm>
          <a:custGeom xmlns:a="http://schemas.openxmlformats.org/drawingml/2006/main">
            <a:pathLst>
              <a:path w="953" h="2200275">
                <a:moveTo>
                  <a:pt x="0" y="2200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41" name="p6_path">
            <a:extLst xmlns:a="http://schemas.openxmlformats.org/drawingml/2006/main">
              <a:ext uri="{FF2B5EF4-FFF2-40B4-BE49-F238E27FC236}">
                <a16:creationId xmlns:a16="http://schemas.microsoft.com/office/drawing/2014/main" id="{A651CDDF-385A-490A-BA08-403C2F2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958" y="4158806"/>
            <a:ext cx="4200525" cy="934"/>
          </a:xfrm>
          <a:custGeom xmlns:a="http://schemas.openxmlformats.org/drawingml/2006/main">
            <a:pathLst>
              <a:path w="4286250" h="953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42" name="p6_path">
            <a:extLst xmlns:a="http://schemas.openxmlformats.org/drawingml/2006/main">
              <a:ext uri="{FF2B5EF4-FFF2-40B4-BE49-F238E27FC236}">
                <a16:creationId xmlns:a16="http://schemas.microsoft.com/office/drawing/2014/main" id="{1E18AA2C-C15C-440A-BC1C-5C2AFA23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958" y="2002536"/>
            <a:ext cx="4200525" cy="2137417"/>
          </a:xfrm>
          <a:custGeom xmlns:a="http://schemas.openxmlformats.org/drawingml/2006/main">
            <a:pathLst>
              <a:path w="4286250" h="2181038">
                <a:moveTo>
                  <a:pt x="0" y="0"/>
                </a:moveTo>
                <a:lnTo>
                  <a:pt x="26789" y="0"/>
                </a:lnTo>
                <a:lnTo>
                  <a:pt x="53578" y="0"/>
                </a:lnTo>
                <a:lnTo>
                  <a:pt x="80367" y="0"/>
                </a:lnTo>
                <a:lnTo>
                  <a:pt x="107156" y="0"/>
                </a:lnTo>
                <a:lnTo>
                  <a:pt x="133945" y="0"/>
                </a:lnTo>
                <a:lnTo>
                  <a:pt x="160734" y="1"/>
                </a:lnTo>
                <a:lnTo>
                  <a:pt x="187523" y="2"/>
                </a:lnTo>
                <a:lnTo>
                  <a:pt x="214313" y="4"/>
                </a:lnTo>
                <a:lnTo>
                  <a:pt x="241102" y="8"/>
                </a:lnTo>
                <a:lnTo>
                  <a:pt x="267891" y="15"/>
                </a:lnTo>
                <a:lnTo>
                  <a:pt x="294680" y="26"/>
                </a:lnTo>
                <a:lnTo>
                  <a:pt x="321469" y="44"/>
                </a:lnTo>
                <a:lnTo>
                  <a:pt x="348258" y="72"/>
                </a:lnTo>
                <a:lnTo>
                  <a:pt x="375047" y="112"/>
                </a:lnTo>
                <a:lnTo>
                  <a:pt x="401836" y="169"/>
                </a:lnTo>
                <a:lnTo>
                  <a:pt x="428625" y="249"/>
                </a:lnTo>
                <a:lnTo>
                  <a:pt x="455414" y="359"/>
                </a:lnTo>
                <a:lnTo>
                  <a:pt x="482203" y="506"/>
                </a:lnTo>
                <a:lnTo>
                  <a:pt x="508992" y="699"/>
                </a:lnTo>
                <a:lnTo>
                  <a:pt x="535781" y="951"/>
                </a:lnTo>
                <a:lnTo>
                  <a:pt x="562570" y="1275"/>
                </a:lnTo>
                <a:lnTo>
                  <a:pt x="589359" y="1685"/>
                </a:lnTo>
                <a:lnTo>
                  <a:pt x="616148" y="2199"/>
                </a:lnTo>
                <a:lnTo>
                  <a:pt x="642938" y="2838"/>
                </a:lnTo>
                <a:lnTo>
                  <a:pt x="669727" y="3624"/>
                </a:lnTo>
                <a:lnTo>
                  <a:pt x="696516" y="4584"/>
                </a:lnTo>
                <a:lnTo>
                  <a:pt x="723305" y="5746"/>
                </a:lnTo>
                <a:lnTo>
                  <a:pt x="750094" y="7142"/>
                </a:lnTo>
                <a:lnTo>
                  <a:pt x="776883" y="8809"/>
                </a:lnTo>
                <a:lnTo>
                  <a:pt x="803672" y="10787"/>
                </a:lnTo>
                <a:lnTo>
                  <a:pt x="830461" y="13118"/>
                </a:lnTo>
                <a:lnTo>
                  <a:pt x="857250" y="15851"/>
                </a:lnTo>
                <a:lnTo>
                  <a:pt x="884039" y="19037"/>
                </a:lnTo>
                <a:lnTo>
                  <a:pt x="910828" y="22733"/>
                </a:lnTo>
                <a:lnTo>
                  <a:pt x="937617" y="26998"/>
                </a:lnTo>
                <a:lnTo>
                  <a:pt x="964406" y="31898"/>
                </a:lnTo>
                <a:lnTo>
                  <a:pt x="991195" y="37501"/>
                </a:lnTo>
                <a:lnTo>
                  <a:pt x="1017984" y="43878"/>
                </a:lnTo>
                <a:lnTo>
                  <a:pt x="1044773" y="51106"/>
                </a:lnTo>
                <a:lnTo>
                  <a:pt x="1071563" y="59265"/>
                </a:lnTo>
                <a:lnTo>
                  <a:pt x="1098352" y="68434"/>
                </a:lnTo>
                <a:lnTo>
                  <a:pt x="1125141" y="78699"/>
                </a:lnTo>
                <a:lnTo>
                  <a:pt x="1151930" y="90144"/>
                </a:lnTo>
                <a:lnTo>
                  <a:pt x="1178719" y="102853"/>
                </a:lnTo>
                <a:lnTo>
                  <a:pt x="1205508" y="116911"/>
                </a:lnTo>
                <a:lnTo>
                  <a:pt x="1232297" y="132400"/>
                </a:lnTo>
                <a:lnTo>
                  <a:pt x="1259086" y="149397"/>
                </a:lnTo>
                <a:lnTo>
                  <a:pt x="1285875" y="167977"/>
                </a:lnTo>
                <a:lnTo>
                  <a:pt x="1312664" y="188207"/>
                </a:lnTo>
                <a:lnTo>
                  <a:pt x="1339453" y="210144"/>
                </a:lnTo>
                <a:lnTo>
                  <a:pt x="1366242" y="233839"/>
                </a:lnTo>
                <a:lnTo>
                  <a:pt x="1393031" y="259328"/>
                </a:lnTo>
                <a:lnTo>
                  <a:pt x="1419820" y="286636"/>
                </a:lnTo>
                <a:lnTo>
                  <a:pt x="1446609" y="315773"/>
                </a:lnTo>
                <a:lnTo>
                  <a:pt x="1473398" y="346733"/>
                </a:lnTo>
                <a:lnTo>
                  <a:pt x="1500188" y="379492"/>
                </a:lnTo>
                <a:lnTo>
                  <a:pt x="1526977" y="414010"/>
                </a:lnTo>
                <a:lnTo>
                  <a:pt x="1553766" y="450229"/>
                </a:lnTo>
                <a:lnTo>
                  <a:pt x="1580555" y="488072"/>
                </a:lnTo>
                <a:lnTo>
                  <a:pt x="1607344" y="527443"/>
                </a:lnTo>
                <a:lnTo>
                  <a:pt x="1634133" y="568233"/>
                </a:lnTo>
                <a:lnTo>
                  <a:pt x="1660922" y="610313"/>
                </a:lnTo>
                <a:lnTo>
                  <a:pt x="1687711" y="653543"/>
                </a:lnTo>
                <a:lnTo>
                  <a:pt x="1714500" y="697770"/>
                </a:lnTo>
                <a:lnTo>
                  <a:pt x="1741289" y="742829"/>
                </a:lnTo>
                <a:lnTo>
                  <a:pt x="1768078" y="788551"/>
                </a:lnTo>
                <a:lnTo>
                  <a:pt x="1794867" y="834760"/>
                </a:lnTo>
                <a:lnTo>
                  <a:pt x="1821656" y="881279"/>
                </a:lnTo>
                <a:lnTo>
                  <a:pt x="1848445" y="927931"/>
                </a:lnTo>
                <a:lnTo>
                  <a:pt x="1875234" y="974542"/>
                </a:lnTo>
                <a:lnTo>
                  <a:pt x="1902023" y="1020944"/>
                </a:lnTo>
                <a:lnTo>
                  <a:pt x="1928813" y="1066977"/>
                </a:lnTo>
                <a:lnTo>
                  <a:pt x="1955602" y="1112490"/>
                </a:lnTo>
                <a:lnTo>
                  <a:pt x="1982391" y="1157344"/>
                </a:lnTo>
                <a:lnTo>
                  <a:pt x="2009180" y="1201409"/>
                </a:lnTo>
                <a:lnTo>
                  <a:pt x="2035969" y="1244573"/>
                </a:lnTo>
                <a:lnTo>
                  <a:pt x="2062758" y="1286734"/>
                </a:lnTo>
                <a:lnTo>
                  <a:pt x="2089547" y="1327805"/>
                </a:lnTo>
                <a:lnTo>
                  <a:pt x="2116336" y="1367713"/>
                </a:lnTo>
                <a:lnTo>
                  <a:pt x="2143125" y="1406399"/>
                </a:lnTo>
                <a:lnTo>
                  <a:pt x="2169914" y="1443816"/>
                </a:lnTo>
                <a:lnTo>
                  <a:pt x="2196703" y="1479929"/>
                </a:lnTo>
                <a:lnTo>
                  <a:pt x="2223492" y="1514714"/>
                </a:lnTo>
                <a:lnTo>
                  <a:pt x="2250281" y="1548160"/>
                </a:lnTo>
                <a:lnTo>
                  <a:pt x="2277070" y="1580263"/>
                </a:lnTo>
                <a:lnTo>
                  <a:pt x="2303859" y="1611029"/>
                </a:lnTo>
                <a:lnTo>
                  <a:pt x="2330648" y="1640470"/>
                </a:lnTo>
                <a:lnTo>
                  <a:pt x="2357438" y="1668606"/>
                </a:lnTo>
                <a:lnTo>
                  <a:pt x="2384227" y="1695461"/>
                </a:lnTo>
                <a:lnTo>
                  <a:pt x="2411016" y="1721065"/>
                </a:lnTo>
                <a:lnTo>
                  <a:pt x="2437805" y="1745451"/>
                </a:lnTo>
                <a:lnTo>
                  <a:pt x="2464594" y="1768656"/>
                </a:lnTo>
                <a:lnTo>
                  <a:pt x="2491383" y="1790719"/>
                </a:lnTo>
                <a:lnTo>
                  <a:pt x="2518172" y="1811679"/>
                </a:lnTo>
                <a:lnTo>
                  <a:pt x="2544961" y="1831579"/>
                </a:lnTo>
                <a:lnTo>
                  <a:pt x="2571750" y="1850462"/>
                </a:lnTo>
                <a:lnTo>
                  <a:pt x="2598539" y="1868368"/>
                </a:lnTo>
                <a:lnTo>
                  <a:pt x="2625328" y="1885342"/>
                </a:lnTo>
                <a:lnTo>
                  <a:pt x="2652117" y="1901426"/>
                </a:lnTo>
                <a:lnTo>
                  <a:pt x="2678906" y="1916660"/>
                </a:lnTo>
                <a:lnTo>
                  <a:pt x="2705695" y="1931086"/>
                </a:lnTo>
                <a:lnTo>
                  <a:pt x="2732484" y="1944743"/>
                </a:lnTo>
                <a:lnTo>
                  <a:pt x="2759273" y="1957670"/>
                </a:lnTo>
                <a:lnTo>
                  <a:pt x="2786063" y="1969904"/>
                </a:lnTo>
                <a:lnTo>
                  <a:pt x="2812852" y="1981480"/>
                </a:lnTo>
                <a:lnTo>
                  <a:pt x="2839641" y="1992433"/>
                </a:lnTo>
                <a:lnTo>
                  <a:pt x="2866430" y="2002797"/>
                </a:lnTo>
                <a:lnTo>
                  <a:pt x="2893219" y="2012603"/>
                </a:lnTo>
                <a:lnTo>
                  <a:pt x="2920008" y="2021881"/>
                </a:lnTo>
                <a:lnTo>
                  <a:pt x="2946797" y="2030660"/>
                </a:lnTo>
                <a:lnTo>
                  <a:pt x="2973586" y="2038967"/>
                </a:lnTo>
                <a:lnTo>
                  <a:pt x="3000375" y="2046828"/>
                </a:lnTo>
                <a:lnTo>
                  <a:pt x="3027164" y="2054269"/>
                </a:lnTo>
                <a:lnTo>
                  <a:pt x="3053953" y="2061312"/>
                </a:lnTo>
                <a:lnTo>
                  <a:pt x="3080742" y="2067980"/>
                </a:lnTo>
                <a:lnTo>
                  <a:pt x="3107531" y="2074294"/>
                </a:lnTo>
                <a:lnTo>
                  <a:pt x="3134320" y="2080273"/>
                </a:lnTo>
                <a:lnTo>
                  <a:pt x="3161109" y="2085936"/>
                </a:lnTo>
                <a:lnTo>
                  <a:pt x="3187898" y="2091302"/>
                </a:lnTo>
                <a:lnTo>
                  <a:pt x="3214688" y="2096386"/>
                </a:lnTo>
                <a:lnTo>
                  <a:pt x="3241477" y="2101205"/>
                </a:lnTo>
                <a:lnTo>
                  <a:pt x="3268266" y="2105774"/>
                </a:lnTo>
                <a:lnTo>
                  <a:pt x="3295055" y="2110106"/>
                </a:lnTo>
                <a:lnTo>
                  <a:pt x="3321844" y="2114215"/>
                </a:lnTo>
                <a:lnTo>
                  <a:pt x="3348633" y="2118113"/>
                </a:lnTo>
                <a:lnTo>
                  <a:pt x="3375422" y="2121812"/>
                </a:lnTo>
                <a:lnTo>
                  <a:pt x="3402211" y="2125322"/>
                </a:lnTo>
                <a:lnTo>
                  <a:pt x="3429000" y="2128656"/>
                </a:lnTo>
                <a:lnTo>
                  <a:pt x="3455789" y="2131821"/>
                </a:lnTo>
                <a:lnTo>
                  <a:pt x="3482578" y="2134828"/>
                </a:lnTo>
                <a:lnTo>
                  <a:pt x="3509367" y="2137686"/>
                </a:lnTo>
                <a:lnTo>
                  <a:pt x="3536156" y="2140401"/>
                </a:lnTo>
                <a:lnTo>
                  <a:pt x="3562945" y="2142983"/>
                </a:lnTo>
                <a:lnTo>
                  <a:pt x="3589734" y="2145438"/>
                </a:lnTo>
                <a:lnTo>
                  <a:pt x="3616523" y="2147774"/>
                </a:lnTo>
                <a:lnTo>
                  <a:pt x="3643313" y="2149996"/>
                </a:lnTo>
                <a:lnTo>
                  <a:pt x="3670102" y="2152111"/>
                </a:lnTo>
                <a:lnTo>
                  <a:pt x="3696891" y="2154124"/>
                </a:lnTo>
                <a:lnTo>
                  <a:pt x="3723680" y="2156041"/>
                </a:lnTo>
                <a:lnTo>
                  <a:pt x="3750469" y="2157868"/>
                </a:lnTo>
                <a:lnTo>
                  <a:pt x="3777258" y="2159608"/>
                </a:lnTo>
                <a:lnTo>
                  <a:pt x="3804047" y="2161266"/>
                </a:lnTo>
                <a:lnTo>
                  <a:pt x="3830836" y="2162847"/>
                </a:lnTo>
                <a:lnTo>
                  <a:pt x="3857625" y="2164355"/>
                </a:lnTo>
                <a:lnTo>
                  <a:pt x="3884414" y="2165793"/>
                </a:lnTo>
                <a:lnTo>
                  <a:pt x="3911203" y="2167165"/>
                </a:lnTo>
                <a:lnTo>
                  <a:pt x="3937992" y="2168474"/>
                </a:lnTo>
                <a:lnTo>
                  <a:pt x="3964781" y="2169725"/>
                </a:lnTo>
                <a:lnTo>
                  <a:pt x="3991570" y="2170918"/>
                </a:lnTo>
                <a:lnTo>
                  <a:pt x="4018359" y="2172058"/>
                </a:lnTo>
                <a:lnTo>
                  <a:pt x="4045148" y="2173147"/>
                </a:lnTo>
                <a:lnTo>
                  <a:pt x="4071938" y="2174188"/>
                </a:lnTo>
                <a:lnTo>
                  <a:pt x="4098727" y="2175183"/>
                </a:lnTo>
                <a:lnTo>
                  <a:pt x="4125516" y="2176135"/>
                </a:lnTo>
                <a:lnTo>
                  <a:pt x="4152305" y="2177044"/>
                </a:lnTo>
                <a:lnTo>
                  <a:pt x="4179094" y="2177915"/>
                </a:lnTo>
                <a:lnTo>
                  <a:pt x="4205883" y="2178748"/>
                </a:lnTo>
                <a:lnTo>
                  <a:pt x="4232672" y="2179545"/>
                </a:lnTo>
                <a:lnTo>
                  <a:pt x="4259461" y="2180308"/>
                </a:lnTo>
                <a:lnTo>
                  <a:pt x="4286250" y="218103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0252B"/>
            </a:solidFill>
          </a:ln>
        </p:spPr>
      </p:sp>
      <p:sp>
        <p:nvSpPr>
          <p:cNvPr id="43" name="p6_path">
            <a:extLst xmlns:a="http://schemas.openxmlformats.org/drawingml/2006/main">
              <a:ext uri="{FF2B5EF4-FFF2-40B4-BE49-F238E27FC236}">
                <a16:creationId xmlns:a16="http://schemas.microsoft.com/office/drawing/2014/main" id="{C34DD93B-685C-4401-BD29-33F9A6E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4102743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4" name="p6_path">
            <a:extLst xmlns:a="http://schemas.openxmlformats.org/drawingml/2006/main">
              <a:ext uri="{FF2B5EF4-FFF2-40B4-BE49-F238E27FC236}">
                <a16:creationId xmlns:a16="http://schemas.microsoft.com/office/drawing/2014/main" id="{2252994B-BF0E-4C0F-A7F0-03ECE25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994929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5" name="p6_path">
            <a:extLst xmlns:a="http://schemas.openxmlformats.org/drawingml/2006/main">
              <a:ext uri="{FF2B5EF4-FFF2-40B4-BE49-F238E27FC236}">
                <a16:creationId xmlns:a16="http://schemas.microsoft.com/office/drawing/2014/main" id="{AAB76922-6A82-46E8-B150-50CCE54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887115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6" name="p6_path">
            <a:extLst xmlns:a="http://schemas.openxmlformats.org/drawingml/2006/main">
              <a:ext uri="{FF2B5EF4-FFF2-40B4-BE49-F238E27FC236}">
                <a16:creationId xmlns:a16="http://schemas.microsoft.com/office/drawing/2014/main" id="{1F67C0F6-A642-480C-BFF9-EE956E1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779302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7" name="p6_path">
            <a:extLst xmlns:a="http://schemas.openxmlformats.org/drawingml/2006/main">
              <a:ext uri="{FF2B5EF4-FFF2-40B4-BE49-F238E27FC236}">
                <a16:creationId xmlns:a16="http://schemas.microsoft.com/office/drawing/2014/main" id="{5FFED3D9-1A02-4BE3-9EA1-2EDC899F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671489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8" name="p6_path">
            <a:extLst xmlns:a="http://schemas.openxmlformats.org/drawingml/2006/main">
              <a:ext uri="{FF2B5EF4-FFF2-40B4-BE49-F238E27FC236}">
                <a16:creationId xmlns:a16="http://schemas.microsoft.com/office/drawing/2014/main" id="{67CC20CE-A700-4EEB-BA7D-A902C740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563675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49" name="p6_path">
            <a:extLst xmlns:a="http://schemas.openxmlformats.org/drawingml/2006/main">
              <a:ext uri="{FF2B5EF4-FFF2-40B4-BE49-F238E27FC236}">
                <a16:creationId xmlns:a16="http://schemas.microsoft.com/office/drawing/2014/main" id="{B1A608B3-8BF7-4EEE-A413-6299B56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455861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0" name="p6_path">
            <a:extLst xmlns:a="http://schemas.openxmlformats.org/drawingml/2006/main">
              <a:ext uri="{FF2B5EF4-FFF2-40B4-BE49-F238E27FC236}">
                <a16:creationId xmlns:a16="http://schemas.microsoft.com/office/drawing/2014/main" id="{0B0C52F9-E812-4210-BFB2-A14C414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348049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1" name="p6_path">
            <a:extLst xmlns:a="http://schemas.openxmlformats.org/drawingml/2006/main">
              <a:ext uri="{FF2B5EF4-FFF2-40B4-BE49-F238E27FC236}">
                <a16:creationId xmlns:a16="http://schemas.microsoft.com/office/drawing/2014/main" id="{259BF392-F5CB-4CCA-8B99-FD8B011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240235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2" name="p6_path">
            <a:extLst xmlns:a="http://schemas.openxmlformats.org/drawingml/2006/main">
              <a:ext uri="{FF2B5EF4-FFF2-40B4-BE49-F238E27FC236}">
                <a16:creationId xmlns:a16="http://schemas.microsoft.com/office/drawing/2014/main" id="{F9FCA972-2974-4E65-ADA6-28A3A05C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7" y="3132421"/>
            <a:ext cx="934" cy="56063"/>
          </a:xfrm>
          <a:custGeom xmlns:a="http://schemas.openxmlformats.org/drawingml/2006/main">
            <a:pathLst>
              <a:path w="953" h="57207">
                <a:moveTo>
                  <a:pt x="0" y="57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3" name="p6_path">
            <a:extLst xmlns:a="http://schemas.openxmlformats.org/drawingml/2006/main">
              <a:ext uri="{FF2B5EF4-FFF2-40B4-BE49-F238E27FC236}">
                <a16:creationId xmlns:a16="http://schemas.microsoft.com/office/drawing/2014/main" id="{9152A199-127C-4406-B2A8-51A4E47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958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4" name="p6_path">
            <a:extLst xmlns:a="http://schemas.openxmlformats.org/drawingml/2006/main">
              <a:ext uri="{FF2B5EF4-FFF2-40B4-BE49-F238E27FC236}">
                <a16:creationId xmlns:a16="http://schemas.microsoft.com/office/drawing/2014/main" id="{006958CD-A399-4483-A111-14EA615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032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5" name="p6_path">
            <a:extLst xmlns:a="http://schemas.openxmlformats.org/drawingml/2006/main">
              <a:ext uri="{FF2B5EF4-FFF2-40B4-BE49-F238E27FC236}">
                <a16:creationId xmlns:a16="http://schemas.microsoft.com/office/drawing/2014/main" id="{78A15FD4-8719-4117-8E26-703E9E70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105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6" name="p6_path">
            <a:extLst xmlns:a="http://schemas.openxmlformats.org/drawingml/2006/main">
              <a:ext uri="{FF2B5EF4-FFF2-40B4-BE49-F238E27FC236}">
                <a16:creationId xmlns:a16="http://schemas.microsoft.com/office/drawing/2014/main" id="{24C3484E-D835-4B53-BBF8-BC43040D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179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7" name="p6_path">
            <a:extLst xmlns:a="http://schemas.openxmlformats.org/drawingml/2006/main">
              <a:ext uri="{FF2B5EF4-FFF2-40B4-BE49-F238E27FC236}">
                <a16:creationId xmlns:a16="http://schemas.microsoft.com/office/drawing/2014/main" id="{EEF4D837-685B-4F84-AA75-104F759D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253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8" name="p6_path">
            <a:extLst xmlns:a="http://schemas.openxmlformats.org/drawingml/2006/main">
              <a:ext uri="{FF2B5EF4-FFF2-40B4-BE49-F238E27FC236}">
                <a16:creationId xmlns:a16="http://schemas.microsoft.com/office/drawing/2014/main" id="{7E1CEF92-EF3B-48D2-BF1E-4D7C5AD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327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59" name="p6_path">
            <a:extLst xmlns:a="http://schemas.openxmlformats.org/drawingml/2006/main">
              <a:ext uri="{FF2B5EF4-FFF2-40B4-BE49-F238E27FC236}">
                <a16:creationId xmlns:a16="http://schemas.microsoft.com/office/drawing/2014/main" id="{21C9C46C-DC7D-45E2-993A-57807BF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01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0" name="p6_path">
            <a:extLst xmlns:a="http://schemas.openxmlformats.org/drawingml/2006/main">
              <a:ext uri="{FF2B5EF4-FFF2-40B4-BE49-F238E27FC236}">
                <a16:creationId xmlns:a16="http://schemas.microsoft.com/office/drawing/2014/main" id="{02163387-00F5-4B8A-91F1-1FCA3E8C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474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1" name="p6_path">
            <a:extLst xmlns:a="http://schemas.openxmlformats.org/drawingml/2006/main">
              <a:ext uri="{FF2B5EF4-FFF2-40B4-BE49-F238E27FC236}">
                <a16:creationId xmlns:a16="http://schemas.microsoft.com/office/drawing/2014/main" id="{5DFF9395-4DB0-4ABA-BDDE-28FD18C3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548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2" name="p6_path">
            <a:extLst xmlns:a="http://schemas.openxmlformats.org/drawingml/2006/main">
              <a:ext uri="{FF2B5EF4-FFF2-40B4-BE49-F238E27FC236}">
                <a16:creationId xmlns:a16="http://schemas.microsoft.com/office/drawing/2014/main" id="{42A99BCE-81BA-48BA-AD3F-1892216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623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3" name="p6_path">
            <a:extLst xmlns:a="http://schemas.openxmlformats.org/drawingml/2006/main">
              <a:ext uri="{FF2B5EF4-FFF2-40B4-BE49-F238E27FC236}">
                <a16:creationId xmlns:a16="http://schemas.microsoft.com/office/drawing/2014/main" id="{E1BF4BC1-852C-4EEA-9609-D7E26D6E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696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4" name="p6_path">
            <a:extLst xmlns:a="http://schemas.openxmlformats.org/drawingml/2006/main">
              <a:ext uri="{FF2B5EF4-FFF2-40B4-BE49-F238E27FC236}">
                <a16:creationId xmlns:a16="http://schemas.microsoft.com/office/drawing/2014/main" id="{E7DBE9E9-93C3-4882-A3F2-199CC3A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70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5" name="p6_path">
            <a:extLst xmlns:a="http://schemas.openxmlformats.org/drawingml/2006/main">
              <a:ext uri="{FF2B5EF4-FFF2-40B4-BE49-F238E27FC236}">
                <a16:creationId xmlns:a16="http://schemas.microsoft.com/office/drawing/2014/main" id="{6C6D0DAE-E2CD-4966-ADE5-3A1F0B2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844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6" name="p6_path">
            <a:extLst xmlns:a="http://schemas.openxmlformats.org/drawingml/2006/main">
              <a:ext uri="{FF2B5EF4-FFF2-40B4-BE49-F238E27FC236}">
                <a16:creationId xmlns:a16="http://schemas.microsoft.com/office/drawing/2014/main" id="{87EDA8A1-CBEC-416C-8D3B-60D65F58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17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7" name="p6_path">
            <a:extLst xmlns:a="http://schemas.openxmlformats.org/drawingml/2006/main">
              <a:ext uri="{FF2B5EF4-FFF2-40B4-BE49-F238E27FC236}">
                <a16:creationId xmlns:a16="http://schemas.microsoft.com/office/drawing/2014/main" id="{3BAC7C51-91AC-4E53-A0BD-D538A688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992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8" name="p6_path">
            <a:extLst xmlns:a="http://schemas.openxmlformats.org/drawingml/2006/main">
              <a:ext uri="{FF2B5EF4-FFF2-40B4-BE49-F238E27FC236}">
                <a16:creationId xmlns:a16="http://schemas.microsoft.com/office/drawing/2014/main" id="{95296A28-AC00-4ED7-AE89-8033DF7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066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69" name="p6_path">
            <a:extLst xmlns:a="http://schemas.openxmlformats.org/drawingml/2006/main">
              <a:ext uri="{FF2B5EF4-FFF2-40B4-BE49-F238E27FC236}">
                <a16:creationId xmlns:a16="http://schemas.microsoft.com/office/drawing/2014/main" id="{529F4F4D-CADF-48D0-BD02-AC81F75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139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70" name="p6_path">
            <a:extLst xmlns:a="http://schemas.openxmlformats.org/drawingml/2006/main">
              <a:ext uri="{FF2B5EF4-FFF2-40B4-BE49-F238E27FC236}">
                <a16:creationId xmlns:a16="http://schemas.microsoft.com/office/drawing/2014/main" id="{08AFE489-229A-4FB0-91E5-9B5F23F8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213" y="3080671"/>
            <a:ext cx="55158" cy="934"/>
          </a:xfrm>
          <a:custGeom xmlns:a="http://schemas.openxmlformats.org/drawingml/2006/main">
            <a:pathLst>
              <a:path w="56284" h="953">
                <a:moveTo>
                  <a:pt x="0" y="0"/>
                </a:moveTo>
                <a:lnTo>
                  <a:pt x="56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25C24"/>
            </a:solidFill>
          </a:ln>
        </p:spPr>
      </p:sp>
      <p:sp>
        <p:nvSpPr>
          <p:cNvPr id="71" name="p6_ellipse_70">
            <a:extLst xmlns:a="http://schemas.openxmlformats.org/drawingml/2006/main">
              <a:ext uri="{FF2B5EF4-FFF2-40B4-BE49-F238E27FC236}">
                <a16:creationId xmlns:a16="http://schemas.microsoft.com/office/drawing/2014/main" id="{80FD8008-A31D-41F4-AA40-6F84405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0" y="3024664"/>
            <a:ext cx="112014" cy="112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C24"/>
          </a:solidFill>
          <a:ln xmlns:a="http://schemas.openxmlformats.org/drawingml/2006/main" w="0">
            <a:noFill/>
          </a:ln>
        </p:spPr>
      </p:sp>
      <p:sp>
        <p:nvSpPr>
          <p:cNvPr id="72" name="p6_textbox_71">
            <a:extLst xmlns:a="http://schemas.openxmlformats.org/drawingml/2006/main">
              <a:ext uri="{FF2B5EF4-FFF2-40B4-BE49-F238E27FC236}">
                <a16:creationId xmlns:a16="http://schemas.microsoft.com/office/drawing/2014/main" id="{B87BE65F-3A54-4D28-B736-99F5A6C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968" y="1647825"/>
            <a:ext cx="3920490" cy="317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85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985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FRET efficiency</a:t>
            </a:r>
          </a:p>
        </p:txBody>
      </p:sp>
      <p:sp>
        <p:nvSpPr>
          <p:cNvPr id="73" name="p6_textbox_72">
            <a:extLst xmlns:a="http://schemas.openxmlformats.org/drawingml/2006/main">
              <a:ext uri="{FF2B5EF4-FFF2-40B4-BE49-F238E27FC236}">
                <a16:creationId xmlns:a16="http://schemas.microsoft.com/office/drawing/2014/main" id="{28F59CD7-30FF-4772-B3C0-E784EF88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26652"/>
            <a:ext cx="728091" cy="30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64" b="0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1764" b="0">
                <a:solidFill>
                  <a:srgbClr val="C25C24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74" name="p6_textbox_73">
            <a:extLst xmlns:a="http://schemas.openxmlformats.org/drawingml/2006/main">
              <a:ext uri="{FF2B5EF4-FFF2-40B4-BE49-F238E27FC236}">
                <a16:creationId xmlns:a16="http://schemas.microsoft.com/office/drawing/2014/main" id="{9125644C-ACD0-4576-9E6A-8FB53745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236" y="1899857"/>
            <a:ext cx="326708" cy="28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9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9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5" name="p6_textbox_74">
            <a:extLst xmlns:a="http://schemas.openxmlformats.org/drawingml/2006/main">
              <a:ext uri="{FF2B5EF4-FFF2-40B4-BE49-F238E27FC236}">
                <a16:creationId xmlns:a16="http://schemas.microsoft.com/office/drawing/2014/main" id="{00C544CD-CADB-4949-B1A2-8CCB1661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236" y="4037457"/>
            <a:ext cx="326708" cy="28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9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9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p6_textbox_75">
            <a:extLst xmlns:a="http://schemas.openxmlformats.org/drawingml/2006/main">
              <a:ext uri="{FF2B5EF4-FFF2-40B4-BE49-F238E27FC236}">
                <a16:creationId xmlns:a16="http://schemas.microsoft.com/office/drawing/2014/main" id="{ADF84AF7-5BA8-4B72-B209-87ED5CD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944" y="4289489"/>
            <a:ext cx="28003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17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17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" name="p6_textbox_76">
            <a:extLst xmlns:a="http://schemas.openxmlformats.org/drawingml/2006/main">
              <a:ext uri="{FF2B5EF4-FFF2-40B4-BE49-F238E27FC236}">
                <a16:creationId xmlns:a16="http://schemas.microsoft.com/office/drawing/2014/main" id="{84C05DFF-7F2D-4D2E-B2C6-A2AC0629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69" y="4289489"/>
            <a:ext cx="28003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5C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9" name="p6_textbox_78">
            <a:extLst xmlns:a="http://schemas.openxmlformats.org/drawingml/2006/main">
              <a:ext uri="{FF2B5EF4-FFF2-40B4-BE49-F238E27FC236}">
                <a16:creationId xmlns:a16="http://schemas.microsoft.com/office/drawing/2014/main" id="{BD70BD98-77BB-44C2-AF32-233FF5E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402" y="4345496"/>
            <a:ext cx="886778" cy="298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1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91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r/R₀</a:t>
            </a:r>
          </a:p>
        </p:txBody>
      </p:sp>
      <p:sp>
        <p:nvSpPr>
          <p:cNvPr id="81" name="p6_textbox_80">
            <a:extLst xmlns:a="http://schemas.openxmlformats.org/drawingml/2006/main">
              <a:ext uri="{FF2B5EF4-FFF2-40B4-BE49-F238E27FC236}">
                <a16:creationId xmlns:a16="http://schemas.microsoft.com/office/drawing/2014/main" id="{1250B6DA-192C-4011-A936-A99862A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9309"/>
            <a:ext cx="850583" cy="46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61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961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E =</a:t>
            </a:r>
          </a:p>
        </p:txBody>
      </p:sp>
      <p:sp>
        <p:nvSpPr>
          <p:cNvPr id="82" name="p6_textbox_81">
            <a:extLst xmlns:a="http://schemas.openxmlformats.org/drawingml/2006/main">
              <a:ext uri="{FF2B5EF4-FFF2-40B4-BE49-F238E27FC236}">
                <a16:creationId xmlns:a16="http://schemas.microsoft.com/office/drawing/2014/main" id="{C9B5E017-50FF-475C-84C4-8258DF6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24425"/>
            <a:ext cx="2775585" cy="376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97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397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3" name="p6_path">
            <a:extLst xmlns:a="http://schemas.openxmlformats.org/drawingml/2006/main">
              <a:ext uri="{FF2B5EF4-FFF2-40B4-BE49-F238E27FC236}">
                <a16:creationId xmlns:a16="http://schemas.microsoft.com/office/drawing/2014/main" id="{6EAB21D6-316C-4148-ADFC-F700F4F7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47" y="5318379"/>
            <a:ext cx="2793492" cy="896"/>
          </a:xfrm>
          <a:custGeom xmlns:a="http://schemas.openxmlformats.org/drawingml/2006/main">
            <a:pathLst>
              <a:path w="2971800" h="953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0252B"/>
            </a:solidFill>
          </a:ln>
        </p:spPr>
      </p:sp>
      <p:sp>
        <p:nvSpPr>
          <p:cNvPr id="84" name="p6_textbox_83">
            <a:extLst xmlns:a="http://schemas.openxmlformats.org/drawingml/2006/main">
              <a:ext uri="{FF2B5EF4-FFF2-40B4-BE49-F238E27FC236}">
                <a16:creationId xmlns:a16="http://schemas.microsoft.com/office/drawing/2014/main" id="{A3DED98C-6F87-4538-8E5D-E1F9204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63146"/>
            <a:ext cx="2775585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97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397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1 + (r/R₀)⁶</a:t>
            </a:r>
          </a:p>
        </p:txBody>
      </p:sp>
      <p:sp>
        <p:nvSpPr>
          <p:cNvPr id="89" name="v2_p6_82">
            <a:extLst xmlns:a="http://schemas.openxmlformats.org/drawingml/2006/main">
              <a:ext uri="{FF2B5EF4-FFF2-40B4-BE49-F238E27FC236}">
                <a16:creationId xmlns:a16="http://schemas.microsoft.com/office/drawing/2014/main" id="{6845E1AD-45E6-43D7-8117-A984C437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FRET需要什么？</a:t>
            </a:r>
          </a:p>
        </p:txBody>
      </p:sp>
      <p:sp>
        <p:nvSpPr>
          <p:cNvPr id="90" name="v2_p6_83">
            <a:extLst xmlns:a="http://schemas.openxmlformats.org/drawingml/2006/main">
              <a:ext uri="{FF2B5EF4-FFF2-40B4-BE49-F238E27FC236}">
                <a16:creationId xmlns:a16="http://schemas.microsoft.com/office/drawing/2014/main" id="{EDBA29EC-F871-4739-BB2B-E48C15D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577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足够接近；供体发射与受体吸收有光谱重叠</a:t>
            </a:r>
          </a:p>
        </p:txBody>
      </p:sp>
      <p:sp>
        <p:nvSpPr>
          <p:cNvPr id="91" name="v2_p6_84">
            <a:extLst xmlns:a="http://schemas.openxmlformats.org/drawingml/2006/main">
              <a:ext uri="{FF2B5EF4-FFF2-40B4-BE49-F238E27FC236}">
                <a16:creationId xmlns:a16="http://schemas.microsoft.com/office/drawing/2014/main" id="{BCF3C58F-579E-4C22-AB34-121E639F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579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标记位置、取向等影响定量解释</a:t>
            </a:r>
          </a:p>
        </p:txBody>
      </p:sp>
      <p:sp>
        <p:nvSpPr>
          <p:cNvPr id="92" name="v2_p6_85">
            <a:extLst xmlns:a="http://schemas.openxmlformats.org/drawingml/2006/main">
              <a:ext uri="{FF2B5EF4-FFF2-40B4-BE49-F238E27FC236}">
                <a16:creationId xmlns:a16="http://schemas.microsoft.com/office/drawing/2014/main" id="{F4DF0B92-B13A-457D-ADCE-02A6CA9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05375"/>
            <a:ext cx="5038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典型用途：构象、分子相互作用、动态变化</a:t>
            </a:r>
          </a:p>
        </p:txBody>
      </p:sp>
      <p:sp>
        <p:nvSpPr>
          <p:cNvPr id="93" name="v2_p6_86">
            <a:extLst xmlns:a="http://schemas.openxmlformats.org/drawingml/2006/main">
              <a:ext uri="{FF2B5EF4-FFF2-40B4-BE49-F238E27FC236}">
                <a16:creationId xmlns:a16="http://schemas.microsoft.com/office/drawing/2014/main" id="{8DFAF3AD-CAFF-49E6-8C5B-D659DDD9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81625"/>
            <a:ext cx="503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r：供受体荧光团间距</a:t>
            </a:r>
          </a:p>
        </p:txBody>
      </p:sp>
      <p:sp>
        <p:nvSpPr>
          <p:cNvPr id="94" name="v2_p6_87">
            <a:extLst xmlns:a="http://schemas.openxmlformats.org/drawingml/2006/main">
              <a:ext uri="{FF2B5EF4-FFF2-40B4-BE49-F238E27FC236}">
                <a16:creationId xmlns:a16="http://schemas.microsoft.com/office/drawing/2014/main" id="{9FB70626-1ECB-42C6-8E70-B577885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724525"/>
            <a:ext cx="5038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R₀：相应模型下效率为50%的特征距离</a:t>
            </a:r>
          </a:p>
        </p:txBody>
      </p:sp>
      <p:sp>
        <p:nvSpPr>
          <p:cNvPr id="95" name="v2_p6_88">
            <a:extLst xmlns:a="http://schemas.openxmlformats.org/drawingml/2006/main">
              <a:ext uri="{FF2B5EF4-FFF2-40B4-BE49-F238E27FC236}">
                <a16:creationId xmlns:a16="http://schemas.microsoft.com/office/drawing/2014/main" id="{FCD9AEC6-9209-49DF-AE27-FAEB5F80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578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典型smFRET范围约2–8 nm，非硬边界</a:t>
            </a:r>
          </a:p>
        </p:txBody>
      </p:sp>
      <p:sp>
        <p:nvSpPr>
          <p:cNvPr id="96" name="v2_p6_89">
            <a:extLst xmlns:a="http://schemas.openxmlformats.org/drawingml/2006/main">
              <a:ext uri="{FF2B5EF4-FFF2-40B4-BE49-F238E27FC236}">
                <a16:creationId xmlns:a16="http://schemas.microsoft.com/office/drawing/2014/main" id="{733169E7-879A-427B-84D6-CB5500B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12" y="45910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25C24"/>
                </a:solidFill>
                <a:latin typeface="Arial"/>
                <a:ea typeface="Arial"/>
                <a:cs typeface="Arial"/>
              </a:rPr>
              <a:t>R₀</a:t>
            </a:r>
          </a:p>
        </p:txBody>
      </p:sp>
    </p:spTree>
    <p:extLst>
      <p:ext uri="{BB962C8B-B14F-4D97-AF65-F5344CB8AC3E}">
        <p14:creationId xmlns:p14="http://schemas.microsoft.com/office/powerpoint/2010/main" val="1700445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7_textbox_0">
            <a:extLst xmlns:a="http://schemas.openxmlformats.org/drawingml/2006/main">
              <a:ext uri="{FF2B5EF4-FFF2-40B4-BE49-F238E27FC236}">
                <a16:creationId xmlns:a16="http://schemas.microsoft.com/office/drawing/2014/main" id="{FBE8F2E7-8263-424F-B085-442A032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一个实例：构象变化如何改变光信号？</a:t>
            </a:r>
          </a:p>
        </p:txBody>
      </p:sp>
      <p:sp>
        <p:nvSpPr>
          <p:cNvPr id="2" name="p7_path">
            <a:extLst xmlns:a="http://schemas.openxmlformats.org/drawingml/2006/main">
              <a:ext uri="{FF2B5EF4-FFF2-40B4-BE49-F238E27FC236}">
                <a16:creationId xmlns:a16="http://schemas.microsoft.com/office/drawing/2014/main" id="{1B35F8E3-F5BC-449C-9E97-57AE895B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7_textbox_2">
            <a:extLst xmlns:a="http://schemas.openxmlformats.org/drawingml/2006/main">
              <a:ext uri="{FF2B5EF4-FFF2-40B4-BE49-F238E27FC236}">
                <a16:creationId xmlns:a16="http://schemas.microsoft.com/office/drawing/2014/main" id="{3628F67B-03A6-41C1-B969-510166D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Source: Agam et al., Nat. Methods, 2023, Fig. 1b–c and Results—MalE.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Structures: RCSB PDB 1OMP / 1ANF (Cα coordinates; residue markers added).</a:t>
            </a:r>
          </a:p>
        </p:txBody>
      </p:sp>
      <p:sp>
        <p:nvSpPr>
          <p:cNvPr id="4" name="p7_textbox_3">
            <a:extLst xmlns:a="http://schemas.openxmlformats.org/drawingml/2006/main">
              <a:ext uri="{FF2B5EF4-FFF2-40B4-BE49-F238E27FC236}">
                <a16:creationId xmlns:a16="http://schemas.microsoft.com/office/drawing/2014/main" id="{F9F106F1-923C-403B-9B7E-57F6583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024ac862e401e"/>
          <a:stretch xmlns:a="http://schemas.openxmlformats.org/drawingml/2006/main"/>
        </p:blipFill>
        <p:spPr>
          <a:xfrm xmlns:a="http://schemas.openxmlformats.org/drawingml/2006/main">
            <a:off x="3838575" y="2625090"/>
            <a:ext cx="421005" cy="51816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bc6e570824c6e"/>
          <a:stretch xmlns:a="http://schemas.openxmlformats.org/drawingml/2006/main"/>
        </p:blipFill>
        <p:spPr>
          <a:xfrm xmlns:a="http://schemas.openxmlformats.org/drawingml/2006/main">
            <a:off x="4259580" y="2333625"/>
            <a:ext cx="569976" cy="1126998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ce51362a94af3"/>
          <a:stretch xmlns:a="http://schemas.openxmlformats.org/drawingml/2006/main"/>
        </p:blipFill>
        <p:spPr>
          <a:xfrm xmlns:a="http://schemas.openxmlformats.org/drawingml/2006/main">
            <a:off x="4972050" y="2398395"/>
            <a:ext cx="2791587" cy="932688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0b8f84f6a4166"/>
          <a:stretch xmlns:a="http://schemas.openxmlformats.org/drawingml/2006/main"/>
        </p:blipFill>
        <p:spPr>
          <a:xfrm xmlns:a="http://schemas.openxmlformats.org/drawingml/2006/main">
            <a:off x="3838575" y="3713226"/>
            <a:ext cx="421005" cy="58293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e57e1ce4c44c7"/>
          <a:stretch xmlns:a="http://schemas.openxmlformats.org/drawingml/2006/main"/>
        </p:blipFill>
        <p:spPr>
          <a:xfrm xmlns:a="http://schemas.openxmlformats.org/drawingml/2006/main">
            <a:off x="4259580" y="3447669"/>
            <a:ext cx="569976" cy="1126998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2b73cbe6a4b66"/>
          <a:stretch xmlns:a="http://schemas.openxmlformats.org/drawingml/2006/main"/>
        </p:blipFill>
        <p:spPr>
          <a:xfrm xmlns:a="http://schemas.openxmlformats.org/drawingml/2006/main">
            <a:off x="4972050" y="3518916"/>
            <a:ext cx="2791587" cy="913257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753d09f2545f1"/>
          <a:stretch xmlns:a="http://schemas.openxmlformats.org/drawingml/2006/main"/>
        </p:blipFill>
        <p:spPr>
          <a:xfrm xmlns:a="http://schemas.openxmlformats.org/drawingml/2006/main">
            <a:off x="4972050" y="4464558"/>
            <a:ext cx="2921127" cy="466344"/>
          </a:xfrm>
          <a:prstGeom xmlns:a="http://schemas.openxmlformats.org/drawingml/2006/main" prst="rect">
            <a:avLst/>
          </a:prstGeom>
        </p:spPr>
      </p:pic>
      <p:sp>
        <p:nvSpPr>
          <p:cNvPr id="32" name="v2_p7_4">
            <a:extLst xmlns:a="http://schemas.openxmlformats.org/drawingml/2006/main">
              <a:ext uri="{FF2B5EF4-FFF2-40B4-BE49-F238E27FC236}">
                <a16:creationId xmlns:a16="http://schemas.microsoft.com/office/drawing/2014/main" id="{82A282E6-C031-434E-8B8D-9DF17D95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MalE：麦芽糖结合蛋白；结合麦芽糖前后构象改变</a:t>
            </a:r>
          </a:p>
        </p:txBody>
      </p:sp>
      <p:sp>
        <p:nvSpPr>
          <p:cNvPr id="33" name="v2_p7_5">
            <a:extLst xmlns:a="http://schemas.openxmlformats.org/drawingml/2006/main">
              <a:ext uri="{FF2B5EF4-FFF2-40B4-BE49-F238E27FC236}">
                <a16:creationId xmlns:a16="http://schemas.microsoft.com/office/drawing/2014/main" id="{5E769BCF-472D-4CFE-8616-4561D931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真实结构 · Cα主链投影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5dc4c978d4022"/>
          <a:stretch xmlns:a="http://schemas.openxmlformats.org/drawingml/2006/main"/>
        </p:blipFill>
        <p:spPr>
          <a:xfrm xmlns:a="http://schemas.openxmlformats.org/drawingml/2006/main">
            <a:off x="600075" y="2776538"/>
            <a:ext cx="1485900" cy="8667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94fbfb61f46ec"/>
          <a:stretch xmlns:a="http://schemas.openxmlformats.org/drawingml/2006/main"/>
        </p:blipFill>
        <p:spPr>
          <a:xfrm xmlns:a="http://schemas.openxmlformats.org/drawingml/2006/main">
            <a:off x="2143125" y="2776538"/>
            <a:ext cx="1485900" cy="866775"/>
          </a:xfrm>
          <a:prstGeom xmlns:a="http://schemas.openxmlformats.org/drawingml/2006/main" prst="rect">
            <a:avLst/>
          </a:prstGeom>
        </p:spPr>
      </p:pic>
      <p:sp>
        <p:nvSpPr>
          <p:cNvPr id="36" name="v2_p7_6">
            <a:extLst xmlns:a="http://schemas.openxmlformats.org/drawingml/2006/main">
              <a:ext uri="{FF2B5EF4-FFF2-40B4-BE49-F238E27FC236}">
                <a16:creationId xmlns:a16="http://schemas.microsoft.com/office/drawing/2014/main" id="{D8627123-9EBD-4887-833F-429D08D3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3837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apo</a:t>
            </a:r>
          </a:p>
        </p:txBody>
      </p:sp>
      <p:sp>
        <p:nvSpPr>
          <p:cNvPr id="37" name="v2_p7_7">
            <a:extLst xmlns:a="http://schemas.openxmlformats.org/drawingml/2006/main">
              <a:ext uri="{FF2B5EF4-FFF2-40B4-BE49-F238E27FC236}">
                <a16:creationId xmlns:a16="http://schemas.microsoft.com/office/drawing/2014/main" id="{1A568CB5-FA3C-46D1-A8A0-AB4BF4D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3837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856A"/>
                </a:solidFill>
                <a:latin typeface="Arial"/>
                <a:ea typeface="Arial"/>
                <a:cs typeface="Arial"/>
              </a:rPr>
              <a:t>holo</a:t>
            </a:r>
          </a:p>
        </p:txBody>
      </p:sp>
      <p:sp>
        <p:nvSpPr>
          <p:cNvPr id="38" name="v2_p7_8">
            <a:extLst xmlns:a="http://schemas.openxmlformats.org/drawingml/2006/main">
              <a:ext uri="{FF2B5EF4-FFF2-40B4-BE49-F238E27FC236}">
                <a16:creationId xmlns:a16="http://schemas.microsoft.com/office/drawing/2014/main" id="{0CEE5357-7629-41A2-AB90-B01193A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052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PDB 1OMP</a:t>
            </a:r>
          </a:p>
        </p:txBody>
      </p:sp>
      <p:sp>
        <p:nvSpPr>
          <p:cNvPr id="39" name="v2_p7_9">
            <a:extLst xmlns:a="http://schemas.openxmlformats.org/drawingml/2006/main">
              <a:ext uri="{FF2B5EF4-FFF2-40B4-BE49-F238E27FC236}">
                <a16:creationId xmlns:a16="http://schemas.microsoft.com/office/drawing/2014/main" id="{AA5B604E-0CBB-4F92-95CB-B3AE9FD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052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PDB 1ANF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9B8A9-648E-4E8D-8494-FDF30F6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90875"/>
            <a:ext cx="228600" cy="953"/>
          </a:xfrm>
          <a:custGeom xmlns:a="http://schemas.openxmlformats.org/drawingml/2006/main"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E8888-F210-4453-8668-964C31A0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06" y="3190875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42723"/>
                </a:moveTo>
                <a:lnTo>
                  <a:pt x="9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8A42B2-66AA-45FE-9DBA-C7D107B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06" y="3148152"/>
            <a:ext cx="95669" cy="42723"/>
          </a:xfrm>
          <a:custGeom xmlns:a="http://schemas.openxmlformats.org/drawingml/2006/main">
            <a:pathLst>
              <a:path w="95669" h="42723">
                <a:moveTo>
                  <a:pt x="0" y="0"/>
                </a:moveTo>
                <a:lnTo>
                  <a:pt x="95669" y="427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43" name="v2_p7_13">
            <a:extLst xmlns:a="http://schemas.openxmlformats.org/drawingml/2006/main">
              <a:ext uri="{FF2B5EF4-FFF2-40B4-BE49-F238E27FC236}">
                <a16:creationId xmlns:a16="http://schemas.microsoft.com/office/drawing/2014/main" id="{D7021F7A-F873-49B2-AECF-9CC3247D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MalE-1  K29C–S352C</a:t>
            </a:r>
          </a:p>
        </p:txBody>
      </p:sp>
      <p:sp>
        <p:nvSpPr>
          <p:cNvPr id="44" name="v2_p7_14">
            <a:extLst xmlns:a="http://schemas.openxmlformats.org/drawingml/2006/main">
              <a:ext uri="{FF2B5EF4-FFF2-40B4-BE49-F238E27FC236}">
                <a16:creationId xmlns:a16="http://schemas.microsoft.com/office/drawing/2014/main" id="{44B7F225-6B2D-4B55-87C6-C68F978B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MalE-2  D87C–A186C</a:t>
            </a:r>
          </a:p>
        </p:txBody>
      </p:sp>
      <p:sp>
        <p:nvSpPr>
          <p:cNvPr id="45" name="v2_p7_15">
            <a:extLst xmlns:a="http://schemas.openxmlformats.org/drawingml/2006/main">
              <a:ext uri="{FF2B5EF4-FFF2-40B4-BE49-F238E27FC236}">
                <a16:creationId xmlns:a16="http://schemas.microsoft.com/office/drawing/2014/main" id="{4E0A400D-C5F6-4B26-9812-A13EC483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321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染料：Alexa546 / Alexa647</a:t>
            </a:r>
          </a:p>
        </p:txBody>
      </p:sp>
      <p:sp>
        <p:nvSpPr>
          <p:cNvPr id="46" name="v2_p7_16">
            <a:extLst xmlns:a="http://schemas.openxmlformats.org/drawingml/2006/main">
              <a:ext uri="{FF2B5EF4-FFF2-40B4-BE49-F238E27FC236}">
                <a16:creationId xmlns:a16="http://schemas.microsoft.com/office/drawing/2014/main" id="{B58E51ED-3723-44DF-B225-ADBC880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321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橙点为残基位置，非染料中心</a:t>
            </a:r>
          </a:p>
        </p:txBody>
      </p:sp>
      <p:sp>
        <p:nvSpPr>
          <p:cNvPr id="47" name="v2_p7_17">
            <a:extLst xmlns:a="http://schemas.openxmlformats.org/drawingml/2006/main">
              <a:ext uri="{FF2B5EF4-FFF2-40B4-BE49-F238E27FC236}">
                <a16:creationId xmlns:a16="http://schemas.microsoft.com/office/drawing/2014/main" id="{B6AD3E75-3DB3-45C6-A1E7-D444F7C3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38325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论文原图局部 · MalE-1</a:t>
            </a:r>
          </a:p>
        </p:txBody>
      </p:sp>
      <p:sp>
        <p:nvSpPr>
          <p:cNvPr id="48" name="v2_p7_18">
            <a:extLst xmlns:a="http://schemas.openxmlformats.org/drawingml/2006/main">
              <a:ext uri="{FF2B5EF4-FFF2-40B4-BE49-F238E27FC236}">
                <a16:creationId xmlns:a16="http://schemas.microsoft.com/office/drawing/2014/main" id="{A138CDE2-41CE-49B5-9A3C-0329236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17170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实验室1代表性数据</a:t>
            </a:r>
          </a:p>
        </p:txBody>
      </p:sp>
      <p:sp>
        <p:nvSpPr>
          <p:cNvPr id="49" name="v2_p7_19">
            <a:extLst xmlns:a="http://schemas.openxmlformats.org/drawingml/2006/main">
              <a:ext uri="{FF2B5EF4-FFF2-40B4-BE49-F238E27FC236}">
                <a16:creationId xmlns:a16="http://schemas.microsoft.com/office/drawing/2014/main" id="{DBAF0E5A-5EE1-4B2F-9E6E-305120A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38325"/>
            <a:ext cx="30861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</a:ln>
        </p:spPr>
      </p:sp>
      <p:sp>
        <p:nvSpPr>
          <p:cNvPr id="50" name="v2_p7_20">
            <a:extLst xmlns:a="http://schemas.openxmlformats.org/drawingml/2006/main">
              <a:ext uri="{FF2B5EF4-FFF2-40B4-BE49-F238E27FC236}">
                <a16:creationId xmlns:a16="http://schemas.microsoft.com/office/drawing/2014/main" id="{FD38B89F-F48B-4FCC-B857-7788165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977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跨实验室平均FRET效率</a:t>
            </a:r>
          </a:p>
        </p:txBody>
      </p:sp>
      <p:sp>
        <p:nvSpPr>
          <p:cNvPr id="51" name="v2_p7_21">
            <a:extLst xmlns:a="http://schemas.openxmlformats.org/drawingml/2006/main">
              <a:ext uri="{FF2B5EF4-FFF2-40B4-BE49-F238E27FC236}">
                <a16:creationId xmlns:a16="http://schemas.microsoft.com/office/drawing/2014/main" id="{3DC087F2-4D82-444B-A4F7-25345BA0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526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16个实验室，约值</a:t>
            </a:r>
          </a:p>
        </p:txBody>
      </p:sp>
      <p:sp>
        <p:nvSpPr>
          <p:cNvPr id="52" name="v2_p7_22">
            <a:extLst xmlns:a="http://schemas.openxmlformats.org/drawingml/2006/main">
              <a:ext uri="{FF2B5EF4-FFF2-40B4-BE49-F238E27FC236}">
                <a16:creationId xmlns:a16="http://schemas.microsoft.com/office/drawing/2014/main" id="{28A01C9E-7640-4A67-8614-C8884DF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28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MalE-1</a:t>
            </a:r>
          </a:p>
        </p:txBody>
      </p:sp>
      <p:sp>
        <p:nvSpPr>
          <p:cNvPr id="53" name="v2_p7_23">
            <a:extLst xmlns:a="http://schemas.openxmlformats.org/drawingml/2006/main">
              <a:ext uri="{FF2B5EF4-FFF2-40B4-BE49-F238E27FC236}">
                <a16:creationId xmlns:a16="http://schemas.microsoft.com/office/drawing/2014/main" id="{8AFA4CBB-4A50-4155-B6CA-905BE95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25C24"/>
                </a:solidFill>
                <a:latin typeface="Arial"/>
                <a:ea typeface="Arial"/>
                <a:cs typeface="Arial"/>
              </a:rPr>
              <a:t>0.49 → 0.67</a:t>
            </a:r>
          </a:p>
        </p:txBody>
      </p:sp>
      <p:sp>
        <p:nvSpPr>
          <p:cNvPr id="54" name="v2_p7_24">
            <a:extLst xmlns:a="http://schemas.openxmlformats.org/drawingml/2006/main">
              <a:ext uri="{FF2B5EF4-FFF2-40B4-BE49-F238E27FC236}">
                <a16:creationId xmlns:a16="http://schemas.microsoft.com/office/drawing/2014/main" id="{20AC32AF-034F-4C56-A23E-20D3A2A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MalE-2</a:t>
            </a:r>
          </a:p>
        </p:txBody>
      </p:sp>
      <p:sp>
        <p:nvSpPr>
          <p:cNvPr id="55" name="v2_p7_25">
            <a:extLst xmlns:a="http://schemas.openxmlformats.org/drawingml/2006/main">
              <a:ext uri="{FF2B5EF4-FFF2-40B4-BE49-F238E27FC236}">
                <a16:creationId xmlns:a16="http://schemas.microsoft.com/office/drawing/2014/main" id="{6EF5B92A-90D3-4BC2-9388-9EC1455A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25C24"/>
                </a:solidFill>
                <a:latin typeface="Arial"/>
                <a:ea typeface="Arial"/>
                <a:cs typeface="Arial"/>
              </a:rPr>
              <a:t>0.83 → 0.71</a:t>
            </a:r>
          </a:p>
        </p:txBody>
      </p:sp>
      <p:sp>
        <p:nvSpPr>
          <p:cNvPr id="56" name="v2_p7_26">
            <a:extLst xmlns:a="http://schemas.openxmlformats.org/drawingml/2006/main">
              <a:ext uri="{FF2B5EF4-FFF2-40B4-BE49-F238E27FC236}">
                <a16:creationId xmlns:a16="http://schemas.microsoft.com/office/drawing/2014/main" id="{335BC720-2CF7-44D8-8A72-F9FB93F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767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apo → holo</a:t>
            </a:r>
          </a:p>
        </p:txBody>
      </p:sp>
      <p:sp>
        <p:nvSpPr>
          <p:cNvPr id="57" name="v2_p7_27">
            <a:extLst xmlns:a="http://schemas.openxmlformats.org/drawingml/2006/main">
              <a:ext uri="{FF2B5EF4-FFF2-40B4-BE49-F238E27FC236}">
                <a16:creationId xmlns:a16="http://schemas.microsoft.com/office/drawing/2014/main" id="{951F453A-B052-49E2-8419-067F732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257800"/>
            <a:ext cx="7658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同一状态变化，不同标签几何可给出不同变化方向。</a:t>
            </a:r>
          </a:p>
        </p:txBody>
      </p:sp>
      <p:sp>
        <p:nvSpPr>
          <p:cNvPr id="58" name="v2_p7_28">
            <a:extLst xmlns:a="http://schemas.openxmlformats.org/drawingml/2006/main">
              <a:ext uri="{FF2B5EF4-FFF2-40B4-BE49-F238E27FC236}">
                <a16:creationId xmlns:a16="http://schemas.microsoft.com/office/drawing/2014/main" id="{6B27933F-A81C-4FF8-B36E-95A6F24C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695950"/>
            <a:ext cx="7648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FRET读取特定两枚标签之间的距离相关信息。</a:t>
            </a:r>
          </a:p>
        </p:txBody>
      </p:sp>
      <p:sp>
        <p:nvSpPr>
          <p:cNvPr id="68" name="v2_p7_29">
            <a:extLst xmlns:a="http://schemas.openxmlformats.org/drawingml/2006/main">
              <a:ext uri="{FF2B5EF4-FFF2-40B4-BE49-F238E27FC236}">
                <a16:creationId xmlns:a16="http://schemas.microsoft.com/office/drawing/2014/main" id="{5CCDEB49-0510-46FB-A6AD-CCBCCA6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橙点仅标示MalE-1的</a:t>
            </a:r>
          </a:p>
          <a:p xmlns:a="http://schemas.openxmlformats.org/drawingml/2006/main">
            <a:pPr algn="l"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29 / 352位残基</a:t>
            </a:r>
          </a:p>
        </p:txBody>
      </p:sp>
    </p:spTree>
    <p:extLst>
      <p:ext uri="{BB962C8B-B14F-4D97-AF65-F5344CB8AC3E}">
        <p14:creationId xmlns:p14="http://schemas.microsoft.com/office/powerpoint/2010/main" val="197962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8_textbox_0">
            <a:extLst xmlns:a="http://schemas.openxmlformats.org/drawingml/2006/main">
              <a:ext uri="{FF2B5EF4-FFF2-40B4-BE49-F238E27FC236}">
                <a16:creationId xmlns:a16="http://schemas.microsoft.com/office/drawing/2014/main" id="{6F425FF7-56A2-4759-A4C3-07E812B9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光从哪里来，又怎样成为图像？</a:t>
            </a:r>
          </a:p>
        </p:txBody>
      </p:sp>
      <p:sp>
        <p:nvSpPr>
          <p:cNvPr id="2" name="p8_path">
            <a:extLst xmlns:a="http://schemas.openxmlformats.org/drawingml/2006/main">
              <a:ext uri="{FF2B5EF4-FFF2-40B4-BE49-F238E27FC236}">
                <a16:creationId xmlns:a16="http://schemas.microsoft.com/office/drawing/2014/main" id="{7C134914-58AF-4DFE-A25B-EE9D7BC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8_textbox_2">
            <a:extLst xmlns:a="http://schemas.openxmlformats.org/drawingml/2006/main">
              <a:ext uri="{FF2B5EF4-FFF2-40B4-BE49-F238E27FC236}">
                <a16:creationId xmlns:a16="http://schemas.microsoft.com/office/drawing/2014/main" id="{A8747F39-14D6-495E-9479-5E216B16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Lichtman &amp; Conchello, Nat. Methods, 2005, Fig. 3;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Lelek et al., Nat. Rev. Methods Primers, 2021, Fig. 3a.</a:t>
            </a:r>
          </a:p>
        </p:txBody>
      </p:sp>
      <p:sp>
        <p:nvSpPr>
          <p:cNvPr id="4" name="p8_textbox_3">
            <a:extLst xmlns:a="http://schemas.openxmlformats.org/drawingml/2006/main">
              <a:ext uri="{FF2B5EF4-FFF2-40B4-BE49-F238E27FC236}">
                <a16:creationId xmlns:a16="http://schemas.microsoft.com/office/drawing/2014/main" id="{E6AE3F90-5FC5-4CAF-89F9-87699AD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p8_path">
            <a:extLst xmlns:a="http://schemas.openxmlformats.org/drawingml/2006/main">
              <a:ext uri="{FF2B5EF4-FFF2-40B4-BE49-F238E27FC236}">
                <a16:creationId xmlns:a16="http://schemas.microsoft.com/office/drawing/2014/main" id="{869CBA2B-50A1-4872-A67D-8D54ED88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" y="2580323"/>
            <a:ext cx="1006792" cy="667"/>
          </a:xfrm>
          <a:custGeom xmlns:a="http://schemas.openxmlformats.org/drawingml/2006/main">
            <a:pathLst>
              <a:path w="1438275" h="953">
                <a:moveTo>
                  <a:pt x="0" y="0"/>
                </a:moveTo>
                <a:lnTo>
                  <a:pt x="1438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6" name="p8_path">
            <a:extLst xmlns:a="http://schemas.openxmlformats.org/drawingml/2006/main">
              <a:ext uri="{FF2B5EF4-FFF2-40B4-BE49-F238E27FC236}">
                <a16:creationId xmlns:a16="http://schemas.microsoft.com/office/drawing/2014/main" id="{6478FB5E-D396-41D0-BAA2-12673D6E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57" y="2539541"/>
            <a:ext cx="91321" cy="81563"/>
          </a:xfrm>
          <a:custGeom xmlns:a="http://schemas.openxmlformats.org/drawingml/2006/main">
            <a:pathLst>
              <a:path w="130458" h="116518">
                <a:moveTo>
                  <a:pt x="0" y="116518"/>
                </a:moveTo>
                <a:lnTo>
                  <a:pt x="130458" y="5825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7" name="p8_path">
            <a:extLst xmlns:a="http://schemas.openxmlformats.org/drawingml/2006/main">
              <a:ext uri="{FF2B5EF4-FFF2-40B4-BE49-F238E27FC236}">
                <a16:creationId xmlns:a16="http://schemas.microsoft.com/office/drawing/2014/main" id="{8282FF5D-DF10-4C61-8501-3E2C270D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193" y="2580323"/>
            <a:ext cx="1746885" cy="667"/>
          </a:xfrm>
          <a:custGeom xmlns:a="http://schemas.openxmlformats.org/drawingml/2006/main">
            <a:pathLst>
              <a:path w="2495550" h="953">
                <a:moveTo>
                  <a:pt x="0" y="0"/>
                </a:moveTo>
                <a:lnTo>
                  <a:pt x="2495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8" name="p8_path">
            <a:extLst xmlns:a="http://schemas.openxmlformats.org/drawingml/2006/main">
              <a:ext uri="{FF2B5EF4-FFF2-40B4-BE49-F238E27FC236}">
                <a16:creationId xmlns:a16="http://schemas.microsoft.com/office/drawing/2014/main" id="{7FFB506A-7A1B-4B81-A751-D4455A8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57" y="2539541"/>
            <a:ext cx="91321" cy="81563"/>
          </a:xfrm>
          <a:custGeom xmlns:a="http://schemas.openxmlformats.org/drawingml/2006/main">
            <a:pathLst>
              <a:path w="130458" h="116518">
                <a:moveTo>
                  <a:pt x="0" y="116518"/>
                </a:moveTo>
                <a:lnTo>
                  <a:pt x="130458" y="5825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9" name="p8_path">
            <a:extLst xmlns:a="http://schemas.openxmlformats.org/drawingml/2006/main">
              <a:ext uri="{FF2B5EF4-FFF2-40B4-BE49-F238E27FC236}">
                <a16:creationId xmlns:a16="http://schemas.microsoft.com/office/drawing/2014/main" id="{40D99101-6B01-4D69-B0EA-9E296722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078" y="2086928"/>
            <a:ext cx="667" cy="493395"/>
          </a:xfrm>
          <a:custGeom xmlns:a="http://schemas.openxmlformats.org/drawingml/2006/main">
            <a:pathLst>
              <a:path w="953" h="704850">
                <a:moveTo>
                  <a:pt x="0" y="704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10" name="p8_path">
            <a:extLst xmlns:a="http://schemas.openxmlformats.org/drawingml/2006/main">
              <a:ext uri="{FF2B5EF4-FFF2-40B4-BE49-F238E27FC236}">
                <a16:creationId xmlns:a16="http://schemas.microsoft.com/office/drawing/2014/main" id="{6609D40D-F5FC-4816-991D-F43095D4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296" y="2086928"/>
            <a:ext cx="81563" cy="91321"/>
          </a:xfrm>
          <a:custGeom xmlns:a="http://schemas.openxmlformats.org/drawingml/2006/main">
            <a:pathLst>
              <a:path w="116518" h="130458">
                <a:moveTo>
                  <a:pt x="116518" y="130458"/>
                </a:moveTo>
                <a:lnTo>
                  <a:pt x="58259" y="0"/>
                </a:lnTo>
                <a:lnTo>
                  <a:pt x="0" y="13045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11" name="p8_path">
            <a:extLst xmlns:a="http://schemas.openxmlformats.org/drawingml/2006/main">
              <a:ext uri="{FF2B5EF4-FFF2-40B4-BE49-F238E27FC236}">
                <a16:creationId xmlns:a16="http://schemas.microsoft.com/office/drawing/2014/main" id="{842239F8-F62F-445A-B766-A1A3D19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078" y="1573530"/>
            <a:ext cx="667" cy="300037"/>
          </a:xfrm>
          <a:custGeom xmlns:a="http://schemas.openxmlformats.org/drawingml/2006/main">
            <a:pathLst>
              <a:path w="953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12" name="p8_path">
            <a:extLst xmlns:a="http://schemas.openxmlformats.org/drawingml/2006/main">
              <a:ext uri="{FF2B5EF4-FFF2-40B4-BE49-F238E27FC236}">
                <a16:creationId xmlns:a16="http://schemas.microsoft.com/office/drawing/2014/main" id="{841E16B7-3B93-4A04-AAE3-B2B3C94C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296" y="1573530"/>
            <a:ext cx="81563" cy="91321"/>
          </a:xfrm>
          <a:custGeom xmlns:a="http://schemas.openxmlformats.org/drawingml/2006/main">
            <a:pathLst>
              <a:path w="116518" h="130458">
                <a:moveTo>
                  <a:pt x="116518" y="130458"/>
                </a:moveTo>
                <a:lnTo>
                  <a:pt x="58259" y="0"/>
                </a:lnTo>
                <a:lnTo>
                  <a:pt x="0" y="13045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166B0"/>
            </a:solidFill>
          </a:ln>
        </p:spPr>
      </p:sp>
      <p:sp>
        <p:nvSpPr>
          <p:cNvPr id="13" name="p8_path">
            <a:extLst xmlns:a="http://schemas.openxmlformats.org/drawingml/2006/main">
              <a:ext uri="{FF2B5EF4-FFF2-40B4-BE49-F238E27FC236}">
                <a16:creationId xmlns:a16="http://schemas.microsoft.com/office/drawing/2014/main" id="{518550AA-253F-44AF-80EF-83388CB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098" y="1606868"/>
            <a:ext cx="667" cy="300037"/>
          </a:xfrm>
          <a:custGeom xmlns:a="http://schemas.openxmlformats.org/drawingml/2006/main">
            <a:pathLst>
              <a:path w="953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4" name="p8_path">
            <a:extLst xmlns:a="http://schemas.openxmlformats.org/drawingml/2006/main">
              <a:ext uri="{FF2B5EF4-FFF2-40B4-BE49-F238E27FC236}">
                <a16:creationId xmlns:a16="http://schemas.microsoft.com/office/drawing/2014/main" id="{8E73AB0E-BCE8-49AE-9DFF-B060046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16" y="1815584"/>
            <a:ext cx="81563" cy="91321"/>
          </a:xfrm>
          <a:custGeom xmlns:a="http://schemas.openxmlformats.org/drawingml/2006/main">
            <a:pathLst>
              <a:path w="116518" h="130458">
                <a:moveTo>
                  <a:pt x="0" y="0"/>
                </a:moveTo>
                <a:lnTo>
                  <a:pt x="58259" y="130458"/>
                </a:lnTo>
                <a:lnTo>
                  <a:pt x="116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5" name="p8_path">
            <a:extLst xmlns:a="http://schemas.openxmlformats.org/drawingml/2006/main">
              <a:ext uri="{FF2B5EF4-FFF2-40B4-BE49-F238E27FC236}">
                <a16:creationId xmlns:a16="http://schemas.microsoft.com/office/drawing/2014/main" id="{7018D299-20A2-405F-835A-50450B0A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098" y="2113598"/>
            <a:ext cx="667" cy="693420"/>
          </a:xfrm>
          <a:custGeom xmlns:a="http://schemas.openxmlformats.org/drawingml/2006/main">
            <a:pathLst>
              <a:path w="953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6" name="p8_path">
            <a:extLst xmlns:a="http://schemas.openxmlformats.org/drawingml/2006/main">
              <a:ext uri="{FF2B5EF4-FFF2-40B4-BE49-F238E27FC236}">
                <a16:creationId xmlns:a16="http://schemas.microsoft.com/office/drawing/2014/main" id="{5ED34B77-69EB-457D-968D-5EC2D960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16" y="2715697"/>
            <a:ext cx="81563" cy="91321"/>
          </a:xfrm>
          <a:custGeom xmlns:a="http://schemas.openxmlformats.org/drawingml/2006/main">
            <a:pathLst>
              <a:path w="116518" h="130458">
                <a:moveTo>
                  <a:pt x="0" y="0"/>
                </a:moveTo>
                <a:lnTo>
                  <a:pt x="58259" y="130458"/>
                </a:lnTo>
                <a:lnTo>
                  <a:pt x="116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7" name="p8_path">
            <a:extLst xmlns:a="http://schemas.openxmlformats.org/drawingml/2006/main">
              <a:ext uri="{FF2B5EF4-FFF2-40B4-BE49-F238E27FC236}">
                <a16:creationId xmlns:a16="http://schemas.microsoft.com/office/drawing/2014/main" id="{24615BFE-B44E-402F-A6C1-C9DBA19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098" y="2973705"/>
            <a:ext cx="667" cy="373380"/>
          </a:xfrm>
          <a:custGeom xmlns:a="http://schemas.openxmlformats.org/drawingml/2006/main">
            <a:pathLst>
              <a:path w="953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8" name="p8_path">
            <a:extLst xmlns:a="http://schemas.openxmlformats.org/drawingml/2006/main">
              <a:ext uri="{FF2B5EF4-FFF2-40B4-BE49-F238E27FC236}">
                <a16:creationId xmlns:a16="http://schemas.microsoft.com/office/drawing/2014/main" id="{49CDBDC2-675D-4E8E-98D5-F0473C6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16" y="3255764"/>
            <a:ext cx="81563" cy="91321"/>
          </a:xfrm>
          <a:custGeom xmlns:a="http://schemas.openxmlformats.org/drawingml/2006/main">
            <a:pathLst>
              <a:path w="116518" h="130458">
                <a:moveTo>
                  <a:pt x="0" y="0"/>
                </a:moveTo>
                <a:lnTo>
                  <a:pt x="58259" y="130458"/>
                </a:lnTo>
                <a:lnTo>
                  <a:pt x="116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19" name="p8_path">
            <a:extLst xmlns:a="http://schemas.openxmlformats.org/drawingml/2006/main">
              <a:ext uri="{FF2B5EF4-FFF2-40B4-BE49-F238E27FC236}">
                <a16:creationId xmlns:a16="http://schemas.microsoft.com/office/drawing/2014/main" id="{9A041DD1-EF45-4C93-A43B-4C12AE92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098" y="3553778"/>
            <a:ext cx="667" cy="440055"/>
          </a:xfrm>
          <a:custGeom xmlns:a="http://schemas.openxmlformats.org/drawingml/2006/main">
            <a:pathLst>
              <a:path w="953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20" name="p8_path">
            <a:extLst xmlns:a="http://schemas.openxmlformats.org/drawingml/2006/main">
              <a:ext uri="{FF2B5EF4-FFF2-40B4-BE49-F238E27FC236}">
                <a16:creationId xmlns:a16="http://schemas.microsoft.com/office/drawing/2014/main" id="{53FCA80C-02A0-4DA4-92B6-3131CCB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16" y="3902512"/>
            <a:ext cx="81563" cy="91321"/>
          </a:xfrm>
          <a:custGeom xmlns:a="http://schemas.openxmlformats.org/drawingml/2006/main">
            <a:pathLst>
              <a:path w="116518" h="130458">
                <a:moveTo>
                  <a:pt x="0" y="0"/>
                </a:moveTo>
                <a:lnTo>
                  <a:pt x="58259" y="130458"/>
                </a:lnTo>
                <a:lnTo>
                  <a:pt x="116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56A"/>
            </a:solidFill>
          </a:ln>
        </p:spPr>
      </p:sp>
      <p:sp>
        <p:nvSpPr>
          <p:cNvPr id="21" name="p8_rect_20">
            <a:extLst xmlns:a="http://schemas.openxmlformats.org/drawingml/2006/main">
              <a:ext uri="{FF2B5EF4-FFF2-40B4-BE49-F238E27FC236}">
                <a16:creationId xmlns:a16="http://schemas.microsoft.com/office/drawing/2014/main" id="{12729B69-B105-4AB4-BE12-E7525A3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3" y="2353628"/>
            <a:ext cx="760095" cy="440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22" name="p8_ellipse_21">
            <a:extLst xmlns:a="http://schemas.openxmlformats.org/drawingml/2006/main">
              <a:ext uri="{FF2B5EF4-FFF2-40B4-BE49-F238E27FC236}">
                <a16:creationId xmlns:a16="http://schemas.microsoft.com/office/drawing/2014/main" id="{D248937A-0493-4536-A23D-3847A550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2446973"/>
            <a:ext cx="206693" cy="2066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66B0"/>
            </a:solidFill>
          </a:ln>
        </p:spPr>
      </p:sp>
      <p:sp>
        <p:nvSpPr>
          <p:cNvPr id="23" name="p8_path">
            <a:extLst xmlns:a="http://schemas.openxmlformats.org/drawingml/2006/main">
              <a:ext uri="{FF2B5EF4-FFF2-40B4-BE49-F238E27FC236}">
                <a16:creationId xmlns:a16="http://schemas.microsoft.com/office/drawing/2014/main" id="{F6DC58AB-6A6F-4657-B44B-A57ED45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" y="2460308"/>
            <a:ext cx="226695" cy="667"/>
          </a:xfrm>
          <a:custGeom xmlns:a="http://schemas.openxmlformats.org/drawingml/2006/main">
            <a:pathLst>
              <a:path w="323850" h="953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66B0"/>
            </a:solidFill>
          </a:ln>
        </p:spPr>
      </p:sp>
      <p:sp>
        <p:nvSpPr>
          <p:cNvPr id="24" name="p8_path">
            <a:extLst xmlns:a="http://schemas.openxmlformats.org/drawingml/2006/main">
              <a:ext uri="{FF2B5EF4-FFF2-40B4-BE49-F238E27FC236}">
                <a16:creationId xmlns:a16="http://schemas.microsoft.com/office/drawing/2014/main" id="{85AEC390-B061-47C3-B2F5-FB43BCCE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" y="2580323"/>
            <a:ext cx="226695" cy="667"/>
          </a:xfrm>
          <a:custGeom xmlns:a="http://schemas.openxmlformats.org/drawingml/2006/main">
            <a:pathLst>
              <a:path w="323850" h="953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166B0"/>
            </a:solidFill>
          </a:ln>
        </p:spPr>
      </p:sp>
      <p:sp>
        <p:nvSpPr>
          <p:cNvPr id="25" name="p8_rect_24">
            <a:extLst xmlns:a="http://schemas.openxmlformats.org/drawingml/2006/main">
              <a:ext uri="{FF2B5EF4-FFF2-40B4-BE49-F238E27FC236}">
                <a16:creationId xmlns:a16="http://schemas.microsoft.com/office/drawing/2014/main" id="{264A9E5B-53C0-4A8C-B2F5-C2CC9BD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13" y="2360295"/>
            <a:ext cx="100013" cy="440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19050">
            <a:solidFill>
              <a:srgbClr val="3166B0"/>
            </a:solidFill>
          </a:ln>
        </p:spPr>
      </p:sp>
      <p:sp>
        <p:nvSpPr>
          <p:cNvPr id="26" name="p8_path">
            <a:extLst xmlns:a="http://schemas.openxmlformats.org/drawingml/2006/main">
              <a:ext uri="{FF2B5EF4-FFF2-40B4-BE49-F238E27FC236}">
                <a16:creationId xmlns:a16="http://schemas.microsoft.com/office/drawing/2014/main" id="{F990DAD9-ADEC-4CB4-9395-6B59E89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85" y="2233613"/>
            <a:ext cx="560070" cy="560070"/>
          </a:xfrm>
          <a:custGeom xmlns:a="http://schemas.openxmlformats.org/drawingml/2006/main">
            <a:pathLst>
              <a:path w="800100" h="800100">
                <a:moveTo>
                  <a:pt x="0" y="80010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0252B"/>
            </a:solidFill>
          </a:ln>
        </p:spPr>
      </p:sp>
      <p:sp>
        <p:nvSpPr>
          <p:cNvPr id="27" name="p8_path">
            <a:extLst xmlns:a="http://schemas.openxmlformats.org/drawingml/2006/main">
              <a:ext uri="{FF2B5EF4-FFF2-40B4-BE49-F238E27FC236}">
                <a16:creationId xmlns:a16="http://schemas.microsoft.com/office/drawing/2014/main" id="{7046D1D2-67AD-4275-8D21-64510EBB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85" y="2233613"/>
            <a:ext cx="560070" cy="560070"/>
          </a:xfrm>
          <a:custGeom xmlns:a="http://schemas.openxmlformats.org/drawingml/2006/main">
            <a:pathLst>
              <a:path w="800100" h="800100">
                <a:moveTo>
                  <a:pt x="0" y="80010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AB2BA"/>
            </a:solidFill>
          </a:ln>
        </p:spPr>
      </p:sp>
      <p:sp>
        <p:nvSpPr>
          <p:cNvPr id="28" name="p8_path">
            <a:extLst xmlns:a="http://schemas.openxmlformats.org/drawingml/2006/main">
              <a:ext uri="{FF2B5EF4-FFF2-40B4-BE49-F238E27FC236}">
                <a16:creationId xmlns:a16="http://schemas.microsoft.com/office/drawing/2014/main" id="{E7DC2065-989A-467A-85F8-3BD1DB2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393" y="1813560"/>
            <a:ext cx="440055" cy="266700"/>
          </a:xfrm>
          <a:custGeom xmlns:a="http://schemas.openxmlformats.org/drawingml/2006/main">
            <a:pathLst>
              <a:path w="628650" h="381000">
                <a:moveTo>
                  <a:pt x="0" y="0"/>
                </a:moveTo>
                <a:lnTo>
                  <a:pt x="628650" y="0"/>
                </a:lnTo>
                <a:lnTo>
                  <a:pt x="600075" y="381000"/>
                </a:lnTo>
                <a:lnTo>
                  <a:pt x="47625" y="381000"/>
                </a:lnTo>
                <a:close/>
              </a:path>
            </a:pathLst>
          </a:cu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29" name="p8_path">
            <a:extLst xmlns:a="http://schemas.openxmlformats.org/drawingml/2006/main">
              <a:ext uri="{FF2B5EF4-FFF2-40B4-BE49-F238E27FC236}">
                <a16:creationId xmlns:a16="http://schemas.microsoft.com/office/drawing/2014/main" id="{4EA115BA-FC0D-4DE4-AE7E-A7E7AC09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68" y="2080260"/>
            <a:ext cx="313373" cy="667"/>
          </a:xfrm>
          <a:custGeom xmlns:a="http://schemas.openxmlformats.org/drawingml/2006/main">
            <a:pathLst>
              <a:path w="447675" h="953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636E"/>
            </a:solidFill>
          </a:ln>
        </p:spPr>
      </p:sp>
      <p:sp>
        <p:nvSpPr>
          <p:cNvPr id="30" name="p8_rect_29">
            <a:extLst xmlns:a="http://schemas.openxmlformats.org/drawingml/2006/main">
              <a:ext uri="{FF2B5EF4-FFF2-40B4-BE49-F238E27FC236}">
                <a16:creationId xmlns:a16="http://schemas.microsoft.com/office/drawing/2014/main" id="{A28C0834-2328-4BED-A5F7-362B67C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707" y="1453515"/>
            <a:ext cx="71342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1" name="p8_ellipse_30">
            <a:extLst xmlns:a="http://schemas.openxmlformats.org/drawingml/2006/main">
              <a:ext uri="{FF2B5EF4-FFF2-40B4-BE49-F238E27FC236}">
                <a16:creationId xmlns:a16="http://schemas.microsoft.com/office/drawing/2014/main" id="{541B96DA-22E7-48D6-90EA-098DBF0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15" y="1406843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6A"/>
          </a:solidFill>
          <a:ln xmlns:a="http://schemas.openxmlformats.org/drawingml/2006/main" w="0">
            <a:noFill/>
          </a:ln>
        </p:spPr>
      </p:sp>
      <p:sp>
        <p:nvSpPr>
          <p:cNvPr id="32" name="p8_rect_31">
            <a:extLst xmlns:a="http://schemas.openxmlformats.org/drawingml/2006/main">
              <a:ext uri="{FF2B5EF4-FFF2-40B4-BE49-F238E27FC236}">
                <a16:creationId xmlns:a16="http://schemas.microsoft.com/office/drawing/2014/main" id="{A20CC513-AFD5-43A9-9913-F7EFF14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395" y="2827020"/>
            <a:ext cx="573405" cy="93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00856A"/>
            </a:solidFill>
          </a:ln>
        </p:spPr>
      </p:sp>
      <p:sp>
        <p:nvSpPr>
          <p:cNvPr id="33" name="p8_ellipse_32">
            <a:extLst xmlns:a="http://schemas.openxmlformats.org/drawingml/2006/main">
              <a:ext uri="{FF2B5EF4-FFF2-40B4-BE49-F238E27FC236}">
                <a16:creationId xmlns:a16="http://schemas.microsoft.com/office/drawing/2014/main" id="{655B54E9-7FA0-4314-9A03-5EF4E0D2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407093"/>
            <a:ext cx="593408" cy="113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1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4" name="p8_rect_33">
            <a:extLst xmlns:a="http://schemas.openxmlformats.org/drawingml/2006/main">
              <a:ext uri="{FF2B5EF4-FFF2-40B4-BE49-F238E27FC236}">
                <a16:creationId xmlns:a16="http://schemas.microsoft.com/office/drawing/2014/main" id="{09D62A18-101B-418A-99B8-BDD9C62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723" y="4033838"/>
            <a:ext cx="680085" cy="4200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5" name="p8_rect_34">
            <a:extLst xmlns:a="http://schemas.openxmlformats.org/drawingml/2006/main">
              <a:ext uri="{FF2B5EF4-FFF2-40B4-BE49-F238E27FC236}">
                <a16:creationId xmlns:a16="http://schemas.microsoft.com/office/drawing/2014/main" id="{694E2FF8-28BA-4E34-98D1-04712746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0" y="4107180"/>
            <a:ext cx="280035" cy="240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3"/>
          </a:solidFill>
          <a:ln xmlns:a="http://schemas.openxmlformats.org/drawingml/2006/main" w="14288">
            <a:solidFill>
              <a:srgbClr val="00856A"/>
            </a:solidFill>
          </a:ln>
        </p:spPr>
      </p:sp>
      <p:sp>
        <p:nvSpPr>
          <p:cNvPr id="36" name="p8_path">
            <a:extLst xmlns:a="http://schemas.openxmlformats.org/drawingml/2006/main">
              <a:ext uri="{FF2B5EF4-FFF2-40B4-BE49-F238E27FC236}">
                <a16:creationId xmlns:a16="http://schemas.microsoft.com/office/drawing/2014/main" id="{95C95547-CA62-462D-99D2-28610FE2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5" y="4133850"/>
            <a:ext cx="146685" cy="667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7" name="p8_path">
            <a:extLst xmlns:a="http://schemas.openxmlformats.org/drawingml/2006/main">
              <a:ext uri="{FF2B5EF4-FFF2-40B4-BE49-F238E27FC236}">
                <a16:creationId xmlns:a16="http://schemas.microsoft.com/office/drawing/2014/main" id="{94F5E7E0-DE1F-4C00-A937-8B62B3B3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5" y="4220528"/>
            <a:ext cx="146685" cy="667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8" name="p8_path">
            <a:extLst xmlns:a="http://schemas.openxmlformats.org/drawingml/2006/main">
              <a:ext uri="{FF2B5EF4-FFF2-40B4-BE49-F238E27FC236}">
                <a16:creationId xmlns:a16="http://schemas.microsoft.com/office/drawing/2014/main" id="{239B2CB4-B5B5-442A-A582-B0F7E3FC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5" y="4307205"/>
            <a:ext cx="146685" cy="667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39" name="p8_textbox_38">
            <a:extLst xmlns:a="http://schemas.openxmlformats.org/drawingml/2006/main">
              <a:ext uri="{FF2B5EF4-FFF2-40B4-BE49-F238E27FC236}">
                <a16:creationId xmlns:a16="http://schemas.microsoft.com/office/drawing/2014/main" id="{31C3ECF2-DC1D-4CC5-887C-5813CA1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920365"/>
            <a:ext cx="1566863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Light source</a:t>
            </a:r>
          </a:p>
        </p:txBody>
      </p:sp>
      <p:sp>
        <p:nvSpPr>
          <p:cNvPr id="40" name="p8_textbox_39">
            <a:extLst xmlns:a="http://schemas.openxmlformats.org/drawingml/2006/main">
              <a:ext uri="{FF2B5EF4-FFF2-40B4-BE49-F238E27FC236}">
                <a16:creationId xmlns:a16="http://schemas.microsoft.com/office/drawing/2014/main" id="{E49FCCD8-E2EA-4818-A3B2-464E115F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3" y="3193732"/>
            <a:ext cx="123348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光源</a:t>
            </a:r>
          </a:p>
        </p:txBody>
      </p:sp>
      <p:sp>
        <p:nvSpPr>
          <p:cNvPr id="41" name="p8_textbox_40">
            <a:extLst xmlns:a="http://schemas.openxmlformats.org/drawingml/2006/main">
              <a:ext uri="{FF2B5EF4-FFF2-40B4-BE49-F238E27FC236}">
                <a16:creationId xmlns:a16="http://schemas.microsoft.com/office/drawing/2014/main" id="{CEADCD4F-DB96-49EA-B62A-DA268E5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20365"/>
            <a:ext cx="1813560" cy="246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Excitation filter</a:t>
            </a:r>
          </a:p>
        </p:txBody>
      </p:sp>
      <p:sp>
        <p:nvSpPr>
          <p:cNvPr id="42" name="p8_textbox_41">
            <a:extLst xmlns:a="http://schemas.openxmlformats.org/drawingml/2006/main">
              <a:ext uri="{FF2B5EF4-FFF2-40B4-BE49-F238E27FC236}">
                <a16:creationId xmlns:a16="http://schemas.microsoft.com/office/drawing/2014/main" id="{8D31D410-9054-491B-9F25-A1AA15B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7" y="3193732"/>
            <a:ext cx="1546860" cy="22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激发滤光片</a:t>
            </a:r>
          </a:p>
        </p:txBody>
      </p:sp>
      <p:sp>
        <p:nvSpPr>
          <p:cNvPr id="43" name="p8_textbox_42">
            <a:extLst xmlns:a="http://schemas.openxmlformats.org/drawingml/2006/main">
              <a:ext uri="{FF2B5EF4-FFF2-40B4-BE49-F238E27FC236}">
                <a16:creationId xmlns:a16="http://schemas.microsoft.com/office/drawing/2014/main" id="{A34398A7-FBDF-489D-B76E-CE5A2D4A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1333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Sample  样品</a:t>
            </a:r>
          </a:p>
        </p:txBody>
      </p:sp>
      <p:sp>
        <p:nvSpPr>
          <p:cNvPr id="44" name="p8_textbox_43">
            <a:extLst xmlns:a="http://schemas.openxmlformats.org/drawingml/2006/main">
              <a:ext uri="{FF2B5EF4-FFF2-40B4-BE49-F238E27FC236}">
                <a16:creationId xmlns:a16="http://schemas.microsoft.com/office/drawing/2014/main" id="{2E309C3B-C896-4160-8C48-F7811B0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1800225"/>
            <a:ext cx="2867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Objective  物镜</a:t>
            </a:r>
          </a:p>
        </p:txBody>
      </p:sp>
      <p:sp>
        <p:nvSpPr>
          <p:cNvPr id="45" name="p8_textbox_44">
            <a:extLst xmlns:a="http://schemas.openxmlformats.org/drawingml/2006/main">
              <a:ext uri="{FF2B5EF4-FFF2-40B4-BE49-F238E27FC236}">
                <a16:creationId xmlns:a16="http://schemas.microsoft.com/office/drawing/2014/main" id="{5EAF6D8C-D0C7-4D76-AAC3-E191D10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2100263"/>
            <a:ext cx="297370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激发与收集共用物镜</a:t>
            </a:r>
          </a:p>
        </p:txBody>
      </p:sp>
      <p:sp>
        <p:nvSpPr>
          <p:cNvPr id="46" name="p8_textbox_45">
            <a:extLst xmlns:a="http://schemas.openxmlformats.org/drawingml/2006/main">
              <a:ext uri="{FF2B5EF4-FFF2-40B4-BE49-F238E27FC236}">
                <a16:creationId xmlns:a16="http://schemas.microsoft.com/office/drawing/2014/main" id="{433C7CCB-0C95-42AC-BA47-34419C02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183" y="2440305"/>
            <a:ext cx="300704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Dichroic mirror  二向色镜</a:t>
            </a:r>
          </a:p>
        </p:txBody>
      </p:sp>
      <p:sp>
        <p:nvSpPr>
          <p:cNvPr id="47" name="p8_textbox_46">
            <a:extLst xmlns:a="http://schemas.openxmlformats.org/drawingml/2006/main">
              <a:ext uri="{FF2B5EF4-FFF2-40B4-BE49-F238E27FC236}">
                <a16:creationId xmlns:a16="http://schemas.microsoft.com/office/drawing/2014/main" id="{7BFF6F9D-C9E4-47A5-A6A3-C2182E7F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2253615"/>
            <a:ext cx="11201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rPr>
              <a:t>反射激发光</a:t>
            </a:r>
          </a:p>
        </p:txBody>
      </p:sp>
      <p:sp>
        <p:nvSpPr>
          <p:cNvPr id="48" name="p8_textbox_47">
            <a:extLst xmlns:a="http://schemas.openxmlformats.org/drawingml/2006/main">
              <a:ext uri="{FF2B5EF4-FFF2-40B4-BE49-F238E27FC236}">
                <a16:creationId xmlns:a16="http://schemas.microsoft.com/office/drawing/2014/main" id="{E645020A-6743-4881-9FF6-89DCC78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927" y="2780348"/>
            <a:ext cx="1033463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透射荧光</a:t>
            </a:r>
          </a:p>
        </p:txBody>
      </p:sp>
      <p:sp>
        <p:nvSpPr>
          <p:cNvPr id="49" name="p8_textbox_48">
            <a:extLst xmlns:a="http://schemas.openxmlformats.org/drawingml/2006/main">
              <a:ext uri="{FF2B5EF4-FFF2-40B4-BE49-F238E27FC236}">
                <a16:creationId xmlns:a16="http://schemas.microsoft.com/office/drawing/2014/main" id="{B5905638-FDC1-4D0C-ABC2-E596A10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2780348"/>
            <a:ext cx="31203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Emission filter  发射滤光片</a:t>
            </a:r>
          </a:p>
        </p:txBody>
      </p:sp>
      <p:sp>
        <p:nvSpPr>
          <p:cNvPr id="50" name="p8_textbox_49">
            <a:extLst xmlns:a="http://schemas.openxmlformats.org/drawingml/2006/main">
              <a:ext uri="{FF2B5EF4-FFF2-40B4-BE49-F238E27FC236}">
                <a16:creationId xmlns:a16="http://schemas.microsoft.com/office/drawing/2014/main" id="{B052150F-D1DC-4B27-8A23-166B504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3260407"/>
            <a:ext cx="313372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Tube lens / imaging optics</a:t>
            </a:r>
          </a:p>
        </p:txBody>
      </p:sp>
      <p:sp>
        <p:nvSpPr>
          <p:cNvPr id="51" name="p8_textbox_50">
            <a:extLst xmlns:a="http://schemas.openxmlformats.org/drawingml/2006/main">
              <a:ext uri="{FF2B5EF4-FFF2-40B4-BE49-F238E27FC236}">
                <a16:creationId xmlns:a16="http://schemas.microsoft.com/office/drawing/2014/main" id="{32B80D31-D82C-4EC6-96A9-7C000D6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3513773"/>
            <a:ext cx="2933700" cy="22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筒镜／成像镜组</a:t>
            </a:r>
          </a:p>
        </p:txBody>
      </p:sp>
      <p:sp>
        <p:nvSpPr>
          <p:cNvPr id="52" name="p8_textbox_51">
            <a:extLst xmlns:a="http://schemas.openxmlformats.org/drawingml/2006/main">
              <a:ext uri="{FF2B5EF4-FFF2-40B4-BE49-F238E27FC236}">
                <a16:creationId xmlns:a16="http://schemas.microsoft.com/office/drawing/2014/main" id="{B697106E-65A0-461A-B601-D37A880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4020502"/>
            <a:ext cx="3000375" cy="246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Detector  探测器</a:t>
            </a:r>
          </a:p>
        </p:txBody>
      </p:sp>
      <p:sp>
        <p:nvSpPr>
          <p:cNvPr id="53" name="p8_textbox_52">
            <a:extLst xmlns:a="http://schemas.openxmlformats.org/drawingml/2006/main">
              <a:ext uri="{FF2B5EF4-FFF2-40B4-BE49-F238E27FC236}">
                <a16:creationId xmlns:a16="http://schemas.microsoft.com/office/drawing/2014/main" id="{8140B651-A808-4BA6-8241-C6D7A56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02" y="4313873"/>
            <a:ext cx="2940368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光信号 → 电信号</a:t>
            </a:r>
          </a:p>
        </p:txBody>
      </p:sp>
      <p:sp>
        <p:nvSpPr>
          <p:cNvPr id="54" name="p8_textbox_53">
            <a:extLst xmlns:a="http://schemas.openxmlformats.org/drawingml/2006/main">
              <a:ext uri="{FF2B5EF4-FFF2-40B4-BE49-F238E27FC236}">
                <a16:creationId xmlns:a16="http://schemas.microsoft.com/office/drawing/2014/main" id="{9444D2E4-9A20-488A-AF2A-ADF3D79C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002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3166B0"/>
                </a:solidFill>
                <a:latin typeface="Noto Sans CJK SC"/>
                <a:ea typeface="Noto Sans CJK SC"/>
                <a:cs typeface="Noto Sans CJK SC"/>
              </a:rPr>
              <a:t>激发光</a:t>
            </a:r>
          </a:p>
        </p:txBody>
      </p:sp>
      <p:sp>
        <p:nvSpPr>
          <p:cNvPr id="55" name="p8_textbox_54">
            <a:extLst xmlns:a="http://schemas.openxmlformats.org/drawingml/2006/main">
              <a:ext uri="{FF2B5EF4-FFF2-40B4-BE49-F238E27FC236}">
                <a16:creationId xmlns:a16="http://schemas.microsoft.com/office/drawing/2014/main" id="{50AEC2BF-CA1B-4C16-8223-DF53A87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693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荧光</a:t>
            </a:r>
          </a:p>
        </p:txBody>
      </p:sp>
      <p:sp>
        <p:nvSpPr>
          <p:cNvPr id="56" name="p8_textbox_55">
            <a:extLst xmlns:a="http://schemas.openxmlformats.org/drawingml/2006/main">
              <a:ext uri="{FF2B5EF4-FFF2-40B4-BE49-F238E27FC236}">
                <a16:creationId xmlns:a16="http://schemas.microsoft.com/office/drawing/2014/main" id="{945453BE-AC87-4B62-A0FE-648951F8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3893"/>
            <a:ext cx="28003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简化落射光路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97860F-646C-46C9-B987-ABB60822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23975"/>
            <a:ext cx="953" cy="4676775"/>
          </a:xfrm>
          <a:custGeom xmlns:a="http://schemas.openxmlformats.org/drawingml/2006/main">
            <a:pathLst>
              <a:path w="953" h="4676775">
                <a:moveTo>
                  <a:pt x="0" y="0"/>
                </a:moveTo>
                <a:lnTo>
                  <a:pt x="0" y="46767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5E8EB"/>
            </a:solidFill>
          </a:ln>
        </p:spPr>
      </p:sp>
      <p:sp>
        <p:nvSpPr>
          <p:cNvPr id="59" name="v2_p8_57">
            <a:extLst xmlns:a="http://schemas.openxmlformats.org/drawingml/2006/main">
              <a:ext uri="{FF2B5EF4-FFF2-40B4-BE49-F238E27FC236}">
                <a16:creationId xmlns:a16="http://schemas.microsoft.com/office/drawing/2014/main" id="{690F7398-4E53-415D-8348-01A82751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3335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光电系统关心什么？</a:t>
            </a:r>
          </a:p>
        </p:txBody>
      </p:sp>
      <p:sp>
        <p:nvSpPr>
          <p:cNvPr id="60" name="v2_p8_58">
            <a:extLst xmlns:a="http://schemas.openxmlformats.org/drawingml/2006/main">
              <a:ext uri="{FF2B5EF4-FFF2-40B4-BE49-F238E27FC236}">
                <a16:creationId xmlns:a16="http://schemas.microsoft.com/office/drawing/2014/main" id="{90CADAAC-634F-4B89-8369-C4D371C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526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Light source</a:t>
            </a:r>
          </a:p>
        </p:txBody>
      </p:sp>
      <p:sp>
        <p:nvSpPr>
          <p:cNvPr id="61" name="v2_p8_59">
            <a:extLst xmlns:a="http://schemas.openxmlformats.org/drawingml/2006/main">
              <a:ext uri="{FF2B5EF4-FFF2-40B4-BE49-F238E27FC236}">
                <a16:creationId xmlns:a16="http://schemas.microsoft.com/office/drawing/2014/main" id="{9F474654-1E2D-410C-B362-061FBF2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7647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波长、功率、稳定性</a:t>
            </a:r>
          </a:p>
        </p:txBody>
      </p:sp>
      <p:sp>
        <p:nvSpPr>
          <p:cNvPr id="62" name="v2_p8_60">
            <a:extLst xmlns:a="http://schemas.openxmlformats.org/drawingml/2006/main">
              <a:ext uri="{FF2B5EF4-FFF2-40B4-BE49-F238E27FC236}">
                <a16:creationId xmlns:a16="http://schemas.microsoft.com/office/drawing/2014/main" id="{25EDC745-9B34-462E-B58A-8B34C181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63" name="v2_p8_61">
            <a:extLst xmlns:a="http://schemas.openxmlformats.org/drawingml/2006/main">
              <a:ext uri="{FF2B5EF4-FFF2-40B4-BE49-F238E27FC236}">
                <a16:creationId xmlns:a16="http://schemas.microsoft.com/office/drawing/2014/main" id="{F077BBC9-795C-4C43-9C3D-B1F6029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48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NA：集光与分辨</a:t>
            </a:r>
          </a:p>
        </p:txBody>
      </p:sp>
      <p:sp>
        <p:nvSpPr>
          <p:cNvPr id="64" name="v2_p8_62">
            <a:extLst xmlns:a="http://schemas.openxmlformats.org/drawingml/2006/main">
              <a:ext uri="{FF2B5EF4-FFF2-40B4-BE49-F238E27FC236}">
                <a16:creationId xmlns:a16="http://schemas.microsoft.com/office/drawing/2014/main" id="{1F477B78-35F2-468C-8007-D200FE18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956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Filters / dichroic</a:t>
            </a:r>
          </a:p>
        </p:txBody>
      </p:sp>
      <p:sp>
        <p:nvSpPr>
          <p:cNvPr id="65" name="v2_p8_63">
            <a:extLst xmlns:a="http://schemas.openxmlformats.org/drawingml/2006/main">
              <a:ext uri="{FF2B5EF4-FFF2-40B4-BE49-F238E27FC236}">
                <a16:creationId xmlns:a16="http://schemas.microsoft.com/office/drawing/2014/main" id="{CA0F0218-CFCC-4ABC-99BF-BBCC8398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195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光谱选择性</a:t>
            </a:r>
          </a:p>
        </p:txBody>
      </p:sp>
      <p:sp>
        <p:nvSpPr>
          <p:cNvPr id="66" name="v2_p8_64">
            <a:extLst xmlns:a="http://schemas.openxmlformats.org/drawingml/2006/main">
              <a:ext uri="{FF2B5EF4-FFF2-40B4-BE49-F238E27FC236}">
                <a16:creationId xmlns:a16="http://schemas.microsoft.com/office/drawing/2014/main" id="{A43E4798-292C-486B-8218-879611C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6720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68" name="v2_p8_66">
            <a:extLst xmlns:a="http://schemas.openxmlformats.org/drawingml/2006/main">
              <a:ext uri="{FF2B5EF4-FFF2-40B4-BE49-F238E27FC236}">
                <a16:creationId xmlns:a16="http://schemas.microsoft.com/office/drawing/2014/main" id="{5A7BED02-E73A-4EB2-8B4E-232B46AF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387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Time-resolved detection</a:t>
            </a:r>
          </a:p>
        </p:txBody>
      </p:sp>
      <p:sp>
        <p:nvSpPr>
          <p:cNvPr id="69" name="v2_p8_67">
            <a:extLst xmlns:a="http://schemas.openxmlformats.org/drawingml/2006/main">
              <a:ext uri="{FF2B5EF4-FFF2-40B4-BE49-F238E27FC236}">
                <a16:creationId xmlns:a16="http://schemas.microsoft.com/office/drawing/2014/main" id="{6A19AF79-615F-4DDD-A452-2FB9B1E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36257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时间分辨率 / TCSPC</a:t>
            </a:r>
          </a:p>
        </p:txBody>
      </p:sp>
      <p:sp>
        <p:nvSpPr>
          <p:cNvPr id="70" name="v2_p8_68">
            <a:extLst xmlns:a="http://schemas.openxmlformats.org/drawingml/2006/main">
              <a:ext uri="{FF2B5EF4-FFF2-40B4-BE49-F238E27FC236}">
                <a16:creationId xmlns:a16="http://schemas.microsoft.com/office/drawing/2014/main" id="{0E943F80-1AFC-4B9E-930E-F31F8F3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578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工程指标示例，按测量任务选择</a:t>
            </a:r>
          </a:p>
        </p:txBody>
      </p:sp>
      <p:sp>
        <p:nvSpPr>
          <p:cNvPr id="71" name="v2_p8_69">
            <a:extLst xmlns:a="http://schemas.openxmlformats.org/drawingml/2006/main">
              <a:ext uri="{FF2B5EF4-FFF2-40B4-BE49-F238E27FC236}">
                <a16:creationId xmlns:a16="http://schemas.microsoft.com/office/drawing/2014/main" id="{57446063-7D47-45EA-ADAF-2B536B09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10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激发 → 光谱选择 → 成像 → 光电探测</a:t>
            </a:r>
          </a:p>
        </p:txBody>
      </p:sp>
      <p:sp>
        <p:nvSpPr>
          <p:cNvPr id="72" name="v2_p8_70">
            <a:extLst xmlns:a="http://schemas.openxmlformats.org/drawingml/2006/main">
              <a:ext uri="{FF2B5EF4-FFF2-40B4-BE49-F238E27FC236}">
                <a16:creationId xmlns:a16="http://schemas.microsoft.com/office/drawing/2014/main" id="{DFF10943-9ECE-4A73-ABE7-6129FFE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766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二向色镜按波长选择性反射／透射</a:t>
            </a:r>
          </a:p>
        </p:txBody>
      </p:sp>
      <p:sp>
        <p:nvSpPr>
          <p:cNvPr id="73" name="v2_p8_70">
            <a:extLst xmlns:a="http://schemas.openxmlformats.org/drawingml/2006/main">
              <a:ext uri="{FF2B5EF4-FFF2-40B4-BE49-F238E27FC236}">
                <a16:creationId xmlns:a16="http://schemas.microsoft.com/office/drawing/2014/main" id="{6A4BD106-F09F-46EE-B298-BADEEF5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9105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量子效率、SNR</a:t>
            </a:r>
          </a:p>
        </p:txBody>
      </p:sp>
      <p:sp>
        <p:nvSpPr>
          <p:cNvPr id="74" name="v2_p8_71">
            <a:extLst xmlns:a="http://schemas.openxmlformats.org/drawingml/2006/main">
              <a:ext uri="{FF2B5EF4-FFF2-40B4-BE49-F238E27FC236}">
                <a16:creationId xmlns:a16="http://schemas.microsoft.com/office/drawing/2014/main" id="{F86466E5-6E79-4796-92CB-9084AB6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591050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、帧率</a:t>
            </a:r>
          </a:p>
        </p:txBody>
      </p:sp>
    </p:spTree>
    <p:extLst>
      <p:ext uri="{BB962C8B-B14F-4D97-AF65-F5344CB8AC3E}">
        <p14:creationId xmlns:p14="http://schemas.microsoft.com/office/powerpoint/2010/main" val="1172545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9_textbox_0">
            <a:extLst xmlns:a="http://schemas.openxmlformats.org/drawingml/2006/main">
              <a:ext uri="{FF2B5EF4-FFF2-40B4-BE49-F238E27FC236}">
                <a16:creationId xmlns:a16="http://schemas.microsoft.com/office/drawing/2014/main" id="{2B4E22B5-B434-45AE-8E4C-244F1E5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为什么两个很近的点会混在一起？</a:t>
            </a:r>
          </a:p>
        </p:txBody>
      </p:sp>
      <p:sp>
        <p:nvSpPr>
          <p:cNvPr id="2" name="p9_path">
            <a:extLst xmlns:a="http://schemas.openxmlformats.org/drawingml/2006/main">
              <a:ext uri="{FF2B5EF4-FFF2-40B4-BE49-F238E27FC236}">
                <a16:creationId xmlns:a16="http://schemas.microsoft.com/office/drawing/2014/main" id="{A60580EF-7ECC-431F-B6BD-CF2421D2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9_textbox_2">
            <a:extLst xmlns:a="http://schemas.openxmlformats.org/drawingml/2006/main">
              <a:ext uri="{FF2B5EF4-FFF2-40B4-BE49-F238E27FC236}">
                <a16:creationId xmlns:a16="http://schemas.microsoft.com/office/drawing/2014/main" id="{78D9AFE4-92BA-4569-AB59-3C65749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Lelek et al., Nat. Rev. Methods Primers, 2021, Fig. 1a–b;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Lichtman &amp; Conchello, Nat. Methods, 2005. PSFs schematic; numerical example for teaching.</a:t>
            </a:r>
          </a:p>
        </p:txBody>
      </p:sp>
      <p:sp>
        <p:nvSpPr>
          <p:cNvPr id="4" name="p9_textbox_3">
            <a:extLst xmlns:a="http://schemas.openxmlformats.org/drawingml/2006/main">
              <a:ext uri="{FF2B5EF4-FFF2-40B4-BE49-F238E27FC236}">
                <a16:creationId xmlns:a16="http://schemas.microsoft.com/office/drawing/2014/main" id="{CFDA4255-BD3F-433B-A13E-9576D12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p9_textbox_4">
            <a:extLst xmlns:a="http://schemas.openxmlformats.org/drawingml/2006/main">
              <a:ext uri="{FF2B5EF4-FFF2-40B4-BE49-F238E27FC236}">
                <a16:creationId xmlns:a16="http://schemas.microsoft.com/office/drawing/2014/main" id="{58930A15-A3E9-49EA-B6B0-2E4B1A5C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119313" cy="33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2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002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6" name="p9_textbox_5">
            <a:extLst xmlns:a="http://schemas.openxmlformats.org/drawingml/2006/main">
              <a:ext uri="{FF2B5EF4-FFF2-40B4-BE49-F238E27FC236}">
                <a16:creationId xmlns:a16="http://schemas.microsoft.com/office/drawing/2014/main" id="{C14C991E-7593-4450-9A6D-96A8BE1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2629"/>
            <a:ext cx="2119313" cy="33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2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002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" name="p9_ellipse_6">
            <a:extLst xmlns:a="http://schemas.openxmlformats.org/drawingml/2006/main">
              <a:ext uri="{FF2B5EF4-FFF2-40B4-BE49-F238E27FC236}">
                <a16:creationId xmlns:a16="http://schemas.microsoft.com/office/drawing/2014/main" id="{4EACF9B9-6D7C-45FA-9E18-35A132B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402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8" name="p9_ellipse_7">
            <a:extLst xmlns:a="http://schemas.openxmlformats.org/drawingml/2006/main">
              <a:ext uri="{FF2B5EF4-FFF2-40B4-BE49-F238E27FC236}">
                <a16:creationId xmlns:a16="http://schemas.microsoft.com/office/drawing/2014/main" id="{7A5EE2CD-D25E-4356-A277-9B79D9B2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218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9" name="p9_path">
            <a:extLst xmlns:a="http://schemas.openxmlformats.org/drawingml/2006/main">
              <a:ext uri="{FF2B5EF4-FFF2-40B4-BE49-F238E27FC236}">
                <a16:creationId xmlns:a16="http://schemas.microsoft.com/office/drawing/2014/main" id="{E88A656E-A828-4C66-95C9-83AE8D9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173" y="2412016"/>
            <a:ext cx="848" cy="271272"/>
          </a:xfrm>
          <a:custGeom xmlns:a="http://schemas.openxmlformats.org/drawingml/2006/main"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0" name="p9_path">
            <a:extLst xmlns:a="http://schemas.openxmlformats.org/drawingml/2006/main">
              <a:ext uri="{FF2B5EF4-FFF2-40B4-BE49-F238E27FC236}">
                <a16:creationId xmlns:a16="http://schemas.microsoft.com/office/drawing/2014/main" id="{301F3484-5D8A-46D6-A5FA-9CE3B3A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93" y="2590402"/>
            <a:ext cx="82960" cy="92886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1" name="p9_path">
            <a:extLst xmlns:a="http://schemas.openxmlformats.org/drawingml/2006/main">
              <a:ext uri="{FF2B5EF4-FFF2-40B4-BE49-F238E27FC236}">
                <a16:creationId xmlns:a16="http://schemas.microsoft.com/office/drawing/2014/main" id="{79952D33-1179-4E92-BAE3-78F3F9C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03" y="4166807"/>
            <a:ext cx="1661541" cy="848"/>
          </a:xfrm>
          <a:custGeom xmlns:a="http://schemas.openxmlformats.org/drawingml/2006/main">
            <a:pathLst>
              <a:path w="1866900" h="953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2BA"/>
            </a:solidFill>
          </a:ln>
        </p:spPr>
      </p:sp>
      <p:sp>
        <p:nvSpPr>
          <p:cNvPr id="12" name="p9_path">
            <a:extLst xmlns:a="http://schemas.openxmlformats.org/drawingml/2006/main">
              <a:ext uri="{FF2B5EF4-FFF2-40B4-BE49-F238E27FC236}">
                <a16:creationId xmlns:a16="http://schemas.microsoft.com/office/drawing/2014/main" id="{E92B071C-2D88-4930-8C92-CDA2B0E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03" y="3464598"/>
            <a:ext cx="1661541" cy="702208"/>
          </a:xfrm>
          <a:custGeom xmlns:a="http://schemas.openxmlformats.org/drawingml/2006/main">
            <a:pathLst>
              <a:path w="1866900" h="788998">
                <a:moveTo>
                  <a:pt x="0" y="729338"/>
                </a:moveTo>
                <a:lnTo>
                  <a:pt x="21964" y="713705"/>
                </a:lnTo>
                <a:lnTo>
                  <a:pt x="43927" y="695015"/>
                </a:lnTo>
                <a:lnTo>
                  <a:pt x="65891" y="672966"/>
                </a:lnTo>
                <a:lnTo>
                  <a:pt x="87854" y="647310"/>
                </a:lnTo>
                <a:lnTo>
                  <a:pt x="109818" y="617872"/>
                </a:lnTo>
                <a:lnTo>
                  <a:pt x="131781" y="584575"/>
                </a:lnTo>
                <a:lnTo>
                  <a:pt x="153745" y="547468"/>
                </a:lnTo>
                <a:lnTo>
                  <a:pt x="175708" y="506742"/>
                </a:lnTo>
                <a:lnTo>
                  <a:pt x="197672" y="462754"/>
                </a:lnTo>
                <a:lnTo>
                  <a:pt x="219635" y="416030"/>
                </a:lnTo>
                <a:lnTo>
                  <a:pt x="241599" y="367273"/>
                </a:lnTo>
                <a:lnTo>
                  <a:pt x="263562" y="317352"/>
                </a:lnTo>
                <a:lnTo>
                  <a:pt x="285526" y="267285"/>
                </a:lnTo>
                <a:lnTo>
                  <a:pt x="307489" y="218208"/>
                </a:lnTo>
                <a:lnTo>
                  <a:pt x="329453" y="171338"/>
                </a:lnTo>
                <a:lnTo>
                  <a:pt x="351416" y="127921"/>
                </a:lnTo>
                <a:lnTo>
                  <a:pt x="373380" y="89182"/>
                </a:lnTo>
                <a:lnTo>
                  <a:pt x="395344" y="56267"/>
                </a:lnTo>
                <a:lnTo>
                  <a:pt x="417307" y="30187"/>
                </a:lnTo>
                <a:lnTo>
                  <a:pt x="439271" y="11763"/>
                </a:lnTo>
                <a:lnTo>
                  <a:pt x="461234" y="1590"/>
                </a:lnTo>
                <a:lnTo>
                  <a:pt x="483198" y="0"/>
                </a:lnTo>
                <a:lnTo>
                  <a:pt x="505161" y="7044"/>
                </a:lnTo>
                <a:lnTo>
                  <a:pt x="527125" y="22492"/>
                </a:lnTo>
                <a:lnTo>
                  <a:pt x="549088" y="45844"/>
                </a:lnTo>
                <a:lnTo>
                  <a:pt x="571052" y="76357"/>
                </a:lnTo>
                <a:lnTo>
                  <a:pt x="593015" y="113083"/>
                </a:lnTo>
                <a:lnTo>
                  <a:pt x="614979" y="154921"/>
                </a:lnTo>
                <a:lnTo>
                  <a:pt x="636942" y="200668"/>
                </a:lnTo>
                <a:lnTo>
                  <a:pt x="658906" y="249079"/>
                </a:lnTo>
                <a:lnTo>
                  <a:pt x="680869" y="298919"/>
                </a:lnTo>
                <a:lnTo>
                  <a:pt x="702833" y="349019"/>
                </a:lnTo>
                <a:lnTo>
                  <a:pt x="724796" y="398313"/>
                </a:lnTo>
                <a:lnTo>
                  <a:pt x="746760" y="445875"/>
                </a:lnTo>
                <a:lnTo>
                  <a:pt x="768724" y="490939"/>
                </a:lnTo>
                <a:lnTo>
                  <a:pt x="790687" y="532913"/>
                </a:lnTo>
                <a:lnTo>
                  <a:pt x="812651" y="571380"/>
                </a:lnTo>
                <a:lnTo>
                  <a:pt x="834614" y="606089"/>
                </a:lnTo>
                <a:lnTo>
                  <a:pt x="856578" y="636942"/>
                </a:lnTo>
                <a:lnTo>
                  <a:pt x="878541" y="663972"/>
                </a:lnTo>
                <a:lnTo>
                  <a:pt x="900505" y="687320"/>
                </a:lnTo>
                <a:lnTo>
                  <a:pt x="922468" y="707211"/>
                </a:lnTo>
                <a:lnTo>
                  <a:pt x="944432" y="723930"/>
                </a:lnTo>
                <a:lnTo>
                  <a:pt x="966395" y="737797"/>
                </a:lnTo>
                <a:lnTo>
                  <a:pt x="988359" y="749149"/>
                </a:lnTo>
                <a:lnTo>
                  <a:pt x="1010322" y="758322"/>
                </a:lnTo>
                <a:lnTo>
                  <a:pt x="1032286" y="765642"/>
                </a:lnTo>
                <a:lnTo>
                  <a:pt x="1054249" y="771410"/>
                </a:lnTo>
                <a:lnTo>
                  <a:pt x="1076213" y="775898"/>
                </a:lnTo>
                <a:lnTo>
                  <a:pt x="1098176" y="779347"/>
                </a:lnTo>
                <a:lnTo>
                  <a:pt x="1120140" y="781966"/>
                </a:lnTo>
                <a:lnTo>
                  <a:pt x="1142104" y="783930"/>
                </a:lnTo>
                <a:lnTo>
                  <a:pt x="1164067" y="785386"/>
                </a:lnTo>
                <a:lnTo>
                  <a:pt x="1186031" y="786451"/>
                </a:lnTo>
                <a:lnTo>
                  <a:pt x="1207994" y="787222"/>
                </a:lnTo>
                <a:lnTo>
                  <a:pt x="1229958" y="787773"/>
                </a:lnTo>
                <a:lnTo>
                  <a:pt x="1251921" y="788163"/>
                </a:lnTo>
                <a:lnTo>
                  <a:pt x="1273885" y="788434"/>
                </a:lnTo>
                <a:lnTo>
                  <a:pt x="1295848" y="788622"/>
                </a:lnTo>
                <a:lnTo>
                  <a:pt x="1317812" y="788750"/>
                </a:lnTo>
                <a:lnTo>
                  <a:pt x="1339775" y="788836"/>
                </a:lnTo>
                <a:lnTo>
                  <a:pt x="1361739" y="788894"/>
                </a:lnTo>
                <a:lnTo>
                  <a:pt x="1383702" y="788931"/>
                </a:lnTo>
                <a:lnTo>
                  <a:pt x="1405666" y="788956"/>
                </a:lnTo>
                <a:lnTo>
                  <a:pt x="1427629" y="788972"/>
                </a:lnTo>
                <a:lnTo>
                  <a:pt x="1449593" y="788982"/>
                </a:lnTo>
                <a:lnTo>
                  <a:pt x="1471556" y="788988"/>
                </a:lnTo>
                <a:lnTo>
                  <a:pt x="1493520" y="788992"/>
                </a:lnTo>
                <a:lnTo>
                  <a:pt x="1515484" y="788995"/>
                </a:lnTo>
                <a:lnTo>
                  <a:pt x="1537447" y="788996"/>
                </a:lnTo>
                <a:lnTo>
                  <a:pt x="1559411" y="788997"/>
                </a:lnTo>
                <a:lnTo>
                  <a:pt x="1581374" y="788998"/>
                </a:lnTo>
                <a:lnTo>
                  <a:pt x="1603338" y="788998"/>
                </a:lnTo>
                <a:lnTo>
                  <a:pt x="1625301" y="788998"/>
                </a:lnTo>
                <a:lnTo>
                  <a:pt x="1647265" y="788998"/>
                </a:lnTo>
                <a:lnTo>
                  <a:pt x="1669228" y="788998"/>
                </a:lnTo>
                <a:lnTo>
                  <a:pt x="1691192" y="788998"/>
                </a:lnTo>
                <a:lnTo>
                  <a:pt x="1713155" y="788998"/>
                </a:lnTo>
                <a:lnTo>
                  <a:pt x="1735119" y="788998"/>
                </a:lnTo>
                <a:lnTo>
                  <a:pt x="1757082" y="788998"/>
                </a:lnTo>
                <a:lnTo>
                  <a:pt x="1779046" y="788998"/>
                </a:lnTo>
                <a:lnTo>
                  <a:pt x="1801009" y="788998"/>
                </a:lnTo>
                <a:lnTo>
                  <a:pt x="1822973" y="788998"/>
                </a:lnTo>
                <a:lnTo>
                  <a:pt x="1844936" y="788998"/>
                </a:lnTo>
                <a:lnTo>
                  <a:pt x="1866900" y="78899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13" name="p9_path">
            <a:extLst xmlns:a="http://schemas.openxmlformats.org/drawingml/2006/main">
              <a:ext uri="{FF2B5EF4-FFF2-40B4-BE49-F238E27FC236}">
                <a16:creationId xmlns:a16="http://schemas.microsoft.com/office/drawing/2014/main" id="{C10C29C8-7745-4CB5-B60F-0653938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03" y="3464598"/>
            <a:ext cx="1661541" cy="702208"/>
          </a:xfrm>
          <a:custGeom xmlns:a="http://schemas.openxmlformats.org/drawingml/2006/main">
            <a:pathLst>
              <a:path w="1866900" h="788998">
                <a:moveTo>
                  <a:pt x="0" y="788998"/>
                </a:moveTo>
                <a:lnTo>
                  <a:pt x="21964" y="788998"/>
                </a:lnTo>
                <a:lnTo>
                  <a:pt x="43927" y="788998"/>
                </a:lnTo>
                <a:lnTo>
                  <a:pt x="65891" y="788998"/>
                </a:lnTo>
                <a:lnTo>
                  <a:pt x="87854" y="788998"/>
                </a:lnTo>
                <a:lnTo>
                  <a:pt x="109818" y="788998"/>
                </a:lnTo>
                <a:lnTo>
                  <a:pt x="131781" y="788998"/>
                </a:lnTo>
                <a:lnTo>
                  <a:pt x="153745" y="788998"/>
                </a:lnTo>
                <a:lnTo>
                  <a:pt x="175708" y="788998"/>
                </a:lnTo>
                <a:lnTo>
                  <a:pt x="197672" y="788998"/>
                </a:lnTo>
                <a:lnTo>
                  <a:pt x="219635" y="788998"/>
                </a:lnTo>
                <a:lnTo>
                  <a:pt x="241599" y="788998"/>
                </a:lnTo>
                <a:lnTo>
                  <a:pt x="263562" y="788998"/>
                </a:lnTo>
                <a:lnTo>
                  <a:pt x="285526" y="788998"/>
                </a:lnTo>
                <a:lnTo>
                  <a:pt x="307489" y="788997"/>
                </a:lnTo>
                <a:lnTo>
                  <a:pt x="329453" y="788996"/>
                </a:lnTo>
                <a:lnTo>
                  <a:pt x="351416" y="788995"/>
                </a:lnTo>
                <a:lnTo>
                  <a:pt x="373380" y="788992"/>
                </a:lnTo>
                <a:lnTo>
                  <a:pt x="395344" y="788988"/>
                </a:lnTo>
                <a:lnTo>
                  <a:pt x="417307" y="788982"/>
                </a:lnTo>
                <a:lnTo>
                  <a:pt x="439271" y="788972"/>
                </a:lnTo>
                <a:lnTo>
                  <a:pt x="461234" y="788956"/>
                </a:lnTo>
                <a:lnTo>
                  <a:pt x="483198" y="788931"/>
                </a:lnTo>
                <a:lnTo>
                  <a:pt x="505161" y="788894"/>
                </a:lnTo>
                <a:lnTo>
                  <a:pt x="527125" y="788836"/>
                </a:lnTo>
                <a:lnTo>
                  <a:pt x="549088" y="788750"/>
                </a:lnTo>
                <a:lnTo>
                  <a:pt x="571052" y="788622"/>
                </a:lnTo>
                <a:lnTo>
                  <a:pt x="593015" y="788434"/>
                </a:lnTo>
                <a:lnTo>
                  <a:pt x="614979" y="788163"/>
                </a:lnTo>
                <a:lnTo>
                  <a:pt x="636942" y="787773"/>
                </a:lnTo>
                <a:lnTo>
                  <a:pt x="658906" y="787222"/>
                </a:lnTo>
                <a:lnTo>
                  <a:pt x="680869" y="786451"/>
                </a:lnTo>
                <a:lnTo>
                  <a:pt x="702833" y="785386"/>
                </a:lnTo>
                <a:lnTo>
                  <a:pt x="724796" y="783930"/>
                </a:lnTo>
                <a:lnTo>
                  <a:pt x="746760" y="781966"/>
                </a:lnTo>
                <a:lnTo>
                  <a:pt x="768724" y="779347"/>
                </a:lnTo>
                <a:lnTo>
                  <a:pt x="790687" y="775898"/>
                </a:lnTo>
                <a:lnTo>
                  <a:pt x="812651" y="771410"/>
                </a:lnTo>
                <a:lnTo>
                  <a:pt x="834614" y="765642"/>
                </a:lnTo>
                <a:lnTo>
                  <a:pt x="856578" y="758322"/>
                </a:lnTo>
                <a:lnTo>
                  <a:pt x="878541" y="749149"/>
                </a:lnTo>
                <a:lnTo>
                  <a:pt x="900505" y="737797"/>
                </a:lnTo>
                <a:lnTo>
                  <a:pt x="922468" y="723930"/>
                </a:lnTo>
                <a:lnTo>
                  <a:pt x="944432" y="707211"/>
                </a:lnTo>
                <a:lnTo>
                  <a:pt x="966395" y="687320"/>
                </a:lnTo>
                <a:lnTo>
                  <a:pt x="988359" y="663972"/>
                </a:lnTo>
                <a:lnTo>
                  <a:pt x="1010322" y="636942"/>
                </a:lnTo>
                <a:lnTo>
                  <a:pt x="1032286" y="606089"/>
                </a:lnTo>
                <a:lnTo>
                  <a:pt x="1054249" y="571380"/>
                </a:lnTo>
                <a:lnTo>
                  <a:pt x="1076213" y="532913"/>
                </a:lnTo>
                <a:lnTo>
                  <a:pt x="1098176" y="490939"/>
                </a:lnTo>
                <a:lnTo>
                  <a:pt x="1120140" y="445875"/>
                </a:lnTo>
                <a:lnTo>
                  <a:pt x="1142104" y="398313"/>
                </a:lnTo>
                <a:lnTo>
                  <a:pt x="1164067" y="349019"/>
                </a:lnTo>
                <a:lnTo>
                  <a:pt x="1186031" y="298919"/>
                </a:lnTo>
                <a:lnTo>
                  <a:pt x="1207994" y="249079"/>
                </a:lnTo>
                <a:lnTo>
                  <a:pt x="1229958" y="200668"/>
                </a:lnTo>
                <a:lnTo>
                  <a:pt x="1251921" y="154921"/>
                </a:lnTo>
                <a:lnTo>
                  <a:pt x="1273885" y="113083"/>
                </a:lnTo>
                <a:lnTo>
                  <a:pt x="1295848" y="76357"/>
                </a:lnTo>
                <a:lnTo>
                  <a:pt x="1317812" y="45844"/>
                </a:lnTo>
                <a:lnTo>
                  <a:pt x="1339775" y="22492"/>
                </a:lnTo>
                <a:lnTo>
                  <a:pt x="1361739" y="7044"/>
                </a:lnTo>
                <a:lnTo>
                  <a:pt x="1383702" y="0"/>
                </a:lnTo>
                <a:lnTo>
                  <a:pt x="1405666" y="1590"/>
                </a:lnTo>
                <a:lnTo>
                  <a:pt x="1427629" y="11763"/>
                </a:lnTo>
                <a:lnTo>
                  <a:pt x="1449593" y="30187"/>
                </a:lnTo>
                <a:lnTo>
                  <a:pt x="1471556" y="56267"/>
                </a:lnTo>
                <a:lnTo>
                  <a:pt x="1493520" y="89182"/>
                </a:lnTo>
                <a:lnTo>
                  <a:pt x="1515484" y="127921"/>
                </a:lnTo>
                <a:lnTo>
                  <a:pt x="1537447" y="171338"/>
                </a:lnTo>
                <a:lnTo>
                  <a:pt x="1559411" y="218208"/>
                </a:lnTo>
                <a:lnTo>
                  <a:pt x="1581374" y="267285"/>
                </a:lnTo>
                <a:lnTo>
                  <a:pt x="1603338" y="317352"/>
                </a:lnTo>
                <a:lnTo>
                  <a:pt x="1625301" y="367273"/>
                </a:lnTo>
                <a:lnTo>
                  <a:pt x="1647265" y="416030"/>
                </a:lnTo>
                <a:lnTo>
                  <a:pt x="1669228" y="462754"/>
                </a:lnTo>
                <a:lnTo>
                  <a:pt x="1691192" y="506742"/>
                </a:lnTo>
                <a:lnTo>
                  <a:pt x="1713155" y="547468"/>
                </a:lnTo>
                <a:lnTo>
                  <a:pt x="1735119" y="584575"/>
                </a:lnTo>
                <a:lnTo>
                  <a:pt x="1757082" y="617872"/>
                </a:lnTo>
                <a:lnTo>
                  <a:pt x="1779046" y="647310"/>
                </a:lnTo>
                <a:lnTo>
                  <a:pt x="1801009" y="672966"/>
                </a:lnTo>
                <a:lnTo>
                  <a:pt x="1822973" y="695015"/>
                </a:lnTo>
                <a:lnTo>
                  <a:pt x="1844936" y="713705"/>
                </a:lnTo>
                <a:lnTo>
                  <a:pt x="1866900" y="729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14" name="p9_path">
            <a:extLst xmlns:a="http://schemas.openxmlformats.org/drawingml/2006/main">
              <a:ext uri="{FF2B5EF4-FFF2-40B4-BE49-F238E27FC236}">
                <a16:creationId xmlns:a16="http://schemas.microsoft.com/office/drawing/2014/main" id="{6D9091F6-46CA-4155-80D3-495C1B3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03" y="3464166"/>
            <a:ext cx="1661541" cy="649543"/>
          </a:xfrm>
          <a:custGeom xmlns:a="http://schemas.openxmlformats.org/drawingml/2006/main">
            <a:pathLst>
              <a:path w="1866900" h="729824">
                <a:moveTo>
                  <a:pt x="0" y="729824"/>
                </a:moveTo>
                <a:lnTo>
                  <a:pt x="20743" y="715137"/>
                </a:lnTo>
                <a:lnTo>
                  <a:pt x="41487" y="697738"/>
                </a:lnTo>
                <a:lnTo>
                  <a:pt x="62230" y="677372"/>
                </a:lnTo>
                <a:lnTo>
                  <a:pt x="82973" y="653820"/>
                </a:lnTo>
                <a:lnTo>
                  <a:pt x="103717" y="626921"/>
                </a:lnTo>
                <a:lnTo>
                  <a:pt x="124460" y="596589"/>
                </a:lnTo>
                <a:lnTo>
                  <a:pt x="145203" y="562829"/>
                </a:lnTo>
                <a:lnTo>
                  <a:pt x="165947" y="525757"/>
                </a:lnTo>
                <a:lnTo>
                  <a:pt x="186690" y="485614"/>
                </a:lnTo>
                <a:lnTo>
                  <a:pt x="207433" y="442774"/>
                </a:lnTo>
                <a:lnTo>
                  <a:pt x="228177" y="397753"/>
                </a:lnTo>
                <a:lnTo>
                  <a:pt x="248920" y="351201"/>
                </a:lnTo>
                <a:lnTo>
                  <a:pt x="269663" y="303899"/>
                </a:lnTo>
                <a:lnTo>
                  <a:pt x="290407" y="256737"/>
                </a:lnTo>
                <a:lnTo>
                  <a:pt x="311150" y="210695"/>
                </a:lnTo>
                <a:lnTo>
                  <a:pt x="331893" y="166804"/>
                </a:lnTo>
                <a:lnTo>
                  <a:pt x="352637" y="126117"/>
                </a:lnTo>
                <a:lnTo>
                  <a:pt x="373380" y="89662"/>
                </a:lnTo>
                <a:lnTo>
                  <a:pt x="394123" y="58402"/>
                </a:lnTo>
                <a:lnTo>
                  <a:pt x="414867" y="33190"/>
                </a:lnTo>
                <a:lnTo>
                  <a:pt x="435610" y="14736"/>
                </a:lnTo>
                <a:lnTo>
                  <a:pt x="456353" y="3565"/>
                </a:lnTo>
                <a:lnTo>
                  <a:pt x="477097" y="0"/>
                </a:lnTo>
                <a:lnTo>
                  <a:pt x="497840" y="4141"/>
                </a:lnTo>
                <a:lnTo>
                  <a:pt x="518583" y="15861"/>
                </a:lnTo>
                <a:lnTo>
                  <a:pt x="539327" y="34813"/>
                </a:lnTo>
                <a:lnTo>
                  <a:pt x="560070" y="60441"/>
                </a:lnTo>
                <a:lnTo>
                  <a:pt x="580813" y="92011"/>
                </a:lnTo>
                <a:lnTo>
                  <a:pt x="601557" y="128639"/>
                </a:lnTo>
                <a:lnTo>
                  <a:pt x="622300" y="169333"/>
                </a:lnTo>
                <a:lnTo>
                  <a:pt x="643043" y="213028"/>
                </a:lnTo>
                <a:lnTo>
                  <a:pt x="663787" y="258634"/>
                </a:lnTo>
                <a:lnTo>
                  <a:pt x="684530" y="305066"/>
                </a:lnTo>
                <a:lnTo>
                  <a:pt x="705273" y="351288"/>
                </a:lnTo>
                <a:lnTo>
                  <a:pt x="726017" y="396333"/>
                </a:lnTo>
                <a:lnTo>
                  <a:pt x="746760" y="439329"/>
                </a:lnTo>
                <a:lnTo>
                  <a:pt x="767503" y="479512"/>
                </a:lnTo>
                <a:lnTo>
                  <a:pt x="788247" y="516232"/>
                </a:lnTo>
                <a:lnTo>
                  <a:pt x="808990" y="548953"/>
                </a:lnTo>
                <a:lnTo>
                  <a:pt x="829733" y="577244"/>
                </a:lnTo>
                <a:lnTo>
                  <a:pt x="850477" y="600775"/>
                </a:lnTo>
                <a:lnTo>
                  <a:pt x="871220" y="619300"/>
                </a:lnTo>
                <a:lnTo>
                  <a:pt x="891963" y="632644"/>
                </a:lnTo>
                <a:lnTo>
                  <a:pt x="912707" y="640694"/>
                </a:lnTo>
                <a:lnTo>
                  <a:pt x="933450" y="643384"/>
                </a:lnTo>
                <a:lnTo>
                  <a:pt x="954193" y="640694"/>
                </a:lnTo>
                <a:lnTo>
                  <a:pt x="974937" y="632644"/>
                </a:lnTo>
                <a:lnTo>
                  <a:pt x="995680" y="619300"/>
                </a:lnTo>
                <a:lnTo>
                  <a:pt x="1016423" y="600775"/>
                </a:lnTo>
                <a:lnTo>
                  <a:pt x="1037167" y="577244"/>
                </a:lnTo>
                <a:lnTo>
                  <a:pt x="1057910" y="548953"/>
                </a:lnTo>
                <a:lnTo>
                  <a:pt x="1078653" y="516232"/>
                </a:lnTo>
                <a:lnTo>
                  <a:pt x="1099397" y="479512"/>
                </a:lnTo>
                <a:lnTo>
                  <a:pt x="1120140" y="439329"/>
                </a:lnTo>
                <a:lnTo>
                  <a:pt x="1140883" y="396333"/>
                </a:lnTo>
                <a:lnTo>
                  <a:pt x="1161627" y="351288"/>
                </a:lnTo>
                <a:lnTo>
                  <a:pt x="1182370" y="305066"/>
                </a:lnTo>
                <a:lnTo>
                  <a:pt x="1203113" y="258634"/>
                </a:lnTo>
                <a:lnTo>
                  <a:pt x="1223857" y="213028"/>
                </a:lnTo>
                <a:lnTo>
                  <a:pt x="1244600" y="169333"/>
                </a:lnTo>
                <a:lnTo>
                  <a:pt x="1265343" y="128639"/>
                </a:lnTo>
                <a:lnTo>
                  <a:pt x="1286087" y="92011"/>
                </a:lnTo>
                <a:lnTo>
                  <a:pt x="1306830" y="60441"/>
                </a:lnTo>
                <a:lnTo>
                  <a:pt x="1327573" y="34813"/>
                </a:lnTo>
                <a:lnTo>
                  <a:pt x="1348317" y="15861"/>
                </a:lnTo>
                <a:lnTo>
                  <a:pt x="1369060" y="4141"/>
                </a:lnTo>
                <a:lnTo>
                  <a:pt x="1389803" y="0"/>
                </a:lnTo>
                <a:lnTo>
                  <a:pt x="1410547" y="3565"/>
                </a:lnTo>
                <a:lnTo>
                  <a:pt x="1431290" y="14736"/>
                </a:lnTo>
                <a:lnTo>
                  <a:pt x="1452033" y="33190"/>
                </a:lnTo>
                <a:lnTo>
                  <a:pt x="1472777" y="58402"/>
                </a:lnTo>
                <a:lnTo>
                  <a:pt x="1493520" y="89662"/>
                </a:lnTo>
                <a:lnTo>
                  <a:pt x="1514263" y="126117"/>
                </a:lnTo>
                <a:lnTo>
                  <a:pt x="1535007" y="166804"/>
                </a:lnTo>
                <a:lnTo>
                  <a:pt x="1555750" y="210695"/>
                </a:lnTo>
                <a:lnTo>
                  <a:pt x="1576493" y="256737"/>
                </a:lnTo>
                <a:lnTo>
                  <a:pt x="1597237" y="303899"/>
                </a:lnTo>
                <a:lnTo>
                  <a:pt x="1617980" y="351201"/>
                </a:lnTo>
                <a:lnTo>
                  <a:pt x="1638723" y="397753"/>
                </a:lnTo>
                <a:lnTo>
                  <a:pt x="1659467" y="442774"/>
                </a:lnTo>
                <a:lnTo>
                  <a:pt x="1680210" y="485614"/>
                </a:lnTo>
                <a:lnTo>
                  <a:pt x="1700953" y="525757"/>
                </a:lnTo>
                <a:lnTo>
                  <a:pt x="1721697" y="562829"/>
                </a:lnTo>
                <a:lnTo>
                  <a:pt x="1742440" y="596589"/>
                </a:lnTo>
                <a:lnTo>
                  <a:pt x="1763183" y="626921"/>
                </a:lnTo>
                <a:lnTo>
                  <a:pt x="1783927" y="653820"/>
                </a:lnTo>
                <a:lnTo>
                  <a:pt x="1804670" y="677372"/>
                </a:lnTo>
                <a:lnTo>
                  <a:pt x="1825413" y="697738"/>
                </a:lnTo>
                <a:lnTo>
                  <a:pt x="1846157" y="715137"/>
                </a:lnTo>
                <a:lnTo>
                  <a:pt x="1866900" y="729824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56A"/>
            </a:solidFill>
          </a:ln>
        </p:spPr>
      </p:sp>
      <p:sp>
        <p:nvSpPr>
          <p:cNvPr id="15" name="p9_textbox_14">
            <a:extLst xmlns:a="http://schemas.openxmlformats.org/drawingml/2006/main">
              <a:ext uri="{FF2B5EF4-FFF2-40B4-BE49-F238E27FC236}">
                <a16:creationId xmlns:a16="http://schemas.microsoft.com/office/drawing/2014/main" id="{BCF037E2-C38F-4A81-8ABD-260214B7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03" y="4446556"/>
            <a:ext cx="1661541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大间距</a:t>
            </a:r>
          </a:p>
        </p:txBody>
      </p:sp>
      <p:sp>
        <p:nvSpPr>
          <p:cNvPr id="16" name="p9_ellipse_15">
            <a:extLst xmlns:a="http://schemas.openxmlformats.org/drawingml/2006/main">
              <a:ext uri="{FF2B5EF4-FFF2-40B4-BE49-F238E27FC236}">
                <a16:creationId xmlns:a16="http://schemas.microsoft.com/office/drawing/2014/main" id="{B904277D-B29F-4337-960B-81D98F2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80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17" name="p9_ellipse_16">
            <a:extLst xmlns:a="http://schemas.openxmlformats.org/drawingml/2006/main">
              <a:ext uri="{FF2B5EF4-FFF2-40B4-BE49-F238E27FC236}">
                <a16:creationId xmlns:a16="http://schemas.microsoft.com/office/drawing/2014/main" id="{BE3FACDE-8A07-460F-BA28-B7BECE49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9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18" name="p9_path">
            <a:extLst xmlns:a="http://schemas.openxmlformats.org/drawingml/2006/main">
              <a:ext uri="{FF2B5EF4-FFF2-40B4-BE49-F238E27FC236}">
                <a16:creationId xmlns:a16="http://schemas.microsoft.com/office/drawing/2014/main" id="{C1223257-F97A-4355-B104-05EFE910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668" y="2412016"/>
            <a:ext cx="848" cy="271272"/>
          </a:xfrm>
          <a:custGeom xmlns:a="http://schemas.openxmlformats.org/drawingml/2006/main"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19" name="p9_path">
            <a:extLst xmlns:a="http://schemas.openxmlformats.org/drawingml/2006/main">
              <a:ext uri="{FF2B5EF4-FFF2-40B4-BE49-F238E27FC236}">
                <a16:creationId xmlns:a16="http://schemas.microsoft.com/office/drawing/2014/main" id="{283B4A93-CF6A-44A1-9718-12338B9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188" y="2590402"/>
            <a:ext cx="82960" cy="92886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0" name="p9_path">
            <a:extLst xmlns:a="http://schemas.openxmlformats.org/drawingml/2006/main">
              <a:ext uri="{FF2B5EF4-FFF2-40B4-BE49-F238E27FC236}">
                <a16:creationId xmlns:a16="http://schemas.microsoft.com/office/drawing/2014/main" id="{13CF944C-8249-45DF-B47A-491135D7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97" y="4166807"/>
            <a:ext cx="1661541" cy="848"/>
          </a:xfrm>
          <a:custGeom xmlns:a="http://schemas.openxmlformats.org/drawingml/2006/main">
            <a:pathLst>
              <a:path w="1866900" h="953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2BA"/>
            </a:solidFill>
          </a:ln>
        </p:spPr>
      </p:sp>
      <p:sp>
        <p:nvSpPr>
          <p:cNvPr id="21" name="p9_path">
            <a:extLst xmlns:a="http://schemas.openxmlformats.org/drawingml/2006/main">
              <a:ext uri="{FF2B5EF4-FFF2-40B4-BE49-F238E27FC236}">
                <a16:creationId xmlns:a16="http://schemas.microsoft.com/office/drawing/2014/main" id="{BC203F4F-9736-471B-8A05-0DD56AD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97" y="3464912"/>
            <a:ext cx="1661541" cy="701894"/>
          </a:xfrm>
          <a:custGeom xmlns:a="http://schemas.openxmlformats.org/drawingml/2006/main">
            <a:pathLst>
              <a:path w="1866900" h="788645">
                <a:moveTo>
                  <a:pt x="0" y="783996"/>
                </a:moveTo>
                <a:lnTo>
                  <a:pt x="21964" y="782176"/>
                </a:lnTo>
                <a:lnTo>
                  <a:pt x="43927" y="779741"/>
                </a:lnTo>
                <a:lnTo>
                  <a:pt x="65891" y="776524"/>
                </a:lnTo>
                <a:lnTo>
                  <a:pt x="87854" y="772326"/>
                </a:lnTo>
                <a:lnTo>
                  <a:pt x="109818" y="766913"/>
                </a:lnTo>
                <a:lnTo>
                  <a:pt x="131781" y="760020"/>
                </a:lnTo>
                <a:lnTo>
                  <a:pt x="153745" y="751354"/>
                </a:lnTo>
                <a:lnTo>
                  <a:pt x="175708" y="740596"/>
                </a:lnTo>
                <a:lnTo>
                  <a:pt x="197672" y="727410"/>
                </a:lnTo>
                <a:lnTo>
                  <a:pt x="219635" y="711457"/>
                </a:lnTo>
                <a:lnTo>
                  <a:pt x="241599" y="692412"/>
                </a:lnTo>
                <a:lnTo>
                  <a:pt x="263562" y="669979"/>
                </a:lnTo>
                <a:lnTo>
                  <a:pt x="285526" y="643915"/>
                </a:lnTo>
                <a:lnTo>
                  <a:pt x="307489" y="614055"/>
                </a:lnTo>
                <a:lnTo>
                  <a:pt x="329453" y="580336"/>
                </a:lnTo>
                <a:lnTo>
                  <a:pt x="351416" y="542819"/>
                </a:lnTo>
                <a:lnTo>
                  <a:pt x="373380" y="501716"/>
                </a:lnTo>
                <a:lnTo>
                  <a:pt x="395344" y="457398"/>
                </a:lnTo>
                <a:lnTo>
                  <a:pt x="417307" y="410414"/>
                </a:lnTo>
                <a:lnTo>
                  <a:pt x="439271" y="361484"/>
                </a:lnTo>
                <a:lnTo>
                  <a:pt x="461234" y="311495"/>
                </a:lnTo>
                <a:lnTo>
                  <a:pt x="483198" y="261479"/>
                </a:lnTo>
                <a:lnTo>
                  <a:pt x="505161" y="212584"/>
                </a:lnTo>
                <a:lnTo>
                  <a:pt x="527125" y="166031"/>
                </a:lnTo>
                <a:lnTo>
                  <a:pt x="549088" y="123068"/>
                </a:lnTo>
                <a:lnTo>
                  <a:pt x="571052" y="84915"/>
                </a:lnTo>
                <a:lnTo>
                  <a:pt x="593015" y="52703"/>
                </a:lnTo>
                <a:lnTo>
                  <a:pt x="614979" y="27426"/>
                </a:lnTo>
                <a:lnTo>
                  <a:pt x="636942" y="9883"/>
                </a:lnTo>
                <a:lnTo>
                  <a:pt x="658906" y="641"/>
                </a:lnTo>
                <a:lnTo>
                  <a:pt x="680869" y="0"/>
                </a:lnTo>
                <a:lnTo>
                  <a:pt x="702833" y="7982"/>
                </a:lnTo>
                <a:lnTo>
                  <a:pt x="724796" y="24327"/>
                </a:lnTo>
                <a:lnTo>
                  <a:pt x="746760" y="48505"/>
                </a:lnTo>
                <a:lnTo>
                  <a:pt x="768724" y="79748"/>
                </a:lnTo>
                <a:lnTo>
                  <a:pt x="790687" y="117091"/>
                </a:lnTo>
                <a:lnTo>
                  <a:pt x="812651" y="159418"/>
                </a:lnTo>
                <a:lnTo>
                  <a:pt x="834614" y="205518"/>
                </a:lnTo>
                <a:lnTo>
                  <a:pt x="856578" y="254145"/>
                </a:lnTo>
                <a:lnTo>
                  <a:pt x="878541" y="304070"/>
                </a:lnTo>
                <a:lnTo>
                  <a:pt x="900505" y="354131"/>
                </a:lnTo>
                <a:lnTo>
                  <a:pt x="922468" y="403277"/>
                </a:lnTo>
                <a:lnTo>
                  <a:pt x="944432" y="450599"/>
                </a:lnTo>
                <a:lnTo>
                  <a:pt x="966395" y="495350"/>
                </a:lnTo>
                <a:lnTo>
                  <a:pt x="988359" y="536957"/>
                </a:lnTo>
                <a:lnTo>
                  <a:pt x="1010322" y="575021"/>
                </a:lnTo>
                <a:lnTo>
                  <a:pt x="1032286" y="609309"/>
                </a:lnTo>
                <a:lnTo>
                  <a:pt x="1054249" y="639739"/>
                </a:lnTo>
                <a:lnTo>
                  <a:pt x="1076213" y="666357"/>
                </a:lnTo>
                <a:lnTo>
                  <a:pt x="1098176" y="689313"/>
                </a:lnTo>
                <a:lnTo>
                  <a:pt x="1120140" y="708842"/>
                </a:lnTo>
                <a:lnTo>
                  <a:pt x="1142104" y="725232"/>
                </a:lnTo>
                <a:lnTo>
                  <a:pt x="1164067" y="738806"/>
                </a:lnTo>
                <a:lnTo>
                  <a:pt x="1186031" y="749902"/>
                </a:lnTo>
                <a:lnTo>
                  <a:pt x="1207994" y="758857"/>
                </a:lnTo>
                <a:lnTo>
                  <a:pt x="1229958" y="765993"/>
                </a:lnTo>
                <a:lnTo>
                  <a:pt x="1251921" y="771607"/>
                </a:lnTo>
                <a:lnTo>
                  <a:pt x="1273885" y="775970"/>
                </a:lnTo>
                <a:lnTo>
                  <a:pt x="1295848" y="779319"/>
                </a:lnTo>
                <a:lnTo>
                  <a:pt x="1317812" y="781858"/>
                </a:lnTo>
                <a:lnTo>
                  <a:pt x="1339775" y="783760"/>
                </a:lnTo>
                <a:lnTo>
                  <a:pt x="1361739" y="785167"/>
                </a:lnTo>
                <a:lnTo>
                  <a:pt x="1383702" y="786196"/>
                </a:lnTo>
                <a:lnTo>
                  <a:pt x="1405666" y="786939"/>
                </a:lnTo>
                <a:lnTo>
                  <a:pt x="1427629" y="787470"/>
                </a:lnTo>
                <a:lnTo>
                  <a:pt x="1449593" y="787845"/>
                </a:lnTo>
                <a:lnTo>
                  <a:pt x="1471556" y="788106"/>
                </a:lnTo>
                <a:lnTo>
                  <a:pt x="1493520" y="788286"/>
                </a:lnTo>
                <a:lnTo>
                  <a:pt x="1515484" y="788408"/>
                </a:lnTo>
                <a:lnTo>
                  <a:pt x="1537447" y="788491"/>
                </a:lnTo>
                <a:lnTo>
                  <a:pt x="1559411" y="788546"/>
                </a:lnTo>
                <a:lnTo>
                  <a:pt x="1581374" y="788582"/>
                </a:lnTo>
                <a:lnTo>
                  <a:pt x="1603338" y="788605"/>
                </a:lnTo>
                <a:lnTo>
                  <a:pt x="1625301" y="788620"/>
                </a:lnTo>
                <a:lnTo>
                  <a:pt x="1647265" y="788630"/>
                </a:lnTo>
                <a:lnTo>
                  <a:pt x="1669228" y="788636"/>
                </a:lnTo>
                <a:lnTo>
                  <a:pt x="1691192" y="788640"/>
                </a:lnTo>
                <a:lnTo>
                  <a:pt x="1713155" y="788642"/>
                </a:lnTo>
                <a:lnTo>
                  <a:pt x="1735119" y="788643"/>
                </a:lnTo>
                <a:lnTo>
                  <a:pt x="1757082" y="788644"/>
                </a:lnTo>
                <a:lnTo>
                  <a:pt x="1779046" y="788645"/>
                </a:lnTo>
                <a:lnTo>
                  <a:pt x="1801009" y="788645"/>
                </a:lnTo>
                <a:lnTo>
                  <a:pt x="1822973" y="788645"/>
                </a:lnTo>
                <a:lnTo>
                  <a:pt x="1844936" y="788645"/>
                </a:lnTo>
                <a:lnTo>
                  <a:pt x="1866900" y="788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22" name="p9_path">
            <a:extLst xmlns:a="http://schemas.openxmlformats.org/drawingml/2006/main">
              <a:ext uri="{FF2B5EF4-FFF2-40B4-BE49-F238E27FC236}">
                <a16:creationId xmlns:a16="http://schemas.microsoft.com/office/drawing/2014/main" id="{42136E87-3F8B-4A15-A60A-6985ED07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97" y="3464912"/>
            <a:ext cx="1661541" cy="701894"/>
          </a:xfrm>
          <a:custGeom xmlns:a="http://schemas.openxmlformats.org/drawingml/2006/main">
            <a:pathLst>
              <a:path w="1866900" h="788645">
                <a:moveTo>
                  <a:pt x="0" y="788645"/>
                </a:moveTo>
                <a:lnTo>
                  <a:pt x="21964" y="788645"/>
                </a:lnTo>
                <a:lnTo>
                  <a:pt x="43927" y="788645"/>
                </a:lnTo>
                <a:lnTo>
                  <a:pt x="65891" y="788645"/>
                </a:lnTo>
                <a:lnTo>
                  <a:pt x="87854" y="788645"/>
                </a:lnTo>
                <a:lnTo>
                  <a:pt x="109818" y="788644"/>
                </a:lnTo>
                <a:lnTo>
                  <a:pt x="131781" y="788643"/>
                </a:lnTo>
                <a:lnTo>
                  <a:pt x="153745" y="788642"/>
                </a:lnTo>
                <a:lnTo>
                  <a:pt x="175708" y="788640"/>
                </a:lnTo>
                <a:lnTo>
                  <a:pt x="197672" y="788636"/>
                </a:lnTo>
                <a:lnTo>
                  <a:pt x="219635" y="788630"/>
                </a:lnTo>
                <a:lnTo>
                  <a:pt x="241599" y="788620"/>
                </a:lnTo>
                <a:lnTo>
                  <a:pt x="263562" y="788605"/>
                </a:lnTo>
                <a:lnTo>
                  <a:pt x="285526" y="788582"/>
                </a:lnTo>
                <a:lnTo>
                  <a:pt x="307489" y="788546"/>
                </a:lnTo>
                <a:lnTo>
                  <a:pt x="329453" y="788491"/>
                </a:lnTo>
                <a:lnTo>
                  <a:pt x="351416" y="788408"/>
                </a:lnTo>
                <a:lnTo>
                  <a:pt x="373380" y="788286"/>
                </a:lnTo>
                <a:lnTo>
                  <a:pt x="395344" y="788106"/>
                </a:lnTo>
                <a:lnTo>
                  <a:pt x="417307" y="787845"/>
                </a:lnTo>
                <a:lnTo>
                  <a:pt x="439271" y="787470"/>
                </a:lnTo>
                <a:lnTo>
                  <a:pt x="461234" y="786939"/>
                </a:lnTo>
                <a:lnTo>
                  <a:pt x="483198" y="786196"/>
                </a:lnTo>
                <a:lnTo>
                  <a:pt x="505161" y="785167"/>
                </a:lnTo>
                <a:lnTo>
                  <a:pt x="527125" y="783760"/>
                </a:lnTo>
                <a:lnTo>
                  <a:pt x="549088" y="781858"/>
                </a:lnTo>
                <a:lnTo>
                  <a:pt x="571052" y="779319"/>
                </a:lnTo>
                <a:lnTo>
                  <a:pt x="593015" y="775970"/>
                </a:lnTo>
                <a:lnTo>
                  <a:pt x="614979" y="771607"/>
                </a:lnTo>
                <a:lnTo>
                  <a:pt x="636942" y="765993"/>
                </a:lnTo>
                <a:lnTo>
                  <a:pt x="658906" y="758857"/>
                </a:lnTo>
                <a:lnTo>
                  <a:pt x="680869" y="749902"/>
                </a:lnTo>
                <a:lnTo>
                  <a:pt x="702833" y="738806"/>
                </a:lnTo>
                <a:lnTo>
                  <a:pt x="724796" y="725232"/>
                </a:lnTo>
                <a:lnTo>
                  <a:pt x="746760" y="708842"/>
                </a:lnTo>
                <a:lnTo>
                  <a:pt x="768724" y="689313"/>
                </a:lnTo>
                <a:lnTo>
                  <a:pt x="790687" y="666357"/>
                </a:lnTo>
                <a:lnTo>
                  <a:pt x="812651" y="639739"/>
                </a:lnTo>
                <a:lnTo>
                  <a:pt x="834614" y="609309"/>
                </a:lnTo>
                <a:lnTo>
                  <a:pt x="856578" y="575021"/>
                </a:lnTo>
                <a:lnTo>
                  <a:pt x="878541" y="536957"/>
                </a:lnTo>
                <a:lnTo>
                  <a:pt x="900505" y="495350"/>
                </a:lnTo>
                <a:lnTo>
                  <a:pt x="922468" y="450599"/>
                </a:lnTo>
                <a:lnTo>
                  <a:pt x="944432" y="403277"/>
                </a:lnTo>
                <a:lnTo>
                  <a:pt x="966395" y="354131"/>
                </a:lnTo>
                <a:lnTo>
                  <a:pt x="988359" y="304070"/>
                </a:lnTo>
                <a:lnTo>
                  <a:pt x="1010322" y="254145"/>
                </a:lnTo>
                <a:lnTo>
                  <a:pt x="1032286" y="205518"/>
                </a:lnTo>
                <a:lnTo>
                  <a:pt x="1054249" y="159418"/>
                </a:lnTo>
                <a:lnTo>
                  <a:pt x="1076213" y="117091"/>
                </a:lnTo>
                <a:lnTo>
                  <a:pt x="1098176" y="79748"/>
                </a:lnTo>
                <a:lnTo>
                  <a:pt x="1120140" y="48505"/>
                </a:lnTo>
                <a:lnTo>
                  <a:pt x="1142104" y="24327"/>
                </a:lnTo>
                <a:lnTo>
                  <a:pt x="1164067" y="7982"/>
                </a:lnTo>
                <a:lnTo>
                  <a:pt x="1186031" y="0"/>
                </a:lnTo>
                <a:lnTo>
                  <a:pt x="1207994" y="641"/>
                </a:lnTo>
                <a:lnTo>
                  <a:pt x="1229958" y="9883"/>
                </a:lnTo>
                <a:lnTo>
                  <a:pt x="1251921" y="27426"/>
                </a:lnTo>
                <a:lnTo>
                  <a:pt x="1273885" y="52703"/>
                </a:lnTo>
                <a:lnTo>
                  <a:pt x="1295848" y="84915"/>
                </a:lnTo>
                <a:lnTo>
                  <a:pt x="1317812" y="123068"/>
                </a:lnTo>
                <a:lnTo>
                  <a:pt x="1339775" y="166031"/>
                </a:lnTo>
                <a:lnTo>
                  <a:pt x="1361739" y="212584"/>
                </a:lnTo>
                <a:lnTo>
                  <a:pt x="1383702" y="261479"/>
                </a:lnTo>
                <a:lnTo>
                  <a:pt x="1405666" y="311495"/>
                </a:lnTo>
                <a:lnTo>
                  <a:pt x="1427629" y="361484"/>
                </a:lnTo>
                <a:lnTo>
                  <a:pt x="1449593" y="410414"/>
                </a:lnTo>
                <a:lnTo>
                  <a:pt x="1471556" y="457398"/>
                </a:lnTo>
                <a:lnTo>
                  <a:pt x="1493520" y="501716"/>
                </a:lnTo>
                <a:lnTo>
                  <a:pt x="1515484" y="542819"/>
                </a:lnTo>
                <a:lnTo>
                  <a:pt x="1537447" y="580336"/>
                </a:lnTo>
                <a:lnTo>
                  <a:pt x="1559411" y="614055"/>
                </a:lnTo>
                <a:lnTo>
                  <a:pt x="1581374" y="643915"/>
                </a:lnTo>
                <a:lnTo>
                  <a:pt x="1603338" y="669979"/>
                </a:lnTo>
                <a:lnTo>
                  <a:pt x="1625301" y="692412"/>
                </a:lnTo>
                <a:lnTo>
                  <a:pt x="1647265" y="711457"/>
                </a:lnTo>
                <a:lnTo>
                  <a:pt x="1669228" y="727410"/>
                </a:lnTo>
                <a:lnTo>
                  <a:pt x="1691192" y="740596"/>
                </a:lnTo>
                <a:lnTo>
                  <a:pt x="1713155" y="751354"/>
                </a:lnTo>
                <a:lnTo>
                  <a:pt x="1735119" y="760020"/>
                </a:lnTo>
                <a:lnTo>
                  <a:pt x="1757082" y="766913"/>
                </a:lnTo>
                <a:lnTo>
                  <a:pt x="1779046" y="772326"/>
                </a:lnTo>
                <a:lnTo>
                  <a:pt x="1801009" y="776524"/>
                </a:lnTo>
                <a:lnTo>
                  <a:pt x="1822973" y="779741"/>
                </a:lnTo>
                <a:lnTo>
                  <a:pt x="1844936" y="782176"/>
                </a:lnTo>
                <a:lnTo>
                  <a:pt x="1866900" y="7839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23" name="p9_path">
            <a:extLst xmlns:a="http://schemas.openxmlformats.org/drawingml/2006/main">
              <a:ext uri="{FF2B5EF4-FFF2-40B4-BE49-F238E27FC236}">
                <a16:creationId xmlns:a16="http://schemas.microsoft.com/office/drawing/2014/main" id="{D0A734D0-D94F-40E4-99F6-1EE65E4A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97" y="3427686"/>
            <a:ext cx="1661541" cy="734982"/>
          </a:xfrm>
          <a:custGeom xmlns:a="http://schemas.openxmlformats.org/drawingml/2006/main">
            <a:pathLst>
              <a:path w="1866900" h="825822">
                <a:moveTo>
                  <a:pt x="0" y="825822"/>
                </a:moveTo>
                <a:lnTo>
                  <a:pt x="20743" y="824118"/>
                </a:lnTo>
                <a:lnTo>
                  <a:pt x="41487" y="821873"/>
                </a:lnTo>
                <a:lnTo>
                  <a:pt x="62230" y="818949"/>
                </a:lnTo>
                <a:lnTo>
                  <a:pt x="82973" y="815181"/>
                </a:lnTo>
                <a:lnTo>
                  <a:pt x="103717" y="810378"/>
                </a:lnTo>
                <a:lnTo>
                  <a:pt x="124460" y="804324"/>
                </a:lnTo>
                <a:lnTo>
                  <a:pt x="145203" y="796779"/>
                </a:lnTo>
                <a:lnTo>
                  <a:pt x="165947" y="787479"/>
                </a:lnTo>
                <a:lnTo>
                  <a:pt x="186690" y="776146"/>
                </a:lnTo>
                <a:lnTo>
                  <a:pt x="207433" y="762496"/>
                </a:lnTo>
                <a:lnTo>
                  <a:pt x="228177" y="746243"/>
                </a:lnTo>
                <a:lnTo>
                  <a:pt x="248920" y="727121"/>
                </a:lnTo>
                <a:lnTo>
                  <a:pt x="269663" y="704893"/>
                </a:lnTo>
                <a:lnTo>
                  <a:pt x="290407" y="679368"/>
                </a:lnTo>
                <a:lnTo>
                  <a:pt x="311150" y="650422"/>
                </a:lnTo>
                <a:lnTo>
                  <a:pt x="331893" y="618016"/>
                </a:lnTo>
                <a:lnTo>
                  <a:pt x="352637" y="582211"/>
                </a:lnTo>
                <a:lnTo>
                  <a:pt x="373380" y="543182"/>
                </a:lnTo>
                <a:lnTo>
                  <a:pt x="394123" y="501235"/>
                </a:lnTo>
                <a:lnTo>
                  <a:pt x="414867" y="456805"/>
                </a:lnTo>
                <a:lnTo>
                  <a:pt x="435610" y="410462"/>
                </a:lnTo>
                <a:lnTo>
                  <a:pt x="456353" y="362899"/>
                </a:lnTo>
                <a:lnTo>
                  <a:pt x="477097" y="314919"/>
                </a:lnTo>
                <a:lnTo>
                  <a:pt x="497840" y="267411"/>
                </a:lnTo>
                <a:lnTo>
                  <a:pt x="518583" y="221317"/>
                </a:lnTo>
                <a:lnTo>
                  <a:pt x="539327" y="177594"/>
                </a:lnTo>
                <a:lnTo>
                  <a:pt x="560070" y="137176"/>
                </a:lnTo>
                <a:lnTo>
                  <a:pt x="580813" y="100925"/>
                </a:lnTo>
                <a:lnTo>
                  <a:pt x="601557" y="69588"/>
                </a:lnTo>
                <a:lnTo>
                  <a:pt x="622300" y="43755"/>
                </a:lnTo>
                <a:lnTo>
                  <a:pt x="643043" y="23822"/>
                </a:lnTo>
                <a:lnTo>
                  <a:pt x="663787" y="9966"/>
                </a:lnTo>
                <a:lnTo>
                  <a:pt x="684530" y="2127"/>
                </a:lnTo>
                <a:lnTo>
                  <a:pt x="705273" y="0"/>
                </a:lnTo>
                <a:lnTo>
                  <a:pt x="726017" y="3049"/>
                </a:lnTo>
                <a:lnTo>
                  <a:pt x="746760" y="10527"/>
                </a:lnTo>
                <a:lnTo>
                  <a:pt x="767503" y="21509"/>
                </a:lnTo>
                <a:lnTo>
                  <a:pt x="788247" y="34940"/>
                </a:lnTo>
                <a:lnTo>
                  <a:pt x="808990" y="49686"/>
                </a:lnTo>
                <a:lnTo>
                  <a:pt x="829733" y="64598"/>
                </a:lnTo>
                <a:lnTo>
                  <a:pt x="850477" y="78567"/>
                </a:lnTo>
                <a:lnTo>
                  <a:pt x="871220" y="90592"/>
                </a:lnTo>
                <a:lnTo>
                  <a:pt x="891963" y="99827"/>
                </a:lnTo>
                <a:lnTo>
                  <a:pt x="912707" y="105634"/>
                </a:lnTo>
                <a:lnTo>
                  <a:pt x="933450" y="107615"/>
                </a:lnTo>
                <a:lnTo>
                  <a:pt x="954193" y="105634"/>
                </a:lnTo>
                <a:lnTo>
                  <a:pt x="974937" y="99827"/>
                </a:lnTo>
                <a:lnTo>
                  <a:pt x="995680" y="90592"/>
                </a:lnTo>
                <a:lnTo>
                  <a:pt x="1016423" y="78567"/>
                </a:lnTo>
                <a:lnTo>
                  <a:pt x="1037167" y="64598"/>
                </a:lnTo>
                <a:lnTo>
                  <a:pt x="1057910" y="49686"/>
                </a:lnTo>
                <a:lnTo>
                  <a:pt x="1078653" y="34940"/>
                </a:lnTo>
                <a:lnTo>
                  <a:pt x="1099397" y="21509"/>
                </a:lnTo>
                <a:lnTo>
                  <a:pt x="1120140" y="10527"/>
                </a:lnTo>
                <a:lnTo>
                  <a:pt x="1140883" y="3049"/>
                </a:lnTo>
                <a:lnTo>
                  <a:pt x="1161627" y="0"/>
                </a:lnTo>
                <a:lnTo>
                  <a:pt x="1182370" y="2127"/>
                </a:lnTo>
                <a:lnTo>
                  <a:pt x="1203113" y="9966"/>
                </a:lnTo>
                <a:lnTo>
                  <a:pt x="1223857" y="23822"/>
                </a:lnTo>
                <a:lnTo>
                  <a:pt x="1244600" y="43755"/>
                </a:lnTo>
                <a:lnTo>
                  <a:pt x="1265343" y="69588"/>
                </a:lnTo>
                <a:lnTo>
                  <a:pt x="1286087" y="100925"/>
                </a:lnTo>
                <a:lnTo>
                  <a:pt x="1306830" y="137176"/>
                </a:lnTo>
                <a:lnTo>
                  <a:pt x="1327573" y="177594"/>
                </a:lnTo>
                <a:lnTo>
                  <a:pt x="1348317" y="221317"/>
                </a:lnTo>
                <a:lnTo>
                  <a:pt x="1369060" y="267411"/>
                </a:lnTo>
                <a:lnTo>
                  <a:pt x="1389803" y="314919"/>
                </a:lnTo>
                <a:lnTo>
                  <a:pt x="1410547" y="362899"/>
                </a:lnTo>
                <a:lnTo>
                  <a:pt x="1431290" y="410462"/>
                </a:lnTo>
                <a:lnTo>
                  <a:pt x="1452033" y="456805"/>
                </a:lnTo>
                <a:lnTo>
                  <a:pt x="1472777" y="501235"/>
                </a:lnTo>
                <a:lnTo>
                  <a:pt x="1493520" y="543182"/>
                </a:lnTo>
                <a:lnTo>
                  <a:pt x="1514263" y="582211"/>
                </a:lnTo>
                <a:lnTo>
                  <a:pt x="1535007" y="618016"/>
                </a:lnTo>
                <a:lnTo>
                  <a:pt x="1555750" y="650422"/>
                </a:lnTo>
                <a:lnTo>
                  <a:pt x="1576493" y="679368"/>
                </a:lnTo>
                <a:lnTo>
                  <a:pt x="1597237" y="704893"/>
                </a:lnTo>
                <a:lnTo>
                  <a:pt x="1617980" y="727121"/>
                </a:lnTo>
                <a:lnTo>
                  <a:pt x="1638723" y="746243"/>
                </a:lnTo>
                <a:lnTo>
                  <a:pt x="1659467" y="762496"/>
                </a:lnTo>
                <a:lnTo>
                  <a:pt x="1680210" y="776146"/>
                </a:lnTo>
                <a:lnTo>
                  <a:pt x="1700953" y="787479"/>
                </a:lnTo>
                <a:lnTo>
                  <a:pt x="1721697" y="796779"/>
                </a:lnTo>
                <a:lnTo>
                  <a:pt x="1742440" y="804324"/>
                </a:lnTo>
                <a:lnTo>
                  <a:pt x="1763183" y="810378"/>
                </a:lnTo>
                <a:lnTo>
                  <a:pt x="1783927" y="815181"/>
                </a:lnTo>
                <a:lnTo>
                  <a:pt x="1804670" y="818949"/>
                </a:lnTo>
                <a:lnTo>
                  <a:pt x="1825413" y="821873"/>
                </a:lnTo>
                <a:lnTo>
                  <a:pt x="1846157" y="824118"/>
                </a:lnTo>
                <a:lnTo>
                  <a:pt x="1866900" y="825822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56A"/>
            </a:solidFill>
          </a:ln>
        </p:spPr>
      </p:sp>
      <p:sp>
        <p:nvSpPr>
          <p:cNvPr id="24" name="p9_textbox_23">
            <a:extLst xmlns:a="http://schemas.openxmlformats.org/drawingml/2006/main">
              <a:ext uri="{FF2B5EF4-FFF2-40B4-BE49-F238E27FC236}">
                <a16:creationId xmlns:a16="http://schemas.microsoft.com/office/drawing/2014/main" id="{613D80C5-7516-4A0D-9DDC-586CF1F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897" y="4446556"/>
            <a:ext cx="1661541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中间距</a:t>
            </a:r>
          </a:p>
        </p:txBody>
      </p:sp>
      <p:sp>
        <p:nvSpPr>
          <p:cNvPr id="25" name="p9_ellipse_24">
            <a:extLst xmlns:a="http://schemas.openxmlformats.org/drawingml/2006/main">
              <a:ext uri="{FF2B5EF4-FFF2-40B4-BE49-F238E27FC236}">
                <a16:creationId xmlns:a16="http://schemas.microsoft.com/office/drawing/2014/main" id="{47A7C5F1-F9CB-4A35-93E8-71FA9BA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811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26" name="p9_ellipse_25">
            <a:extLst xmlns:a="http://schemas.openxmlformats.org/drawingml/2006/main">
              <a:ext uri="{FF2B5EF4-FFF2-40B4-BE49-F238E27FC236}">
                <a16:creationId xmlns:a16="http://schemas.microsoft.com/office/drawing/2014/main" id="{9020BFC6-CACB-49F5-A798-92E0CECB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788" y="2081403"/>
            <a:ext cx="101727" cy="101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52B"/>
          </a:solidFill>
          <a:ln xmlns:a="http://schemas.openxmlformats.org/drawingml/2006/main" w="0">
            <a:noFill/>
          </a:ln>
        </p:spPr>
      </p:sp>
      <p:sp>
        <p:nvSpPr>
          <p:cNvPr id="27" name="p9_path">
            <a:extLst xmlns:a="http://schemas.openxmlformats.org/drawingml/2006/main">
              <a:ext uri="{FF2B5EF4-FFF2-40B4-BE49-F238E27FC236}">
                <a16:creationId xmlns:a16="http://schemas.microsoft.com/office/drawing/2014/main" id="{5DD1D7D9-639B-46AA-9034-579D191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162" y="2412016"/>
            <a:ext cx="848" cy="271272"/>
          </a:xfrm>
          <a:custGeom xmlns:a="http://schemas.openxmlformats.org/drawingml/2006/main"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8" name="p9_path">
            <a:extLst xmlns:a="http://schemas.openxmlformats.org/drawingml/2006/main">
              <a:ext uri="{FF2B5EF4-FFF2-40B4-BE49-F238E27FC236}">
                <a16:creationId xmlns:a16="http://schemas.microsoft.com/office/drawing/2014/main" id="{D7567F25-4365-4834-8084-43A38BA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682" y="2590402"/>
            <a:ext cx="82960" cy="92886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AB2BA"/>
            </a:solidFill>
          </a:ln>
        </p:spPr>
      </p:sp>
      <p:sp>
        <p:nvSpPr>
          <p:cNvPr id="29" name="p9_path">
            <a:extLst xmlns:a="http://schemas.openxmlformats.org/drawingml/2006/main">
              <a:ext uri="{FF2B5EF4-FFF2-40B4-BE49-F238E27FC236}">
                <a16:creationId xmlns:a16="http://schemas.microsoft.com/office/drawing/2014/main" id="{66D29026-FE39-4F5D-8733-F8DAD54A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92" y="4166807"/>
            <a:ext cx="1661541" cy="848"/>
          </a:xfrm>
          <a:custGeom xmlns:a="http://schemas.openxmlformats.org/drawingml/2006/main">
            <a:pathLst>
              <a:path w="1866900" h="953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2BA"/>
            </a:solidFill>
          </a:ln>
        </p:spPr>
      </p:sp>
      <p:sp>
        <p:nvSpPr>
          <p:cNvPr id="30" name="p9_path">
            <a:extLst xmlns:a="http://schemas.openxmlformats.org/drawingml/2006/main">
              <a:ext uri="{FF2B5EF4-FFF2-40B4-BE49-F238E27FC236}">
                <a16:creationId xmlns:a16="http://schemas.microsoft.com/office/drawing/2014/main" id="{50A4296C-DDBA-4243-876E-1E9123A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92" y="3465128"/>
            <a:ext cx="1661541" cy="701676"/>
          </a:xfrm>
          <a:custGeom xmlns:a="http://schemas.openxmlformats.org/drawingml/2006/main">
            <a:pathLst>
              <a:path w="1866900" h="788400">
                <a:moveTo>
                  <a:pt x="0" y="788056"/>
                </a:moveTo>
                <a:lnTo>
                  <a:pt x="21964" y="787882"/>
                </a:lnTo>
                <a:lnTo>
                  <a:pt x="43927" y="787629"/>
                </a:lnTo>
                <a:lnTo>
                  <a:pt x="65891" y="787266"/>
                </a:lnTo>
                <a:lnTo>
                  <a:pt x="87854" y="786751"/>
                </a:lnTo>
                <a:lnTo>
                  <a:pt x="109818" y="786028"/>
                </a:lnTo>
                <a:lnTo>
                  <a:pt x="131781" y="785028"/>
                </a:lnTo>
                <a:lnTo>
                  <a:pt x="153745" y="783657"/>
                </a:lnTo>
                <a:lnTo>
                  <a:pt x="175708" y="781804"/>
                </a:lnTo>
                <a:lnTo>
                  <a:pt x="197672" y="779326"/>
                </a:lnTo>
                <a:lnTo>
                  <a:pt x="219635" y="776055"/>
                </a:lnTo>
                <a:lnTo>
                  <a:pt x="241599" y="771789"/>
                </a:lnTo>
                <a:lnTo>
                  <a:pt x="263562" y="766294"/>
                </a:lnTo>
                <a:lnTo>
                  <a:pt x="285526" y="759302"/>
                </a:lnTo>
                <a:lnTo>
                  <a:pt x="307489" y="750517"/>
                </a:lnTo>
                <a:lnTo>
                  <a:pt x="329453" y="739619"/>
                </a:lnTo>
                <a:lnTo>
                  <a:pt x="351416" y="726274"/>
                </a:lnTo>
                <a:lnTo>
                  <a:pt x="373380" y="710141"/>
                </a:lnTo>
                <a:lnTo>
                  <a:pt x="395344" y="690897"/>
                </a:lnTo>
                <a:lnTo>
                  <a:pt x="417307" y="668248"/>
                </a:lnTo>
                <a:lnTo>
                  <a:pt x="439271" y="641955"/>
                </a:lnTo>
                <a:lnTo>
                  <a:pt x="461234" y="611860"/>
                </a:lnTo>
                <a:lnTo>
                  <a:pt x="483198" y="577904"/>
                </a:lnTo>
                <a:lnTo>
                  <a:pt x="505161" y="540161"/>
                </a:lnTo>
                <a:lnTo>
                  <a:pt x="527125" y="498848"/>
                </a:lnTo>
                <a:lnTo>
                  <a:pt x="549088" y="454350"/>
                </a:lnTo>
                <a:lnTo>
                  <a:pt x="571052" y="407224"/>
                </a:lnTo>
                <a:lnTo>
                  <a:pt x="593015" y="358202"/>
                </a:lnTo>
                <a:lnTo>
                  <a:pt x="614979" y="308180"/>
                </a:lnTo>
                <a:lnTo>
                  <a:pt x="636942" y="258199"/>
                </a:lnTo>
                <a:lnTo>
                  <a:pt x="658906" y="209411"/>
                </a:lnTo>
                <a:lnTo>
                  <a:pt x="680869" y="163043"/>
                </a:lnTo>
                <a:lnTo>
                  <a:pt x="702833" y="120340"/>
                </a:lnTo>
                <a:lnTo>
                  <a:pt x="724796" y="82519"/>
                </a:lnTo>
                <a:lnTo>
                  <a:pt x="746760" y="50705"/>
                </a:lnTo>
                <a:lnTo>
                  <a:pt x="768724" y="25881"/>
                </a:lnTo>
                <a:lnTo>
                  <a:pt x="790687" y="8832"/>
                </a:lnTo>
                <a:lnTo>
                  <a:pt x="812651" y="110"/>
                </a:lnTo>
                <a:lnTo>
                  <a:pt x="834614" y="0"/>
                </a:lnTo>
                <a:lnTo>
                  <a:pt x="856578" y="8505"/>
                </a:lnTo>
                <a:lnTo>
                  <a:pt x="878541" y="25346"/>
                </a:lnTo>
                <a:lnTo>
                  <a:pt x="900505" y="49981"/>
                </a:lnTo>
                <a:lnTo>
                  <a:pt x="922468" y="81628"/>
                </a:lnTo>
                <a:lnTo>
                  <a:pt x="944432" y="119309"/>
                </a:lnTo>
                <a:lnTo>
                  <a:pt x="966395" y="161902"/>
                </a:lnTo>
                <a:lnTo>
                  <a:pt x="988359" y="208193"/>
                </a:lnTo>
                <a:lnTo>
                  <a:pt x="1010322" y="256934"/>
                </a:lnTo>
                <a:lnTo>
                  <a:pt x="1032286" y="306900"/>
                </a:lnTo>
                <a:lnTo>
                  <a:pt x="1054249" y="356934"/>
                </a:lnTo>
                <a:lnTo>
                  <a:pt x="1076213" y="405993"/>
                </a:lnTo>
                <a:lnTo>
                  <a:pt x="1098176" y="453177"/>
                </a:lnTo>
                <a:lnTo>
                  <a:pt x="1120140" y="497750"/>
                </a:lnTo>
                <a:lnTo>
                  <a:pt x="1142104" y="539150"/>
                </a:lnTo>
                <a:lnTo>
                  <a:pt x="1164067" y="576988"/>
                </a:lnTo>
                <a:lnTo>
                  <a:pt x="1186031" y="611041"/>
                </a:lnTo>
                <a:lnTo>
                  <a:pt x="1207994" y="641235"/>
                </a:lnTo>
                <a:lnTo>
                  <a:pt x="1229958" y="667623"/>
                </a:lnTo>
                <a:lnTo>
                  <a:pt x="1251921" y="690362"/>
                </a:lnTo>
                <a:lnTo>
                  <a:pt x="1273885" y="709690"/>
                </a:lnTo>
                <a:lnTo>
                  <a:pt x="1295848" y="725898"/>
                </a:lnTo>
                <a:lnTo>
                  <a:pt x="1317812" y="739311"/>
                </a:lnTo>
                <a:lnTo>
                  <a:pt x="1339775" y="750267"/>
                </a:lnTo>
                <a:lnTo>
                  <a:pt x="1361739" y="759101"/>
                </a:lnTo>
                <a:lnTo>
                  <a:pt x="1383702" y="766135"/>
                </a:lnTo>
                <a:lnTo>
                  <a:pt x="1405666" y="771666"/>
                </a:lnTo>
                <a:lnTo>
                  <a:pt x="1427629" y="775960"/>
                </a:lnTo>
                <a:lnTo>
                  <a:pt x="1449593" y="779253"/>
                </a:lnTo>
                <a:lnTo>
                  <a:pt x="1471556" y="781749"/>
                </a:lnTo>
                <a:lnTo>
                  <a:pt x="1493520" y="783616"/>
                </a:lnTo>
                <a:lnTo>
                  <a:pt x="1515484" y="784998"/>
                </a:lnTo>
                <a:lnTo>
                  <a:pt x="1537447" y="786007"/>
                </a:lnTo>
                <a:lnTo>
                  <a:pt x="1559411" y="786735"/>
                </a:lnTo>
                <a:lnTo>
                  <a:pt x="1581374" y="787255"/>
                </a:lnTo>
                <a:lnTo>
                  <a:pt x="1603338" y="787621"/>
                </a:lnTo>
                <a:lnTo>
                  <a:pt x="1625301" y="787877"/>
                </a:lnTo>
                <a:lnTo>
                  <a:pt x="1647265" y="788052"/>
                </a:lnTo>
                <a:lnTo>
                  <a:pt x="1669228" y="788172"/>
                </a:lnTo>
                <a:lnTo>
                  <a:pt x="1691192" y="788253"/>
                </a:lnTo>
                <a:lnTo>
                  <a:pt x="1713155" y="788306"/>
                </a:lnTo>
                <a:lnTo>
                  <a:pt x="1735119" y="788341"/>
                </a:lnTo>
                <a:lnTo>
                  <a:pt x="1757082" y="788364"/>
                </a:lnTo>
                <a:lnTo>
                  <a:pt x="1779046" y="788379"/>
                </a:lnTo>
                <a:lnTo>
                  <a:pt x="1801009" y="788388"/>
                </a:lnTo>
                <a:lnTo>
                  <a:pt x="1822973" y="788394"/>
                </a:lnTo>
                <a:lnTo>
                  <a:pt x="1844936" y="788398"/>
                </a:lnTo>
                <a:lnTo>
                  <a:pt x="1866900" y="788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31" name="p9_path">
            <a:extLst xmlns:a="http://schemas.openxmlformats.org/drawingml/2006/main">
              <a:ext uri="{FF2B5EF4-FFF2-40B4-BE49-F238E27FC236}">
                <a16:creationId xmlns:a16="http://schemas.microsoft.com/office/drawing/2014/main" id="{B17C0F5C-06A5-41CA-9D8D-E85228F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92" y="3465128"/>
            <a:ext cx="1661541" cy="701676"/>
          </a:xfrm>
          <a:custGeom xmlns:a="http://schemas.openxmlformats.org/drawingml/2006/main">
            <a:pathLst>
              <a:path w="1866900" h="788400">
                <a:moveTo>
                  <a:pt x="0" y="788400"/>
                </a:moveTo>
                <a:lnTo>
                  <a:pt x="21964" y="788398"/>
                </a:lnTo>
                <a:lnTo>
                  <a:pt x="43927" y="788394"/>
                </a:lnTo>
                <a:lnTo>
                  <a:pt x="65891" y="788388"/>
                </a:lnTo>
                <a:lnTo>
                  <a:pt x="87854" y="788379"/>
                </a:lnTo>
                <a:lnTo>
                  <a:pt x="109818" y="788364"/>
                </a:lnTo>
                <a:lnTo>
                  <a:pt x="131781" y="788341"/>
                </a:lnTo>
                <a:lnTo>
                  <a:pt x="153745" y="788306"/>
                </a:lnTo>
                <a:lnTo>
                  <a:pt x="175708" y="788253"/>
                </a:lnTo>
                <a:lnTo>
                  <a:pt x="197672" y="788172"/>
                </a:lnTo>
                <a:lnTo>
                  <a:pt x="219635" y="788052"/>
                </a:lnTo>
                <a:lnTo>
                  <a:pt x="241599" y="787877"/>
                </a:lnTo>
                <a:lnTo>
                  <a:pt x="263562" y="787621"/>
                </a:lnTo>
                <a:lnTo>
                  <a:pt x="285526" y="787255"/>
                </a:lnTo>
                <a:lnTo>
                  <a:pt x="307489" y="786735"/>
                </a:lnTo>
                <a:lnTo>
                  <a:pt x="329453" y="786007"/>
                </a:lnTo>
                <a:lnTo>
                  <a:pt x="351416" y="784998"/>
                </a:lnTo>
                <a:lnTo>
                  <a:pt x="373380" y="783616"/>
                </a:lnTo>
                <a:lnTo>
                  <a:pt x="395344" y="781749"/>
                </a:lnTo>
                <a:lnTo>
                  <a:pt x="417307" y="779253"/>
                </a:lnTo>
                <a:lnTo>
                  <a:pt x="439271" y="775960"/>
                </a:lnTo>
                <a:lnTo>
                  <a:pt x="461234" y="771666"/>
                </a:lnTo>
                <a:lnTo>
                  <a:pt x="483198" y="766135"/>
                </a:lnTo>
                <a:lnTo>
                  <a:pt x="505161" y="759101"/>
                </a:lnTo>
                <a:lnTo>
                  <a:pt x="527125" y="750267"/>
                </a:lnTo>
                <a:lnTo>
                  <a:pt x="549088" y="739311"/>
                </a:lnTo>
                <a:lnTo>
                  <a:pt x="571052" y="725898"/>
                </a:lnTo>
                <a:lnTo>
                  <a:pt x="593015" y="709690"/>
                </a:lnTo>
                <a:lnTo>
                  <a:pt x="614979" y="690362"/>
                </a:lnTo>
                <a:lnTo>
                  <a:pt x="636942" y="667623"/>
                </a:lnTo>
                <a:lnTo>
                  <a:pt x="658906" y="641235"/>
                </a:lnTo>
                <a:lnTo>
                  <a:pt x="680869" y="611041"/>
                </a:lnTo>
                <a:lnTo>
                  <a:pt x="702833" y="576988"/>
                </a:lnTo>
                <a:lnTo>
                  <a:pt x="724796" y="539150"/>
                </a:lnTo>
                <a:lnTo>
                  <a:pt x="746760" y="497750"/>
                </a:lnTo>
                <a:lnTo>
                  <a:pt x="768724" y="453177"/>
                </a:lnTo>
                <a:lnTo>
                  <a:pt x="790687" y="405993"/>
                </a:lnTo>
                <a:lnTo>
                  <a:pt x="812651" y="356934"/>
                </a:lnTo>
                <a:lnTo>
                  <a:pt x="834614" y="306900"/>
                </a:lnTo>
                <a:lnTo>
                  <a:pt x="856578" y="256934"/>
                </a:lnTo>
                <a:lnTo>
                  <a:pt x="878541" y="208193"/>
                </a:lnTo>
                <a:lnTo>
                  <a:pt x="900505" y="161902"/>
                </a:lnTo>
                <a:lnTo>
                  <a:pt x="922468" y="119309"/>
                </a:lnTo>
                <a:lnTo>
                  <a:pt x="944432" y="81628"/>
                </a:lnTo>
                <a:lnTo>
                  <a:pt x="966395" y="49981"/>
                </a:lnTo>
                <a:lnTo>
                  <a:pt x="988359" y="25346"/>
                </a:lnTo>
                <a:lnTo>
                  <a:pt x="1010322" y="8505"/>
                </a:lnTo>
                <a:lnTo>
                  <a:pt x="1032286" y="0"/>
                </a:lnTo>
                <a:lnTo>
                  <a:pt x="1054249" y="110"/>
                </a:lnTo>
                <a:lnTo>
                  <a:pt x="1076213" y="8832"/>
                </a:lnTo>
                <a:lnTo>
                  <a:pt x="1098176" y="25881"/>
                </a:lnTo>
                <a:lnTo>
                  <a:pt x="1120140" y="50705"/>
                </a:lnTo>
                <a:lnTo>
                  <a:pt x="1142104" y="82519"/>
                </a:lnTo>
                <a:lnTo>
                  <a:pt x="1164067" y="120340"/>
                </a:lnTo>
                <a:lnTo>
                  <a:pt x="1186031" y="163043"/>
                </a:lnTo>
                <a:lnTo>
                  <a:pt x="1207994" y="209411"/>
                </a:lnTo>
                <a:lnTo>
                  <a:pt x="1229958" y="258199"/>
                </a:lnTo>
                <a:lnTo>
                  <a:pt x="1251921" y="308180"/>
                </a:lnTo>
                <a:lnTo>
                  <a:pt x="1273885" y="358202"/>
                </a:lnTo>
                <a:lnTo>
                  <a:pt x="1295848" y="407224"/>
                </a:lnTo>
                <a:lnTo>
                  <a:pt x="1317812" y="454350"/>
                </a:lnTo>
                <a:lnTo>
                  <a:pt x="1339775" y="498848"/>
                </a:lnTo>
                <a:lnTo>
                  <a:pt x="1361739" y="540161"/>
                </a:lnTo>
                <a:lnTo>
                  <a:pt x="1383702" y="577904"/>
                </a:lnTo>
                <a:lnTo>
                  <a:pt x="1405666" y="611860"/>
                </a:lnTo>
                <a:lnTo>
                  <a:pt x="1427629" y="641955"/>
                </a:lnTo>
                <a:lnTo>
                  <a:pt x="1449593" y="668248"/>
                </a:lnTo>
                <a:lnTo>
                  <a:pt x="1471556" y="690897"/>
                </a:lnTo>
                <a:lnTo>
                  <a:pt x="1493520" y="710141"/>
                </a:lnTo>
                <a:lnTo>
                  <a:pt x="1515484" y="726274"/>
                </a:lnTo>
                <a:lnTo>
                  <a:pt x="1537447" y="739619"/>
                </a:lnTo>
                <a:lnTo>
                  <a:pt x="1559411" y="750517"/>
                </a:lnTo>
                <a:lnTo>
                  <a:pt x="1581374" y="759302"/>
                </a:lnTo>
                <a:lnTo>
                  <a:pt x="1603338" y="766294"/>
                </a:lnTo>
                <a:lnTo>
                  <a:pt x="1625301" y="771789"/>
                </a:lnTo>
                <a:lnTo>
                  <a:pt x="1647265" y="776055"/>
                </a:lnTo>
                <a:lnTo>
                  <a:pt x="1669228" y="779326"/>
                </a:lnTo>
                <a:lnTo>
                  <a:pt x="1691192" y="781804"/>
                </a:lnTo>
                <a:lnTo>
                  <a:pt x="1713155" y="783657"/>
                </a:lnTo>
                <a:lnTo>
                  <a:pt x="1735119" y="785028"/>
                </a:lnTo>
                <a:lnTo>
                  <a:pt x="1757082" y="786028"/>
                </a:lnTo>
                <a:lnTo>
                  <a:pt x="1779046" y="786751"/>
                </a:lnTo>
                <a:lnTo>
                  <a:pt x="1801009" y="787266"/>
                </a:lnTo>
                <a:lnTo>
                  <a:pt x="1822973" y="787629"/>
                </a:lnTo>
                <a:lnTo>
                  <a:pt x="1844936" y="787882"/>
                </a:lnTo>
                <a:lnTo>
                  <a:pt x="1866900" y="7880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7C6BC"/>
            </a:solidFill>
          </a:ln>
        </p:spPr>
      </p:sp>
      <p:sp>
        <p:nvSpPr>
          <p:cNvPr id="32" name="p9_path">
            <a:extLst xmlns:a="http://schemas.openxmlformats.org/drawingml/2006/main">
              <a:ext uri="{FF2B5EF4-FFF2-40B4-BE49-F238E27FC236}">
                <a16:creationId xmlns:a16="http://schemas.microsoft.com/office/drawing/2014/main" id="{D66FDC08-1477-43AA-810E-4CA16F6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92" y="2941060"/>
            <a:ext cx="1661541" cy="1225435"/>
          </a:xfrm>
          <a:custGeom xmlns:a="http://schemas.openxmlformats.org/drawingml/2006/main">
            <a:pathLst>
              <a:path w="1866900" h="1376893">
                <a:moveTo>
                  <a:pt x="0" y="1376893"/>
                </a:moveTo>
                <a:lnTo>
                  <a:pt x="20743" y="1376728"/>
                </a:lnTo>
                <a:lnTo>
                  <a:pt x="41487" y="1376493"/>
                </a:lnTo>
                <a:lnTo>
                  <a:pt x="62230" y="1376162"/>
                </a:lnTo>
                <a:lnTo>
                  <a:pt x="82973" y="1375699"/>
                </a:lnTo>
                <a:lnTo>
                  <a:pt x="103717" y="1375059"/>
                </a:lnTo>
                <a:lnTo>
                  <a:pt x="124460" y="1374184"/>
                </a:lnTo>
                <a:lnTo>
                  <a:pt x="145203" y="1372999"/>
                </a:lnTo>
                <a:lnTo>
                  <a:pt x="165947" y="1371411"/>
                </a:lnTo>
                <a:lnTo>
                  <a:pt x="186690" y="1369306"/>
                </a:lnTo>
                <a:lnTo>
                  <a:pt x="207433" y="1366543"/>
                </a:lnTo>
                <a:lnTo>
                  <a:pt x="228177" y="1362955"/>
                </a:lnTo>
                <a:lnTo>
                  <a:pt x="248920" y="1358345"/>
                </a:lnTo>
                <a:lnTo>
                  <a:pt x="269663" y="1352483"/>
                </a:lnTo>
                <a:lnTo>
                  <a:pt x="290407" y="1345107"/>
                </a:lnTo>
                <a:lnTo>
                  <a:pt x="311150" y="1335923"/>
                </a:lnTo>
                <a:lnTo>
                  <a:pt x="331893" y="1324610"/>
                </a:lnTo>
                <a:lnTo>
                  <a:pt x="352637" y="1310822"/>
                </a:lnTo>
                <a:lnTo>
                  <a:pt x="373380" y="1294194"/>
                </a:lnTo>
                <a:lnTo>
                  <a:pt x="394123" y="1274357"/>
                </a:lnTo>
                <a:lnTo>
                  <a:pt x="414867" y="1250944"/>
                </a:lnTo>
                <a:lnTo>
                  <a:pt x="435610" y="1223607"/>
                </a:lnTo>
                <a:lnTo>
                  <a:pt x="456353" y="1192035"/>
                </a:lnTo>
                <a:lnTo>
                  <a:pt x="477097" y="1155969"/>
                </a:lnTo>
                <a:lnTo>
                  <a:pt x="497840" y="1115220"/>
                </a:lnTo>
                <a:lnTo>
                  <a:pt x="518583" y="1069690"/>
                </a:lnTo>
                <a:lnTo>
                  <a:pt x="539327" y="1019388"/>
                </a:lnTo>
                <a:lnTo>
                  <a:pt x="560070" y="964443"/>
                </a:lnTo>
                <a:lnTo>
                  <a:pt x="580813" y="905117"/>
                </a:lnTo>
                <a:lnTo>
                  <a:pt x="601557" y="841812"/>
                </a:lnTo>
                <a:lnTo>
                  <a:pt x="622300" y="775072"/>
                </a:lnTo>
                <a:lnTo>
                  <a:pt x="643043" y="705580"/>
                </a:lnTo>
                <a:lnTo>
                  <a:pt x="663787" y="634149"/>
                </a:lnTo>
                <a:lnTo>
                  <a:pt x="684530" y="561707"/>
                </a:lnTo>
                <a:lnTo>
                  <a:pt x="705273" y="489279"/>
                </a:lnTo>
                <a:lnTo>
                  <a:pt x="726017" y="417961"/>
                </a:lnTo>
                <a:lnTo>
                  <a:pt x="746760" y="348892"/>
                </a:lnTo>
                <a:lnTo>
                  <a:pt x="767503" y="283227"/>
                </a:lnTo>
                <a:lnTo>
                  <a:pt x="788247" y="222103"/>
                </a:lnTo>
                <a:lnTo>
                  <a:pt x="808990" y="166612"/>
                </a:lnTo>
                <a:lnTo>
                  <a:pt x="829733" y="117764"/>
                </a:lnTo>
                <a:lnTo>
                  <a:pt x="850477" y="76468"/>
                </a:lnTo>
                <a:lnTo>
                  <a:pt x="871220" y="43500"/>
                </a:lnTo>
                <a:lnTo>
                  <a:pt x="891963" y="19490"/>
                </a:lnTo>
                <a:lnTo>
                  <a:pt x="912707" y="4896"/>
                </a:lnTo>
                <a:lnTo>
                  <a:pt x="933450" y="0"/>
                </a:lnTo>
                <a:lnTo>
                  <a:pt x="954193" y="4896"/>
                </a:lnTo>
                <a:lnTo>
                  <a:pt x="974937" y="19490"/>
                </a:lnTo>
                <a:lnTo>
                  <a:pt x="995680" y="43500"/>
                </a:lnTo>
                <a:lnTo>
                  <a:pt x="1016423" y="76468"/>
                </a:lnTo>
                <a:lnTo>
                  <a:pt x="1037167" y="117764"/>
                </a:lnTo>
                <a:lnTo>
                  <a:pt x="1057910" y="166612"/>
                </a:lnTo>
                <a:lnTo>
                  <a:pt x="1078653" y="222103"/>
                </a:lnTo>
                <a:lnTo>
                  <a:pt x="1099397" y="283227"/>
                </a:lnTo>
                <a:lnTo>
                  <a:pt x="1120140" y="348892"/>
                </a:lnTo>
                <a:lnTo>
                  <a:pt x="1140883" y="417961"/>
                </a:lnTo>
                <a:lnTo>
                  <a:pt x="1161627" y="489279"/>
                </a:lnTo>
                <a:lnTo>
                  <a:pt x="1182370" y="561707"/>
                </a:lnTo>
                <a:lnTo>
                  <a:pt x="1203113" y="634149"/>
                </a:lnTo>
                <a:lnTo>
                  <a:pt x="1223857" y="705580"/>
                </a:lnTo>
                <a:lnTo>
                  <a:pt x="1244600" y="775072"/>
                </a:lnTo>
                <a:lnTo>
                  <a:pt x="1265343" y="841812"/>
                </a:lnTo>
                <a:lnTo>
                  <a:pt x="1286087" y="905117"/>
                </a:lnTo>
                <a:lnTo>
                  <a:pt x="1306830" y="964443"/>
                </a:lnTo>
                <a:lnTo>
                  <a:pt x="1327573" y="1019388"/>
                </a:lnTo>
                <a:lnTo>
                  <a:pt x="1348317" y="1069690"/>
                </a:lnTo>
                <a:lnTo>
                  <a:pt x="1369060" y="1115220"/>
                </a:lnTo>
                <a:lnTo>
                  <a:pt x="1389803" y="1155969"/>
                </a:lnTo>
                <a:lnTo>
                  <a:pt x="1410547" y="1192035"/>
                </a:lnTo>
                <a:lnTo>
                  <a:pt x="1431290" y="1223607"/>
                </a:lnTo>
                <a:lnTo>
                  <a:pt x="1452033" y="1250944"/>
                </a:lnTo>
                <a:lnTo>
                  <a:pt x="1472777" y="1274357"/>
                </a:lnTo>
                <a:lnTo>
                  <a:pt x="1493520" y="1294194"/>
                </a:lnTo>
                <a:lnTo>
                  <a:pt x="1514263" y="1310822"/>
                </a:lnTo>
                <a:lnTo>
                  <a:pt x="1535007" y="1324610"/>
                </a:lnTo>
                <a:lnTo>
                  <a:pt x="1555750" y="1335923"/>
                </a:lnTo>
                <a:lnTo>
                  <a:pt x="1576493" y="1345107"/>
                </a:lnTo>
                <a:lnTo>
                  <a:pt x="1597237" y="1352483"/>
                </a:lnTo>
                <a:lnTo>
                  <a:pt x="1617980" y="1358345"/>
                </a:lnTo>
                <a:lnTo>
                  <a:pt x="1638723" y="1362955"/>
                </a:lnTo>
                <a:lnTo>
                  <a:pt x="1659467" y="1366543"/>
                </a:lnTo>
                <a:lnTo>
                  <a:pt x="1680210" y="1369306"/>
                </a:lnTo>
                <a:lnTo>
                  <a:pt x="1700953" y="1371411"/>
                </a:lnTo>
                <a:lnTo>
                  <a:pt x="1721697" y="1372999"/>
                </a:lnTo>
                <a:lnTo>
                  <a:pt x="1742440" y="1374184"/>
                </a:lnTo>
                <a:lnTo>
                  <a:pt x="1763183" y="1375059"/>
                </a:lnTo>
                <a:lnTo>
                  <a:pt x="1783927" y="1375699"/>
                </a:lnTo>
                <a:lnTo>
                  <a:pt x="1804670" y="1376162"/>
                </a:lnTo>
                <a:lnTo>
                  <a:pt x="1825413" y="1376493"/>
                </a:lnTo>
                <a:lnTo>
                  <a:pt x="1846157" y="1376728"/>
                </a:lnTo>
                <a:lnTo>
                  <a:pt x="1866900" y="1376893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56A"/>
            </a:solidFill>
          </a:ln>
        </p:spPr>
      </p:sp>
      <p:sp>
        <p:nvSpPr>
          <p:cNvPr id="33" name="p9_textbox_32">
            <a:extLst xmlns:a="http://schemas.openxmlformats.org/drawingml/2006/main">
              <a:ext uri="{FF2B5EF4-FFF2-40B4-BE49-F238E27FC236}">
                <a16:creationId xmlns:a16="http://schemas.microsoft.com/office/drawing/2014/main" id="{6F3B17F4-DD48-41B7-B09F-B1B8192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92" y="4446556"/>
            <a:ext cx="1661541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69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小间距</a:t>
            </a:r>
          </a:p>
        </p:txBody>
      </p:sp>
      <p:sp>
        <p:nvSpPr>
          <p:cNvPr id="43" name="v2_p9_33">
            <a:extLst xmlns:a="http://schemas.openxmlformats.org/drawingml/2006/main">
              <a:ext uri="{FF2B5EF4-FFF2-40B4-BE49-F238E27FC236}">
                <a16:creationId xmlns:a16="http://schemas.microsoft.com/office/drawing/2014/main" id="{12998801-A0F0-49DB-AC9C-1AAB25C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38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d ≈ 0.61λ / NA</a:t>
            </a:r>
          </a:p>
        </p:txBody>
      </p:sp>
      <p:sp>
        <p:nvSpPr>
          <p:cNvPr id="44" name="v2_p9_34">
            <a:extLst xmlns:a="http://schemas.openxmlformats.org/drawingml/2006/main">
              <a:ext uri="{FF2B5EF4-FFF2-40B4-BE49-F238E27FC236}">
                <a16:creationId xmlns:a16="http://schemas.microsoft.com/office/drawing/2014/main" id="{BCA63C91-4727-4273-9422-0A1905D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00275"/>
            <a:ext cx="312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Rayleigh criterion,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lateral resolution</a:t>
            </a:r>
          </a:p>
        </p:txBody>
      </p:sp>
      <p:sp>
        <p:nvSpPr>
          <p:cNvPr id="45" name="v2_p9_35">
            <a:extLst xmlns:a="http://schemas.openxmlformats.org/drawingml/2006/main">
              <a:ext uri="{FF2B5EF4-FFF2-40B4-BE49-F238E27FC236}">
                <a16:creationId xmlns:a16="http://schemas.microsoft.com/office/drawing/2014/main" id="{70355A11-0399-406B-A9C2-595152B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384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教学算例（非实验结果）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λ = 550 nm，NA = 1.4</a:t>
            </a:r>
          </a:p>
        </p:txBody>
      </p:sp>
      <p:sp>
        <p:nvSpPr>
          <p:cNvPr id="46" name="v2_p9_36">
            <a:extLst xmlns:a="http://schemas.openxmlformats.org/drawingml/2006/main">
              <a:ext uri="{FF2B5EF4-FFF2-40B4-BE49-F238E27FC236}">
                <a16:creationId xmlns:a16="http://schemas.microsoft.com/office/drawing/2014/main" id="{30126637-4635-4E0A-9DAE-7360CC4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0522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25C24"/>
                </a:solidFill>
                <a:latin typeface="Arial"/>
                <a:ea typeface="Arial"/>
                <a:cs typeface="Arial"/>
              </a:rPr>
              <a:t>d ≈ 240 nm</a:t>
            </a:r>
          </a:p>
        </p:txBody>
      </p:sp>
      <p:sp>
        <p:nvSpPr>
          <p:cNvPr id="47" name="v2_p9_37">
            <a:extLst xmlns:a="http://schemas.openxmlformats.org/drawingml/2006/main">
              <a:ext uri="{FF2B5EF4-FFF2-40B4-BE49-F238E27FC236}">
                <a16:creationId xmlns:a16="http://schemas.microsoft.com/office/drawing/2014/main" id="{784BFECA-0F18-4C9B-ADA3-9882C24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33875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λ：检测的荧光／成像波长</a:t>
            </a:r>
          </a:p>
        </p:txBody>
      </p:sp>
      <p:sp>
        <p:nvSpPr>
          <p:cNvPr id="48" name="v2_p9_38">
            <a:extLst xmlns:a="http://schemas.openxmlformats.org/drawingml/2006/main">
              <a:ext uri="{FF2B5EF4-FFF2-40B4-BE49-F238E27FC236}">
                <a16:creationId xmlns:a16="http://schemas.microsoft.com/office/drawing/2014/main" id="{236A8C57-A8A6-4543-954B-8C868E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72050"/>
            <a:ext cx="3133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NA：数值孔径  (n sinθ)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19D89D-5C16-402D-8DE8-87DF78CD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04950"/>
            <a:ext cx="953" cy="3790950"/>
          </a:xfrm>
          <a:custGeom xmlns:a="http://schemas.openxmlformats.org/drawingml/2006/main">
            <a:pathLst>
              <a:path w="953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5E8EB"/>
            </a:solidFill>
          </a:ln>
        </p:spPr>
      </p:sp>
      <p:sp>
        <p:nvSpPr>
          <p:cNvPr id="50" name="v2_p9_40">
            <a:extLst xmlns:a="http://schemas.openxmlformats.org/drawingml/2006/main">
              <a:ext uri="{FF2B5EF4-FFF2-40B4-BE49-F238E27FC236}">
                <a16:creationId xmlns:a16="http://schemas.microsoft.com/office/drawing/2014/main" id="{84670570-78AD-44EE-8930-FFF9B65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48225"/>
            <a:ext cx="701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检测到 ≠ 分辨开</a:t>
            </a:r>
          </a:p>
        </p:txBody>
      </p:sp>
      <p:sp>
        <p:nvSpPr>
          <p:cNvPr id="51" name="v2_p9_41">
            <a:extLst xmlns:a="http://schemas.openxmlformats.org/drawingml/2006/main">
              <a:ext uri="{FF2B5EF4-FFF2-40B4-BE49-F238E27FC236}">
                <a16:creationId xmlns:a16="http://schemas.microsoft.com/office/drawing/2014/main" id="{5E393EA1-48DB-4C94-A2BB-0B0C2F4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90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衍射受限成像：~10² nm   |   FRET：~10⁰ nm量级</a:t>
            </a:r>
          </a:p>
        </p:txBody>
      </p:sp>
      <p:sp>
        <p:nvSpPr>
          <p:cNvPr id="52" name="v2_p9_42">
            <a:extLst xmlns:a="http://schemas.openxmlformats.org/drawingml/2006/main">
              <a:ext uri="{FF2B5EF4-FFF2-40B4-BE49-F238E27FC236}">
                <a16:creationId xmlns:a16="http://schemas.microsoft.com/office/drawing/2014/main" id="{F2B4AF79-7EF1-4149-B9FD-F529047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仍能检测标签及较大尺度分布，但难以直接分辨许多蛋白内部纳米距离。</a:t>
            </a:r>
          </a:p>
        </p:txBody>
      </p:sp>
    </p:spTree>
    <p:extLst>
      <p:ext uri="{BB962C8B-B14F-4D97-AF65-F5344CB8AC3E}">
        <p14:creationId xmlns:p14="http://schemas.microsoft.com/office/powerpoint/2010/main" val="1334134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p10_textbox_0">
            <a:extLst xmlns:a="http://schemas.openxmlformats.org/drawingml/2006/main">
              <a:ext uri="{FF2B5EF4-FFF2-40B4-BE49-F238E27FC236}">
                <a16:creationId xmlns:a16="http://schemas.microsoft.com/office/drawing/2014/main" id="{3301F602-AC70-4EB9-B652-3D099E26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分批发光，让位置逐个显现</a:t>
            </a:r>
          </a:p>
        </p:txBody>
      </p:sp>
      <p:sp>
        <p:nvSpPr>
          <p:cNvPr id="2" name="p10_path">
            <a:extLst xmlns:a="http://schemas.openxmlformats.org/drawingml/2006/main">
              <a:ext uri="{FF2B5EF4-FFF2-40B4-BE49-F238E27FC236}">
                <a16:creationId xmlns:a16="http://schemas.microsoft.com/office/drawing/2014/main" id="{EF57ADC1-43A5-4040-A1B9-3903349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10_textbox_2">
            <a:extLst xmlns:a="http://schemas.openxmlformats.org/drawingml/2006/main">
              <a:ext uri="{FF2B5EF4-FFF2-40B4-BE49-F238E27FC236}">
                <a16:creationId xmlns:a16="http://schemas.microsoft.com/office/drawing/2014/main" id="{7D2F28A2-66E4-45AA-8023-2A538A66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44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Lelek et al., Nat. Rev. Methods Primers, 2021, Fig. 1; image source: Fig. 3b.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STED: Schermelleh et al., Nat. Cell Biol., 2019.</a:t>
            </a:r>
          </a:p>
        </p:txBody>
      </p:sp>
      <p:sp>
        <p:nvSpPr>
          <p:cNvPr id="4" name="p10_textbox_3">
            <a:extLst xmlns:a="http://schemas.openxmlformats.org/drawingml/2006/main">
              <a:ext uri="{FF2B5EF4-FFF2-40B4-BE49-F238E27FC236}">
                <a16:creationId xmlns:a16="http://schemas.microsoft.com/office/drawing/2014/main" id="{8813EF95-945A-4064-B262-168996E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p10_textbox_4">
            <a:extLst xmlns:a="http://schemas.openxmlformats.org/drawingml/2006/main">
              <a:ext uri="{FF2B5EF4-FFF2-40B4-BE49-F238E27FC236}">
                <a16:creationId xmlns:a16="http://schemas.microsoft.com/office/drawing/2014/main" id="{775F9417-BEFE-4FD9-82DD-E22C0D74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" y="1447800"/>
            <a:ext cx="1411605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Frame 1</a:t>
            </a:r>
          </a:p>
        </p:txBody>
      </p:sp>
      <p:sp>
        <p:nvSpPr>
          <p:cNvPr id="6" name="p10_rect_5">
            <a:extLst xmlns:a="http://schemas.openxmlformats.org/drawingml/2006/main">
              <a:ext uri="{FF2B5EF4-FFF2-40B4-BE49-F238E27FC236}">
                <a16:creationId xmlns:a16="http://schemas.microsoft.com/office/drawing/2014/main" id="{2724CB09-C246-4DD0-B700-D2F88703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" y="1767269"/>
            <a:ext cx="1411605" cy="116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AAB2BA"/>
            </a:solidFill>
          </a:ln>
        </p:spPr>
      </p:sp>
      <p:sp>
        <p:nvSpPr>
          <p:cNvPr id="7" name="p10_ellipse_6">
            <a:extLst xmlns:a="http://schemas.openxmlformats.org/drawingml/2006/main">
              <a:ext uri="{FF2B5EF4-FFF2-40B4-BE49-F238E27FC236}">
                <a16:creationId xmlns:a16="http://schemas.microsoft.com/office/drawing/2014/main" id="{81B2DF98-8C9C-404B-A01B-2C02796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3" y="2086737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8" name="p10_ellipse_7">
            <a:extLst xmlns:a="http://schemas.openxmlformats.org/drawingml/2006/main">
              <a:ext uri="{FF2B5EF4-FFF2-40B4-BE49-F238E27FC236}">
                <a16:creationId xmlns:a16="http://schemas.microsoft.com/office/drawing/2014/main" id="{324BF994-C4AF-4D9E-8B11-D4F5413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56" y="2110660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9" name="p10_ellipse_8">
            <a:extLst xmlns:a="http://schemas.openxmlformats.org/drawingml/2006/main">
              <a:ext uri="{FF2B5EF4-FFF2-40B4-BE49-F238E27FC236}">
                <a16:creationId xmlns:a16="http://schemas.microsoft.com/office/drawing/2014/main" id="{2DCFE272-E029-4A1B-A260-B36C0FBB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8" y="2134583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10" name="p10_ellipse_9">
            <a:extLst xmlns:a="http://schemas.openxmlformats.org/drawingml/2006/main">
              <a:ext uri="{FF2B5EF4-FFF2-40B4-BE49-F238E27FC236}">
                <a16:creationId xmlns:a16="http://schemas.microsoft.com/office/drawing/2014/main" id="{BD7BB720-28A5-4D54-B2E7-4C8CEF8B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02" y="2158506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11" name="p10_ellipse_10">
            <a:extLst xmlns:a="http://schemas.openxmlformats.org/drawingml/2006/main">
              <a:ext uri="{FF2B5EF4-FFF2-40B4-BE49-F238E27FC236}">
                <a16:creationId xmlns:a16="http://schemas.microsoft.com/office/drawing/2014/main" id="{145551BD-9D25-41A9-B3D5-661AEFB4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4" y="2182429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12" name="p10_ellipse_11">
            <a:extLst xmlns:a="http://schemas.openxmlformats.org/drawingml/2006/main">
              <a:ext uri="{FF2B5EF4-FFF2-40B4-BE49-F238E27FC236}">
                <a16:creationId xmlns:a16="http://schemas.microsoft.com/office/drawing/2014/main" id="{F34A6A3F-EF18-4B0A-B348-66C9A208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48" y="2206352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13" name="p10_ellipse_12">
            <a:extLst xmlns:a="http://schemas.openxmlformats.org/drawingml/2006/main">
              <a:ext uri="{FF2B5EF4-FFF2-40B4-BE49-F238E27FC236}">
                <a16:creationId xmlns:a16="http://schemas.microsoft.com/office/drawing/2014/main" id="{75DF03F6-310E-431F-BEB2-224AA3D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268" y="2354199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14" name="p10_ellipse_13">
            <a:extLst xmlns:a="http://schemas.openxmlformats.org/drawingml/2006/main">
              <a:ext uri="{FF2B5EF4-FFF2-40B4-BE49-F238E27FC236}">
                <a16:creationId xmlns:a16="http://schemas.microsoft.com/office/drawing/2014/main" id="{2563B3FE-6377-44EA-9A7A-3C9AC38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91" y="2378122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15" name="p10_ellipse_14">
            <a:extLst xmlns:a="http://schemas.openxmlformats.org/drawingml/2006/main">
              <a:ext uri="{FF2B5EF4-FFF2-40B4-BE49-F238E27FC236}">
                <a16:creationId xmlns:a16="http://schemas.microsoft.com/office/drawing/2014/main" id="{946D897F-D5F3-4A1D-B72A-170C4A8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14" y="2402045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16" name="p10_ellipse_15">
            <a:extLst xmlns:a="http://schemas.openxmlformats.org/drawingml/2006/main">
              <a:ext uri="{FF2B5EF4-FFF2-40B4-BE49-F238E27FC236}">
                <a16:creationId xmlns:a16="http://schemas.microsoft.com/office/drawing/2014/main" id="{1964A8B1-8E3E-4A60-A214-09B3B4F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37" y="2425968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17" name="p10_ellipse_16">
            <a:extLst xmlns:a="http://schemas.openxmlformats.org/drawingml/2006/main">
              <a:ext uri="{FF2B5EF4-FFF2-40B4-BE49-F238E27FC236}">
                <a16:creationId xmlns:a16="http://schemas.microsoft.com/office/drawing/2014/main" id="{AB843E82-6CC9-4D70-B476-BEFDD99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0" y="2449891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18" name="p10_ellipse_17">
            <a:extLst xmlns:a="http://schemas.openxmlformats.org/drawingml/2006/main">
              <a:ext uri="{FF2B5EF4-FFF2-40B4-BE49-F238E27FC236}">
                <a16:creationId xmlns:a16="http://schemas.microsoft.com/office/drawing/2014/main" id="{67C526DD-BA34-4D34-8FFC-E82F8FE6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83" y="2473814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19" name="p10_textbox_18">
            <a:extLst xmlns:a="http://schemas.openxmlformats.org/drawingml/2006/main">
              <a:ext uri="{FF2B5EF4-FFF2-40B4-BE49-F238E27FC236}">
                <a16:creationId xmlns:a16="http://schemas.microsoft.com/office/drawing/2014/main" id="{1891B734-7477-4AE7-9C0B-8A35416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64" y="1447800"/>
            <a:ext cx="1411605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Frame 2</a:t>
            </a:r>
          </a:p>
        </p:txBody>
      </p:sp>
      <p:sp>
        <p:nvSpPr>
          <p:cNvPr id="20" name="p10_rect_19">
            <a:extLst xmlns:a="http://schemas.openxmlformats.org/drawingml/2006/main">
              <a:ext uri="{FF2B5EF4-FFF2-40B4-BE49-F238E27FC236}">
                <a16:creationId xmlns:a16="http://schemas.microsoft.com/office/drawing/2014/main" id="{0B16027D-3A35-4EAF-AD9D-A6C5A5D0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64" y="1767269"/>
            <a:ext cx="1411605" cy="116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AAB2BA"/>
            </a:solidFill>
          </a:ln>
        </p:spPr>
      </p:sp>
      <p:sp>
        <p:nvSpPr>
          <p:cNvPr id="21" name="p10_ellipse_20">
            <a:extLst xmlns:a="http://schemas.openxmlformats.org/drawingml/2006/main">
              <a:ext uri="{FF2B5EF4-FFF2-40B4-BE49-F238E27FC236}">
                <a16:creationId xmlns:a16="http://schemas.microsoft.com/office/drawing/2014/main" id="{3ECA989F-6D1F-40BF-BB0C-3562BB6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339340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22" name="p10_ellipse_21">
            <a:extLst xmlns:a="http://schemas.openxmlformats.org/drawingml/2006/main">
              <a:ext uri="{FF2B5EF4-FFF2-40B4-BE49-F238E27FC236}">
                <a16:creationId xmlns:a16="http://schemas.microsoft.com/office/drawing/2014/main" id="{751CE201-35A1-41DF-9D0C-F9F083F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649" y="2363263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23" name="p10_ellipse_22">
            <a:extLst xmlns:a="http://schemas.openxmlformats.org/drawingml/2006/main">
              <a:ext uri="{FF2B5EF4-FFF2-40B4-BE49-F238E27FC236}">
                <a16:creationId xmlns:a16="http://schemas.microsoft.com/office/drawing/2014/main" id="{7D5136DF-F99E-41E4-99E8-0C1B5FBC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571" y="2387186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24" name="p10_ellipse_23">
            <a:extLst xmlns:a="http://schemas.openxmlformats.org/drawingml/2006/main">
              <a:ext uri="{FF2B5EF4-FFF2-40B4-BE49-F238E27FC236}">
                <a16:creationId xmlns:a16="http://schemas.microsoft.com/office/drawing/2014/main" id="{16E167A2-1D68-4DCB-B319-9950A72C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95" y="2411109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25" name="p10_ellipse_24">
            <a:extLst xmlns:a="http://schemas.openxmlformats.org/drawingml/2006/main">
              <a:ext uri="{FF2B5EF4-FFF2-40B4-BE49-F238E27FC236}">
                <a16:creationId xmlns:a16="http://schemas.microsoft.com/office/drawing/2014/main" id="{2DC970C3-3F5E-4CD1-9DE8-7BB2C63C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417" y="2435032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26" name="p10_ellipse_25">
            <a:extLst xmlns:a="http://schemas.openxmlformats.org/drawingml/2006/main">
              <a:ext uri="{FF2B5EF4-FFF2-40B4-BE49-F238E27FC236}">
                <a16:creationId xmlns:a16="http://schemas.microsoft.com/office/drawing/2014/main" id="{811BF43C-782C-444D-A261-550E2EA8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341" y="2458955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27" name="p10_ellipse_26">
            <a:extLst xmlns:a="http://schemas.openxmlformats.org/drawingml/2006/main">
              <a:ext uri="{FF2B5EF4-FFF2-40B4-BE49-F238E27FC236}">
                <a16:creationId xmlns:a16="http://schemas.microsoft.com/office/drawing/2014/main" id="{663EEB0F-32B9-4BA7-88D5-E6A89D4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04" y="2042160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28" name="p10_ellipse_27">
            <a:extLst xmlns:a="http://schemas.openxmlformats.org/drawingml/2006/main">
              <a:ext uri="{FF2B5EF4-FFF2-40B4-BE49-F238E27FC236}">
                <a16:creationId xmlns:a16="http://schemas.microsoft.com/office/drawing/2014/main" id="{371ED61D-0095-43E6-A224-E6ED90E7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727" y="2066083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29" name="p10_ellipse_28">
            <a:extLst xmlns:a="http://schemas.openxmlformats.org/drawingml/2006/main">
              <a:ext uri="{FF2B5EF4-FFF2-40B4-BE49-F238E27FC236}">
                <a16:creationId xmlns:a16="http://schemas.microsoft.com/office/drawing/2014/main" id="{428C1010-A3FA-45E0-822E-42287C7D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649" y="2090006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30" name="p10_ellipse_29">
            <a:extLst xmlns:a="http://schemas.openxmlformats.org/drawingml/2006/main">
              <a:ext uri="{FF2B5EF4-FFF2-40B4-BE49-F238E27FC236}">
                <a16:creationId xmlns:a16="http://schemas.microsoft.com/office/drawing/2014/main" id="{85703346-6420-40A6-9606-5D93443A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573" y="2113929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31" name="p10_ellipse_30">
            <a:extLst xmlns:a="http://schemas.openxmlformats.org/drawingml/2006/main">
              <a:ext uri="{FF2B5EF4-FFF2-40B4-BE49-F238E27FC236}">
                <a16:creationId xmlns:a16="http://schemas.microsoft.com/office/drawing/2014/main" id="{2B33101D-827E-4F61-9E75-995C1108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495" y="2137852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32" name="p10_ellipse_31">
            <a:extLst xmlns:a="http://schemas.openxmlformats.org/drawingml/2006/main">
              <a:ext uri="{FF2B5EF4-FFF2-40B4-BE49-F238E27FC236}">
                <a16:creationId xmlns:a16="http://schemas.microsoft.com/office/drawing/2014/main" id="{94D0E69C-959F-4C96-B549-B2A44CE6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19" y="2161775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33" name="p10_textbox_32">
            <a:extLst xmlns:a="http://schemas.openxmlformats.org/drawingml/2006/main">
              <a:ext uri="{FF2B5EF4-FFF2-40B4-BE49-F238E27FC236}">
                <a16:creationId xmlns:a16="http://schemas.microsoft.com/office/drawing/2014/main" id="{0B55ACF3-A9DD-4C9D-A8E6-64EEC07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491" y="1447800"/>
            <a:ext cx="1411605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Frame 3</a:t>
            </a:r>
          </a:p>
        </p:txBody>
      </p:sp>
      <p:sp>
        <p:nvSpPr>
          <p:cNvPr id="34" name="p10_rect_33">
            <a:extLst xmlns:a="http://schemas.openxmlformats.org/drawingml/2006/main">
              <a:ext uri="{FF2B5EF4-FFF2-40B4-BE49-F238E27FC236}">
                <a16:creationId xmlns:a16="http://schemas.microsoft.com/office/drawing/2014/main" id="{7F9568CC-E1C4-43E4-B5A8-B3CB7F0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491" y="1767269"/>
            <a:ext cx="1411605" cy="116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AAB2BA"/>
            </a:solidFill>
          </a:ln>
        </p:spPr>
      </p:sp>
      <p:sp>
        <p:nvSpPr>
          <p:cNvPr id="35" name="p10_ellipse_34">
            <a:extLst xmlns:a="http://schemas.openxmlformats.org/drawingml/2006/main">
              <a:ext uri="{FF2B5EF4-FFF2-40B4-BE49-F238E27FC236}">
                <a16:creationId xmlns:a16="http://schemas.microsoft.com/office/drawing/2014/main" id="{05E7996C-3E3A-4405-A51D-85D9D5D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652" y="2324481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36" name="p10_ellipse_35">
            <a:extLst xmlns:a="http://schemas.openxmlformats.org/drawingml/2006/main">
              <a:ext uri="{FF2B5EF4-FFF2-40B4-BE49-F238E27FC236}">
                <a16:creationId xmlns:a16="http://schemas.microsoft.com/office/drawing/2014/main" id="{284985FB-F906-49EE-B690-2EF9EA1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575" y="2348404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37" name="p10_ellipse_36">
            <a:extLst xmlns:a="http://schemas.openxmlformats.org/drawingml/2006/main">
              <a:ext uri="{FF2B5EF4-FFF2-40B4-BE49-F238E27FC236}">
                <a16:creationId xmlns:a16="http://schemas.microsoft.com/office/drawing/2014/main" id="{B33DBF64-CE15-48B3-963F-A6E32E5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497" y="2372327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38" name="p10_ellipse_37">
            <a:extLst xmlns:a="http://schemas.openxmlformats.org/drawingml/2006/main">
              <a:ext uri="{FF2B5EF4-FFF2-40B4-BE49-F238E27FC236}">
                <a16:creationId xmlns:a16="http://schemas.microsoft.com/office/drawing/2014/main" id="{E690D42C-85BA-4AF5-BD93-51C5711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421" y="2396250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39" name="p10_ellipse_38">
            <a:extLst xmlns:a="http://schemas.openxmlformats.org/drawingml/2006/main">
              <a:ext uri="{FF2B5EF4-FFF2-40B4-BE49-F238E27FC236}">
                <a16:creationId xmlns:a16="http://schemas.microsoft.com/office/drawing/2014/main" id="{9D30BAA3-BB18-4E31-B3C3-F7C40BA1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343" y="2420173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40" name="p10_ellipse_39">
            <a:extLst xmlns:a="http://schemas.openxmlformats.org/drawingml/2006/main">
              <a:ext uri="{FF2B5EF4-FFF2-40B4-BE49-F238E27FC236}">
                <a16:creationId xmlns:a16="http://schemas.microsoft.com/office/drawing/2014/main" id="{39D4370F-A3E9-447C-B364-141F7FB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267" y="2444096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41" name="p10_ellipse_40">
            <a:extLst xmlns:a="http://schemas.openxmlformats.org/drawingml/2006/main">
              <a:ext uri="{FF2B5EF4-FFF2-40B4-BE49-F238E27FC236}">
                <a16:creationId xmlns:a16="http://schemas.microsoft.com/office/drawing/2014/main" id="{429052F5-9FE4-4C88-A808-5BC5616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307" y="2079308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42" name="p10_ellipse_41">
            <a:extLst xmlns:a="http://schemas.openxmlformats.org/drawingml/2006/main">
              <a:ext uri="{FF2B5EF4-FFF2-40B4-BE49-F238E27FC236}">
                <a16:creationId xmlns:a16="http://schemas.microsoft.com/office/drawing/2014/main" id="{6C768E10-04BF-4859-9043-9C825127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230" y="2103231"/>
            <a:ext cx="293911" cy="293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43" name="p10_ellipse_42">
            <a:extLst xmlns:a="http://schemas.openxmlformats.org/drawingml/2006/main">
              <a:ext uri="{FF2B5EF4-FFF2-40B4-BE49-F238E27FC236}">
                <a16:creationId xmlns:a16="http://schemas.microsoft.com/office/drawing/2014/main" id="{B92580E0-11B5-4F81-8008-9EFFC43C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152" y="2127153"/>
            <a:ext cx="246065" cy="246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44" name="p10_ellipse_43">
            <a:extLst xmlns:a="http://schemas.openxmlformats.org/drawingml/2006/main">
              <a:ext uri="{FF2B5EF4-FFF2-40B4-BE49-F238E27FC236}">
                <a16:creationId xmlns:a16="http://schemas.microsoft.com/office/drawing/2014/main" id="{F07CF235-8F41-4130-B6AF-3E1D0A26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076" y="2151077"/>
            <a:ext cx="198219" cy="198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45" name="p10_ellipse_44">
            <a:extLst xmlns:a="http://schemas.openxmlformats.org/drawingml/2006/main">
              <a:ext uri="{FF2B5EF4-FFF2-40B4-BE49-F238E27FC236}">
                <a16:creationId xmlns:a16="http://schemas.microsoft.com/office/drawing/2014/main" id="{A59053DF-74C8-4C7E-AE82-481D243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98" y="2174999"/>
            <a:ext cx="150373" cy="1503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46" name="p10_ellipse_45">
            <a:extLst xmlns:a="http://schemas.openxmlformats.org/drawingml/2006/main">
              <a:ext uri="{FF2B5EF4-FFF2-40B4-BE49-F238E27FC236}">
                <a16:creationId xmlns:a16="http://schemas.microsoft.com/office/drawing/2014/main" id="{4E38ACAF-3A75-4EFF-8BD3-44936C84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922" y="2198923"/>
            <a:ext cx="102527" cy="10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47" name="p10_textbox_46">
            <a:extLst xmlns:a="http://schemas.openxmlformats.org/drawingml/2006/main">
              <a:ext uri="{FF2B5EF4-FFF2-40B4-BE49-F238E27FC236}">
                <a16:creationId xmlns:a16="http://schemas.microsoft.com/office/drawing/2014/main" id="{6AA2D57F-E36E-4382-8391-B95B24F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8" y="3067431"/>
            <a:ext cx="1872234" cy="27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稀疏发光</a:t>
            </a:r>
          </a:p>
        </p:txBody>
      </p:sp>
      <p:sp>
        <p:nvSpPr>
          <p:cNvPr id="48" name="p10_path">
            <a:extLst xmlns:a="http://schemas.openxmlformats.org/drawingml/2006/main">
              <a:ext uri="{FF2B5EF4-FFF2-40B4-BE49-F238E27FC236}">
                <a16:creationId xmlns:a16="http://schemas.microsoft.com/office/drawing/2014/main" id="{A1914741-8693-4434-B365-8D0B198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938" y="3037713"/>
            <a:ext cx="743" cy="289751"/>
          </a:xfrm>
          <a:custGeom xmlns:a="http://schemas.openxmlformats.org/drawingml/2006/main"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49" name="p10_path">
            <a:extLst xmlns:a="http://schemas.openxmlformats.org/drawingml/2006/main">
              <a:ext uri="{FF2B5EF4-FFF2-40B4-BE49-F238E27FC236}">
                <a16:creationId xmlns:a16="http://schemas.microsoft.com/office/drawing/2014/main" id="{068098AA-2CA5-4CA3-9DF8-F4DA4B64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85" y="3246058"/>
            <a:ext cx="72707" cy="81405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50" name="p10_textbox_49">
            <a:extLst xmlns:a="http://schemas.openxmlformats.org/drawingml/2006/main">
              <a:ext uri="{FF2B5EF4-FFF2-40B4-BE49-F238E27FC236}">
                <a16:creationId xmlns:a16="http://schemas.microsoft.com/office/drawing/2014/main" id="{504D5FA7-8BB9-4F00-91AD-1B3BA67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0349"/>
            <a:ext cx="1857375" cy="28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55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Localization</a:t>
            </a:r>
          </a:p>
        </p:txBody>
      </p:sp>
      <p:sp>
        <p:nvSpPr>
          <p:cNvPr id="51" name="p10_textbox_50">
            <a:extLst xmlns:a="http://schemas.openxmlformats.org/drawingml/2006/main">
              <a:ext uri="{FF2B5EF4-FFF2-40B4-BE49-F238E27FC236}">
                <a16:creationId xmlns:a16="http://schemas.microsoft.com/office/drawing/2014/main" id="{EF658F61-E779-4C09-AFCD-CA0D94B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2388"/>
            <a:ext cx="1783080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定位</a:t>
            </a:r>
          </a:p>
        </p:txBody>
      </p:sp>
      <p:sp>
        <p:nvSpPr>
          <p:cNvPr id="52" name="p10_ellipse_51">
            <a:extLst xmlns:a="http://schemas.openxmlformats.org/drawingml/2006/main">
              <a:ext uri="{FF2B5EF4-FFF2-40B4-BE49-F238E27FC236}">
                <a16:creationId xmlns:a16="http://schemas.microsoft.com/office/drawing/2014/main" id="{849815E1-CA10-4C73-93E8-DD60B9E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546" y="3550349"/>
            <a:ext cx="505206" cy="505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53" name="p10_ellipse_52">
            <a:extLst xmlns:a="http://schemas.openxmlformats.org/drawingml/2006/main">
              <a:ext uri="{FF2B5EF4-FFF2-40B4-BE49-F238E27FC236}">
                <a16:creationId xmlns:a16="http://schemas.microsoft.com/office/drawing/2014/main" id="{6356599B-C564-4B1A-965B-AFCA600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910" y="3585713"/>
            <a:ext cx="434477" cy="434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54" name="p10_ellipse_53">
            <a:extLst xmlns:a="http://schemas.openxmlformats.org/drawingml/2006/main">
              <a:ext uri="{FF2B5EF4-FFF2-40B4-BE49-F238E27FC236}">
                <a16:creationId xmlns:a16="http://schemas.microsoft.com/office/drawing/2014/main" id="{BCD59388-5060-4C9E-B4B3-4B517ED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274" y="3621077"/>
            <a:ext cx="363748" cy="363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55" name="p10_ellipse_54">
            <a:extLst xmlns:a="http://schemas.openxmlformats.org/drawingml/2006/main">
              <a:ext uri="{FF2B5EF4-FFF2-40B4-BE49-F238E27FC236}">
                <a16:creationId xmlns:a16="http://schemas.microsoft.com/office/drawing/2014/main" id="{784BB8A5-9981-4D58-9A78-A8EF593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639" y="3656442"/>
            <a:ext cx="293019" cy="293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56" name="p10_ellipse_55">
            <a:extLst xmlns:a="http://schemas.openxmlformats.org/drawingml/2006/main">
              <a:ext uri="{FF2B5EF4-FFF2-40B4-BE49-F238E27FC236}">
                <a16:creationId xmlns:a16="http://schemas.microsoft.com/office/drawing/2014/main" id="{DE2C1B9D-9074-4B10-9171-8CB24B8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03" y="3691806"/>
            <a:ext cx="222291" cy="222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57" name="p10_ellipse_56">
            <a:extLst xmlns:a="http://schemas.openxmlformats.org/drawingml/2006/main">
              <a:ext uri="{FF2B5EF4-FFF2-40B4-BE49-F238E27FC236}">
                <a16:creationId xmlns:a16="http://schemas.microsoft.com/office/drawing/2014/main" id="{54A6B1B2-728C-4A9A-998F-C36C3E28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368" y="3727171"/>
            <a:ext cx="151562" cy="151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58" name="p10_path">
            <a:extLst xmlns:a="http://schemas.openxmlformats.org/drawingml/2006/main">
              <a:ext uri="{FF2B5EF4-FFF2-40B4-BE49-F238E27FC236}">
                <a16:creationId xmlns:a16="http://schemas.microsoft.com/office/drawing/2014/main" id="{8B2E2538-ADE8-4CEF-BBBC-6C2978D1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3802952"/>
            <a:ext cx="193167" cy="743"/>
          </a:xfrm>
          <a:custGeom xmlns:a="http://schemas.openxmlformats.org/drawingml/2006/main">
            <a:pathLst>
              <a:path w="247650" h="953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25C24"/>
            </a:solidFill>
          </a:ln>
        </p:spPr>
      </p:sp>
      <p:sp>
        <p:nvSpPr>
          <p:cNvPr id="59" name="p10_path">
            <a:extLst xmlns:a="http://schemas.openxmlformats.org/drawingml/2006/main">
              <a:ext uri="{FF2B5EF4-FFF2-40B4-BE49-F238E27FC236}">
                <a16:creationId xmlns:a16="http://schemas.microsoft.com/office/drawing/2014/main" id="{683DC77F-25BA-41CE-BBFE-AEC71A76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49" y="3706368"/>
            <a:ext cx="743" cy="193167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25C24"/>
            </a:solidFill>
          </a:ln>
        </p:spPr>
      </p:sp>
      <p:sp>
        <p:nvSpPr>
          <p:cNvPr id="60" name="p10_ellipse_59">
            <a:extLst xmlns:a="http://schemas.openxmlformats.org/drawingml/2006/main">
              <a:ext uri="{FF2B5EF4-FFF2-40B4-BE49-F238E27FC236}">
                <a16:creationId xmlns:a16="http://schemas.microsoft.com/office/drawing/2014/main" id="{8FC5A1F4-1546-4680-A950-923D5E8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771" y="3572637"/>
            <a:ext cx="505206" cy="505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</a:ln>
        </p:spPr>
      </p:sp>
      <p:sp>
        <p:nvSpPr>
          <p:cNvPr id="61" name="p10_ellipse_60">
            <a:extLst xmlns:a="http://schemas.openxmlformats.org/drawingml/2006/main">
              <a:ext uri="{FF2B5EF4-FFF2-40B4-BE49-F238E27FC236}">
                <a16:creationId xmlns:a16="http://schemas.microsoft.com/office/drawing/2014/main" id="{DF3D12B3-219B-42C7-96D6-BD94814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135" y="3608001"/>
            <a:ext cx="434477" cy="434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</a:ln>
        </p:spPr>
      </p:sp>
      <p:sp>
        <p:nvSpPr>
          <p:cNvPr id="62" name="p10_ellipse_61">
            <a:extLst xmlns:a="http://schemas.openxmlformats.org/drawingml/2006/main">
              <a:ext uri="{FF2B5EF4-FFF2-40B4-BE49-F238E27FC236}">
                <a16:creationId xmlns:a16="http://schemas.microsoft.com/office/drawing/2014/main" id="{46A0ACBC-1F60-4B79-A3F9-11F0465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500" y="3643366"/>
            <a:ext cx="363748" cy="363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D3"/>
          </a:solidFill>
          <a:ln xmlns:a="http://schemas.openxmlformats.org/drawingml/2006/main" w="0">
            <a:noFill/>
          </a:ln>
        </p:spPr>
      </p:sp>
      <p:sp>
        <p:nvSpPr>
          <p:cNvPr id="63" name="p10_ellipse_62">
            <a:extLst xmlns:a="http://schemas.openxmlformats.org/drawingml/2006/main">
              <a:ext uri="{FF2B5EF4-FFF2-40B4-BE49-F238E27FC236}">
                <a16:creationId xmlns:a16="http://schemas.microsoft.com/office/drawing/2014/main" id="{7B745D6E-A894-4B45-8479-C405804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864" y="3678730"/>
            <a:ext cx="293019" cy="293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3B3"/>
          </a:solidFill>
          <a:ln xmlns:a="http://schemas.openxmlformats.org/drawingml/2006/main" w="0">
            <a:noFill/>
          </a:ln>
        </p:spPr>
      </p:sp>
      <p:sp>
        <p:nvSpPr>
          <p:cNvPr id="64" name="p10_ellipse_63">
            <a:extLst xmlns:a="http://schemas.openxmlformats.org/drawingml/2006/main">
              <a:ext uri="{FF2B5EF4-FFF2-40B4-BE49-F238E27FC236}">
                <a16:creationId xmlns:a16="http://schemas.microsoft.com/office/drawing/2014/main" id="{60F7867A-9E78-4D54-8CA3-CBB54836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229" y="3714095"/>
            <a:ext cx="222291" cy="2222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98F"/>
          </a:solidFill>
          <a:ln xmlns:a="http://schemas.openxmlformats.org/drawingml/2006/main" w="0">
            <a:noFill/>
          </a:ln>
        </p:spPr>
      </p:sp>
      <p:sp>
        <p:nvSpPr>
          <p:cNvPr id="65" name="p10_ellipse_64">
            <a:extLst xmlns:a="http://schemas.openxmlformats.org/drawingml/2006/main">
              <a:ext uri="{FF2B5EF4-FFF2-40B4-BE49-F238E27FC236}">
                <a16:creationId xmlns:a16="http://schemas.microsoft.com/office/drawing/2014/main" id="{A36F1060-6269-41BD-9434-F5629D77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593" y="3749459"/>
            <a:ext cx="151562" cy="151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E70"/>
          </a:solidFill>
          <a:ln xmlns:a="http://schemas.openxmlformats.org/drawingml/2006/main" w="0">
            <a:noFill/>
          </a:ln>
        </p:spPr>
      </p:sp>
      <p:sp>
        <p:nvSpPr>
          <p:cNvPr id="66" name="p10_path">
            <a:extLst xmlns:a="http://schemas.openxmlformats.org/drawingml/2006/main">
              <a:ext uri="{FF2B5EF4-FFF2-40B4-BE49-F238E27FC236}">
                <a16:creationId xmlns:a16="http://schemas.microsoft.com/office/drawing/2014/main" id="{C864528A-D782-425B-A367-C84DB66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91" y="3825240"/>
            <a:ext cx="193167" cy="743"/>
          </a:xfrm>
          <a:custGeom xmlns:a="http://schemas.openxmlformats.org/drawingml/2006/main">
            <a:pathLst>
              <a:path w="247650" h="953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25C24"/>
            </a:solidFill>
          </a:ln>
        </p:spPr>
      </p:sp>
      <p:sp>
        <p:nvSpPr>
          <p:cNvPr id="67" name="p10_path">
            <a:extLst xmlns:a="http://schemas.openxmlformats.org/drawingml/2006/main">
              <a:ext uri="{FF2B5EF4-FFF2-40B4-BE49-F238E27FC236}">
                <a16:creationId xmlns:a16="http://schemas.microsoft.com/office/drawing/2014/main" id="{D964D1DE-56A0-43F4-B464-6FBD164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374" y="3728657"/>
            <a:ext cx="743" cy="193167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25C24"/>
            </a:solidFill>
          </a:ln>
        </p:spPr>
      </p:sp>
      <p:sp>
        <p:nvSpPr>
          <p:cNvPr id="68" name="p10_textbox_67">
            <a:extLst xmlns:a="http://schemas.openxmlformats.org/drawingml/2006/main">
              <a:ext uri="{FF2B5EF4-FFF2-40B4-BE49-F238E27FC236}">
                <a16:creationId xmlns:a16="http://schemas.microsoft.com/office/drawing/2014/main" id="{D142D5FE-5CC9-4343-9722-2ACF44CF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33" y="3587496"/>
            <a:ext cx="2109978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单个亮斑仍受衍射展宽</a:t>
            </a:r>
          </a:p>
        </p:txBody>
      </p:sp>
      <p:sp>
        <p:nvSpPr>
          <p:cNvPr id="69" name="p10_path">
            <a:extLst xmlns:a="http://schemas.openxmlformats.org/drawingml/2006/main">
              <a:ext uri="{FF2B5EF4-FFF2-40B4-BE49-F238E27FC236}">
                <a16:creationId xmlns:a16="http://schemas.microsoft.com/office/drawing/2014/main" id="{4C8BC112-AE75-4B79-8CA4-AFFB1603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938" y="4137279"/>
            <a:ext cx="743" cy="237744"/>
          </a:xfrm>
          <a:custGeom xmlns:a="http://schemas.openxmlformats.org/drawingml/2006/main"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70" name="p10_path">
            <a:extLst xmlns:a="http://schemas.openxmlformats.org/drawingml/2006/main">
              <a:ext uri="{FF2B5EF4-FFF2-40B4-BE49-F238E27FC236}">
                <a16:creationId xmlns:a16="http://schemas.microsoft.com/office/drawing/2014/main" id="{8DB74F8B-D817-4BA7-BC55-02072DA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85" y="4293618"/>
            <a:ext cx="72707" cy="81405"/>
          </a:xfrm>
          <a:custGeom xmlns:a="http://schemas.openxmlformats.org/drawingml/2006/main">
            <a:pathLst>
              <a:path w="93214" h="104366">
                <a:moveTo>
                  <a:pt x="0" y="0"/>
                </a:moveTo>
                <a:lnTo>
                  <a:pt x="46607" y="104366"/>
                </a:lnTo>
                <a:lnTo>
                  <a:pt x="93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636E"/>
            </a:solidFill>
          </a:ln>
        </p:spPr>
      </p:sp>
      <p:sp>
        <p:nvSpPr>
          <p:cNvPr id="71" name="p10_textbox_70">
            <a:extLst xmlns:a="http://schemas.openxmlformats.org/drawingml/2006/main">
              <a:ext uri="{FF2B5EF4-FFF2-40B4-BE49-F238E27FC236}">
                <a16:creationId xmlns:a16="http://schemas.microsoft.com/office/drawing/2014/main" id="{2DCE0AD8-D662-449E-9AAA-FBF106F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1607"/>
            <a:ext cx="1983677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97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97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72" name="p10_textbox_71">
            <a:extLst xmlns:a="http://schemas.openxmlformats.org/drawingml/2006/main">
              <a:ext uri="{FF2B5EF4-FFF2-40B4-BE49-F238E27FC236}">
                <a16:creationId xmlns:a16="http://schemas.microsoft.com/office/drawing/2014/main" id="{F49A9040-80D4-4622-967B-2AA69C9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8787"/>
            <a:ext cx="1901952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累积重建</a:t>
            </a:r>
          </a:p>
        </p:txBody>
      </p:sp>
      <p:sp>
        <p:nvSpPr>
          <p:cNvPr id="73" name="p10_path">
            <a:extLst xmlns:a="http://schemas.openxmlformats.org/drawingml/2006/main">
              <a:ext uri="{FF2B5EF4-FFF2-40B4-BE49-F238E27FC236}">
                <a16:creationId xmlns:a16="http://schemas.microsoft.com/office/drawing/2014/main" id="{8A299D95-F07E-4272-A56E-0623167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76" y="4594194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4" name="p10_path">
            <a:extLst xmlns:a="http://schemas.openxmlformats.org/drawingml/2006/main">
              <a:ext uri="{FF2B5EF4-FFF2-40B4-BE49-F238E27FC236}">
                <a16:creationId xmlns:a16="http://schemas.microsoft.com/office/drawing/2014/main" id="{9A9D9708-00D0-41DA-AB42-81CFFD33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624" y="4557046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5" name="p10_path">
            <a:extLst xmlns:a="http://schemas.openxmlformats.org/drawingml/2006/main">
              <a:ext uri="{FF2B5EF4-FFF2-40B4-BE49-F238E27FC236}">
                <a16:creationId xmlns:a16="http://schemas.microsoft.com/office/drawing/2014/main" id="{70CA090F-DB25-4854-8DBA-79D7676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166" y="4794790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6" name="p10_path">
            <a:extLst xmlns:a="http://schemas.openxmlformats.org/drawingml/2006/main">
              <a:ext uri="{FF2B5EF4-FFF2-40B4-BE49-F238E27FC236}">
                <a16:creationId xmlns:a16="http://schemas.microsoft.com/office/drawing/2014/main" id="{12E590ED-A11C-4D3B-81B3-FCF8AF5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313" y="4757643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7" name="p10_path">
            <a:extLst xmlns:a="http://schemas.openxmlformats.org/drawingml/2006/main">
              <a:ext uri="{FF2B5EF4-FFF2-40B4-BE49-F238E27FC236}">
                <a16:creationId xmlns:a16="http://schemas.microsoft.com/office/drawing/2014/main" id="{4BB51FFC-F69E-468F-B926-67BD9D1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88" y="4783646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8" name="p10_path">
            <a:extLst xmlns:a="http://schemas.openxmlformats.org/drawingml/2006/main">
              <a:ext uri="{FF2B5EF4-FFF2-40B4-BE49-F238E27FC236}">
                <a16:creationId xmlns:a16="http://schemas.microsoft.com/office/drawing/2014/main" id="{B2FA1BAF-905F-452A-B87E-FF626E00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235" y="4746498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79" name="p10_path">
            <a:extLst xmlns:a="http://schemas.openxmlformats.org/drawingml/2006/main">
              <a:ext uri="{FF2B5EF4-FFF2-40B4-BE49-F238E27FC236}">
                <a16:creationId xmlns:a16="http://schemas.microsoft.com/office/drawing/2014/main" id="{8A3B65FA-02CC-4EC6-B3C7-90BA3AF1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797" y="4560761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0" name="p10_path">
            <a:extLst xmlns:a="http://schemas.openxmlformats.org/drawingml/2006/main">
              <a:ext uri="{FF2B5EF4-FFF2-40B4-BE49-F238E27FC236}">
                <a16:creationId xmlns:a16="http://schemas.microsoft.com/office/drawing/2014/main" id="{0B05D36A-ECB2-42A8-91F1-ACB2BB2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944" y="4523613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1" name="p10_path">
            <a:extLst xmlns:a="http://schemas.openxmlformats.org/drawingml/2006/main">
              <a:ext uri="{FF2B5EF4-FFF2-40B4-BE49-F238E27FC236}">
                <a16:creationId xmlns:a16="http://schemas.microsoft.com/office/drawing/2014/main" id="{46C97088-92F0-472A-BE33-9FF5F49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266" y="4772502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2" name="p10_path">
            <a:extLst xmlns:a="http://schemas.openxmlformats.org/drawingml/2006/main">
              <a:ext uri="{FF2B5EF4-FFF2-40B4-BE49-F238E27FC236}">
                <a16:creationId xmlns:a16="http://schemas.microsoft.com/office/drawing/2014/main" id="{42407027-1CFE-47FB-B817-A5FB82E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13" y="4735354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3" name="p10_path">
            <a:extLst xmlns:a="http://schemas.openxmlformats.org/drawingml/2006/main">
              <a:ext uri="{FF2B5EF4-FFF2-40B4-BE49-F238E27FC236}">
                <a16:creationId xmlns:a16="http://schemas.microsoft.com/office/drawing/2014/main" id="{A1D33F02-D48E-4BB8-97F7-C6392D8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383" y="4588621"/>
            <a:ext cx="74295" cy="74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4" name="p10_path">
            <a:extLst xmlns:a="http://schemas.openxmlformats.org/drawingml/2006/main">
              <a:ext uri="{FF2B5EF4-FFF2-40B4-BE49-F238E27FC236}">
                <a16:creationId xmlns:a16="http://schemas.microsoft.com/office/drawing/2014/main" id="{87CCA658-59A4-4CEC-9EF1-778782D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530" y="4551474"/>
            <a:ext cx="743" cy="74295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856A"/>
            </a:solidFill>
          </a:ln>
        </p:spPr>
      </p:sp>
      <p:sp>
        <p:nvSpPr>
          <p:cNvPr id="85" name="p10_textbox_84">
            <a:extLst xmlns:a="http://schemas.openxmlformats.org/drawingml/2006/main">
              <a:ext uri="{FF2B5EF4-FFF2-40B4-BE49-F238E27FC236}">
                <a16:creationId xmlns:a16="http://schemas.microsoft.com/office/drawing/2014/main" id="{472D21A1-23E9-47A7-8347-12D54D4F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67" y="4464177"/>
            <a:ext cx="178308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01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估计位置的累积</a:t>
            </a:r>
          </a:p>
        </p:txBody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32d4fd0994e11"/>
          <a:stretch xmlns:a="http://schemas.openxmlformats.org/drawingml/2006/main"/>
        </p:blipFill>
        <p:spPr>
          <a:xfrm xmlns:a="http://schemas.openxmlformats.org/drawingml/2006/main">
            <a:off x="8010525" y="1781175"/>
            <a:ext cx="3333750" cy="3162300"/>
          </a:xfrm>
          <a:prstGeom xmlns:a="http://schemas.openxmlformats.org/drawingml/2006/main" prst="rect">
            <a:avLst/>
          </a:prstGeom>
        </p:spPr>
      </p:pic>
      <p:sp>
        <p:nvSpPr>
          <p:cNvPr id="94" name="v2_p10_85">
            <a:extLst xmlns:a="http://schemas.openxmlformats.org/drawingml/2006/main">
              <a:ext uri="{FF2B5EF4-FFF2-40B4-BE49-F238E27FC236}">
                <a16:creationId xmlns:a16="http://schemas.microsoft.com/office/drawing/2014/main" id="{08ACF317-454E-443C-9520-8356FDDC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333500"/>
            <a:ext cx="3590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dSTORM微管图像 · 原图局部</a:t>
            </a:r>
          </a:p>
        </p:txBody>
      </p:sp>
      <p:sp>
        <p:nvSpPr>
          <p:cNvPr id="95" name="v2_p10_86">
            <a:extLst xmlns:a="http://schemas.openxmlformats.org/drawingml/2006/main">
              <a:ext uri="{FF2B5EF4-FFF2-40B4-BE49-F238E27FC236}">
                <a16:creationId xmlns:a16="http://schemas.microsoft.com/office/drawing/2014/main" id="{89A28DAC-E468-4F4D-ADD8-D3374B1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911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常规荧光  /  dSTORM</a:t>
            </a:r>
          </a:p>
        </p:txBody>
      </p:sp>
      <p:sp>
        <p:nvSpPr>
          <p:cNvPr id="96" name="v2_p10_87">
            <a:extLst xmlns:a="http://schemas.openxmlformats.org/drawingml/2006/main">
              <a:ext uri="{FF2B5EF4-FFF2-40B4-BE49-F238E27FC236}">
                <a16:creationId xmlns:a16="http://schemas.microsoft.com/office/drawing/2014/main" id="{6D8CCBAE-CB26-4ADF-BEA5-C64078FA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72100"/>
            <a:ext cx="3514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25C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5C24"/>
                </a:solidFill>
                <a:latin typeface="Arial"/>
                <a:ea typeface="Arial"/>
                <a:cs typeface="Arial"/>
              </a:rPr>
              <a:t>60,000 raw frames</a:t>
            </a:r>
          </a:p>
        </p:txBody>
      </p:sp>
      <p:sp>
        <p:nvSpPr>
          <p:cNvPr id="97" name="v2_p10_88">
            <a:extLst xmlns:a="http://schemas.openxmlformats.org/drawingml/2006/main">
              <a:ext uri="{FF2B5EF4-FFF2-40B4-BE49-F238E27FC236}">
                <a16:creationId xmlns:a16="http://schemas.microsoft.com/office/drawing/2014/main" id="{9B5024AB-5397-48C4-8D60-4A9C74C3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0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25C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25C24"/>
                </a:solidFill>
                <a:latin typeface="Noto Sans CJK SC"/>
                <a:ea typeface="Noto Sans CJK SC"/>
                <a:cs typeface="Noto Sans CJK SC"/>
              </a:rPr>
              <a:t>FRC估计分辨率 ≈44 nm</a:t>
            </a:r>
          </a:p>
        </p:txBody>
      </p:sp>
      <p:sp>
        <p:nvSpPr>
          <p:cNvPr id="98" name="v2_p10_89">
            <a:extLst xmlns:a="http://schemas.openxmlformats.org/drawingml/2006/main">
              <a:ext uri="{FF2B5EF4-FFF2-40B4-BE49-F238E27FC236}">
                <a16:creationId xmlns:a16="http://schemas.microsoft.com/office/drawing/2014/main" id="{556E180B-9B2E-4CE0-85CA-DFA612E1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定位质量受光子数与背景影响</a:t>
            </a:r>
          </a:p>
        </p:txBody>
      </p:sp>
      <p:sp>
        <p:nvSpPr>
          <p:cNvPr id="99" name="v2_p10_90">
            <a:extLst xmlns:a="http://schemas.openxmlformats.org/drawingml/2006/main">
              <a:ext uri="{FF2B5EF4-FFF2-40B4-BE49-F238E27FC236}">
                <a16:creationId xmlns:a16="http://schemas.microsoft.com/office/drawing/2014/main" id="{7254AD11-7E2D-4CCC-80F1-36FAC6EB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代价：多帧采集、计算重建、稳定标记与低漂移</a:t>
            </a:r>
          </a:p>
        </p:txBody>
      </p:sp>
      <p:sp>
        <p:nvSpPr>
          <p:cNvPr id="100" name="v2_p10_91">
            <a:extLst xmlns:a="http://schemas.openxmlformats.org/drawingml/2006/main">
              <a:ext uri="{FF2B5EF4-FFF2-40B4-BE49-F238E27FC236}">
                <a16:creationId xmlns:a16="http://schemas.microsoft.com/office/drawing/2014/main" id="{B892A702-6116-47E3-9542-D3A66444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STED：受激发射抑制外围荧光，缩小有效发光区域</a:t>
            </a:r>
          </a:p>
        </p:txBody>
      </p:sp>
    </p:spTree>
    <p:extLst>
      <p:ext uri="{BB962C8B-B14F-4D97-AF65-F5344CB8AC3E}">
        <p14:creationId xmlns:p14="http://schemas.microsoft.com/office/powerpoint/2010/main" val="89604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11_textbox_0">
            <a:extLst xmlns:a="http://schemas.openxmlformats.org/drawingml/2006/main">
              <a:ext uri="{FF2B5EF4-FFF2-40B4-BE49-F238E27FC236}">
                <a16:creationId xmlns:a16="http://schemas.microsoft.com/office/drawing/2014/main" id="{3B5D82FA-8C8D-4193-A61B-B9DC19A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从光子到蛋白质信息</a:t>
            </a:r>
          </a:p>
        </p:txBody>
      </p:sp>
      <p:sp>
        <p:nvSpPr>
          <p:cNvPr id="2" name="p11_path">
            <a:extLst xmlns:a="http://schemas.openxmlformats.org/drawingml/2006/main">
              <a:ext uri="{FF2B5EF4-FFF2-40B4-BE49-F238E27FC236}">
                <a16:creationId xmlns:a16="http://schemas.microsoft.com/office/drawing/2014/main" id="{70CDB91E-F174-445C-8E89-0DF0530E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" name="p11_textbox_2">
            <a:extLst xmlns:a="http://schemas.openxmlformats.org/drawingml/2006/main">
              <a:ext uri="{FF2B5EF4-FFF2-40B4-BE49-F238E27FC236}">
                <a16:creationId xmlns:a16="http://schemas.microsoft.com/office/drawing/2014/main" id="{27EB5C81-DC97-4B9E-A9D5-485E727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2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Adapted from Lichtman &amp; Conchello, Nat. Methods, 2005; Torrado et al., 2024;</a:t>
            </a:r>
          </a:p>
          <a:p xmlns:a="http://schemas.openxmlformats.org/drawingml/2006/main">
            <a:pPr algn="l">
              <a:buNone/>
              <a:defRPr sz="1601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01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Ha et al., 2024; Lelek et al., 2021, Nat. Rev. Methods Primers.</a:t>
            </a:r>
          </a:p>
        </p:txBody>
      </p:sp>
      <p:sp>
        <p:nvSpPr>
          <p:cNvPr id="4" name="p11_textbox_3">
            <a:extLst xmlns:a="http://schemas.openxmlformats.org/drawingml/2006/main">
              <a:ext uri="{FF2B5EF4-FFF2-40B4-BE49-F238E27FC236}">
                <a16:creationId xmlns:a16="http://schemas.microsoft.com/office/drawing/2014/main" id="{0E433EFC-CB67-4C2C-B051-CFA130F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p11_textbox_4">
            <a:extLst xmlns:a="http://schemas.openxmlformats.org/drawingml/2006/main">
              <a:ext uri="{FF2B5EF4-FFF2-40B4-BE49-F238E27FC236}">
                <a16:creationId xmlns:a16="http://schemas.microsoft.com/office/drawing/2014/main" id="{2AD2495F-65C1-4F67-BFCE-A259795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蛋白质问题</a:t>
            </a:r>
          </a:p>
        </p:txBody>
      </p:sp>
      <p:sp>
        <p:nvSpPr>
          <p:cNvPr id="6" name="p11_path">
            <a:extLst xmlns:a="http://schemas.openxmlformats.org/drawingml/2006/main">
              <a:ext uri="{FF2B5EF4-FFF2-40B4-BE49-F238E27FC236}">
                <a16:creationId xmlns:a16="http://schemas.microsoft.com/office/drawing/2014/main" id="{BF221460-E4AE-4FFE-8A8D-972CD54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764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7" name="p11_path">
            <a:extLst xmlns:a="http://schemas.openxmlformats.org/drawingml/2006/main">
              <a:ext uri="{FF2B5EF4-FFF2-40B4-BE49-F238E27FC236}">
                <a16:creationId xmlns:a16="http://schemas.microsoft.com/office/drawing/2014/main" id="{658CEB7B-D676-43C2-A643-53027A9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1688073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8" name="p11_textbox_7">
            <a:extLst xmlns:a="http://schemas.openxmlformats.org/drawingml/2006/main">
              <a:ext uri="{FF2B5EF4-FFF2-40B4-BE49-F238E27FC236}">
                <a16:creationId xmlns:a16="http://schemas.microsoft.com/office/drawing/2014/main" id="{655CE4CD-F7A1-4558-805F-3E38983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荧光标签</a:t>
            </a:r>
          </a:p>
        </p:txBody>
      </p:sp>
      <p:sp>
        <p:nvSpPr>
          <p:cNvPr id="9" name="p11_path">
            <a:extLst xmlns:a="http://schemas.openxmlformats.org/drawingml/2006/main">
              <a:ext uri="{FF2B5EF4-FFF2-40B4-BE49-F238E27FC236}">
                <a16:creationId xmlns:a16="http://schemas.microsoft.com/office/drawing/2014/main" id="{FD7197E0-AA0A-4678-AE8E-C2BC0FA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383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0" name="p11_path">
            <a:extLst xmlns:a="http://schemas.openxmlformats.org/drawingml/2006/main">
              <a:ext uri="{FF2B5EF4-FFF2-40B4-BE49-F238E27FC236}">
                <a16:creationId xmlns:a16="http://schemas.microsoft.com/office/drawing/2014/main" id="{9D682D13-9C1A-4E94-80B9-88C37EE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2250048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1" name="p11_textbox_10">
            <a:extLst xmlns:a="http://schemas.openxmlformats.org/drawingml/2006/main">
              <a:ext uri="{FF2B5EF4-FFF2-40B4-BE49-F238E27FC236}">
                <a16:creationId xmlns:a16="http://schemas.microsoft.com/office/drawing/2014/main" id="{886E9766-DDBA-4FAF-8CDB-558E9EB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光信号</a:t>
            </a:r>
          </a:p>
        </p:txBody>
      </p:sp>
      <p:sp>
        <p:nvSpPr>
          <p:cNvPr id="12" name="p11_path">
            <a:extLst xmlns:a="http://schemas.openxmlformats.org/drawingml/2006/main">
              <a:ext uri="{FF2B5EF4-FFF2-40B4-BE49-F238E27FC236}">
                <a16:creationId xmlns:a16="http://schemas.microsoft.com/office/drawing/2014/main" id="{314226D9-1D18-4894-9090-9A40179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0035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3" name="p11_path">
            <a:extLst xmlns:a="http://schemas.openxmlformats.org/drawingml/2006/main">
              <a:ext uri="{FF2B5EF4-FFF2-40B4-BE49-F238E27FC236}">
                <a16:creationId xmlns:a16="http://schemas.microsoft.com/office/drawing/2014/main" id="{51241A61-1045-4E19-918D-37859A8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2812023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4" name="p11_textbox_13">
            <a:extLst xmlns:a="http://schemas.openxmlformats.org/drawingml/2006/main">
              <a:ext uri="{FF2B5EF4-FFF2-40B4-BE49-F238E27FC236}">
                <a16:creationId xmlns:a16="http://schemas.microsoft.com/office/drawing/2014/main" id="{9D329935-F7A8-487C-9328-8227721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光学系统</a:t>
            </a:r>
          </a:p>
        </p:txBody>
      </p:sp>
      <p:sp>
        <p:nvSpPr>
          <p:cNvPr id="15" name="p11_path">
            <a:extLst xmlns:a="http://schemas.openxmlformats.org/drawingml/2006/main">
              <a:ext uri="{FF2B5EF4-FFF2-40B4-BE49-F238E27FC236}">
                <a16:creationId xmlns:a16="http://schemas.microsoft.com/office/drawing/2014/main" id="{F685422D-B670-4B30-A69F-4C73781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6232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6" name="p11_path">
            <a:extLst xmlns:a="http://schemas.openxmlformats.org/drawingml/2006/main">
              <a:ext uri="{FF2B5EF4-FFF2-40B4-BE49-F238E27FC236}">
                <a16:creationId xmlns:a16="http://schemas.microsoft.com/office/drawing/2014/main" id="{3D809D35-B461-4844-A7BB-AAE68CF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3373998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7" name="p11_textbox_16">
            <a:extLst xmlns:a="http://schemas.openxmlformats.org/drawingml/2006/main">
              <a:ext uri="{FF2B5EF4-FFF2-40B4-BE49-F238E27FC236}">
                <a16:creationId xmlns:a16="http://schemas.microsoft.com/office/drawing/2014/main" id="{0CCB81C7-ACDF-4BAC-B307-6776A73C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光电探测</a:t>
            </a:r>
          </a:p>
        </p:txBody>
      </p:sp>
      <p:sp>
        <p:nvSpPr>
          <p:cNvPr id="18" name="p11_path">
            <a:extLst xmlns:a="http://schemas.openxmlformats.org/drawingml/2006/main">
              <a:ext uri="{FF2B5EF4-FFF2-40B4-BE49-F238E27FC236}">
                <a16:creationId xmlns:a16="http://schemas.microsoft.com/office/drawing/2014/main" id="{6906AF65-4E60-4BE1-BE2A-17A2D72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243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19" name="p11_path">
            <a:extLst xmlns:a="http://schemas.openxmlformats.org/drawingml/2006/main">
              <a:ext uri="{FF2B5EF4-FFF2-40B4-BE49-F238E27FC236}">
                <a16:creationId xmlns:a16="http://schemas.microsoft.com/office/drawing/2014/main" id="{7307E608-E3F0-49C2-A429-1C16BAE5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3935973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20" name="p11_textbox_19">
            <a:extLst xmlns:a="http://schemas.openxmlformats.org/drawingml/2006/main">
              <a:ext uri="{FF2B5EF4-FFF2-40B4-BE49-F238E27FC236}">
                <a16:creationId xmlns:a16="http://schemas.microsoft.com/office/drawing/2014/main" id="{4EAE089A-C487-4A14-AE9B-7D3FA80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数据</a:t>
            </a:r>
          </a:p>
        </p:txBody>
      </p:sp>
      <p:sp>
        <p:nvSpPr>
          <p:cNvPr id="21" name="p11_path">
            <a:extLst xmlns:a="http://schemas.openxmlformats.org/drawingml/2006/main">
              <a:ext uri="{FF2B5EF4-FFF2-40B4-BE49-F238E27FC236}">
                <a16:creationId xmlns:a16="http://schemas.microsoft.com/office/drawing/2014/main" id="{D5419A52-44CF-4B16-902C-74C456E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862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22" name="p11_path">
            <a:extLst xmlns:a="http://schemas.openxmlformats.org/drawingml/2006/main">
              <a:ext uri="{FF2B5EF4-FFF2-40B4-BE49-F238E27FC236}">
                <a16:creationId xmlns:a16="http://schemas.microsoft.com/office/drawing/2014/main" id="{2CA147B8-3CF9-4466-887F-2CD3041F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45" y="4497948"/>
            <a:ext cx="91660" cy="102627"/>
          </a:xfrm>
          <a:custGeom xmlns:a="http://schemas.openxmlformats.org/drawingml/2006/main">
            <a:pathLst>
              <a:path w="91660" h="102627">
                <a:moveTo>
                  <a:pt x="0" y="0"/>
                </a:moveTo>
                <a:lnTo>
                  <a:pt x="45830" y="102627"/>
                </a:lnTo>
                <a:lnTo>
                  <a:pt x="9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AB2BA"/>
            </a:solidFill>
          </a:ln>
        </p:spPr>
      </p:sp>
      <p:sp>
        <p:nvSpPr>
          <p:cNvPr id="23" name="p11_textbox_22">
            <a:extLst xmlns:a="http://schemas.openxmlformats.org/drawingml/2006/main">
              <a:ext uri="{FF2B5EF4-FFF2-40B4-BE49-F238E27FC236}">
                <a16:creationId xmlns:a16="http://schemas.microsoft.com/office/drawing/2014/main" id="{F59D33C2-284C-4649-B03E-9808BF41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蛋白质信息</a:t>
            </a:r>
          </a:p>
        </p:txBody>
      </p:sp>
      <p:sp>
        <p:nvSpPr>
          <p:cNvPr id="24" name="p11_textbox_23">
            <a:extLst xmlns:a="http://schemas.openxmlformats.org/drawingml/2006/main">
              <a:ext uri="{FF2B5EF4-FFF2-40B4-BE49-F238E27FC236}">
                <a16:creationId xmlns:a16="http://schemas.microsoft.com/office/drawing/2014/main" id="{9E58FC9A-675A-4CEB-8A65-AAB11686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标记、校准与模型</a:t>
            </a:r>
          </a:p>
        </p:txBody>
      </p:sp>
      <p:sp>
        <p:nvSpPr>
          <p:cNvPr id="25" name="p11_path">
            <a:extLst xmlns:a="http://schemas.openxmlformats.org/drawingml/2006/main">
              <a:ext uri="{FF2B5EF4-FFF2-40B4-BE49-F238E27FC236}">
                <a16:creationId xmlns:a16="http://schemas.microsoft.com/office/drawing/2014/main" id="{2EC5F933-F2AC-4755-9EB6-DA2FC900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33900"/>
            <a:ext cx="685800" cy="953"/>
          </a:xfrm>
          <a:custGeom xmlns:a="http://schemas.openxmlformats.org/drawingml/2006/main">
            <a:pathLst>
              <a:path w="685800" h="953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AAB2BA"/>
            </a:solidFill>
          </a:ln>
        </p:spPr>
      </p:sp>
      <p:sp>
        <p:nvSpPr>
          <p:cNvPr id="36" name="p11_textbox_35">
            <a:extLst xmlns:a="http://schemas.openxmlformats.org/drawingml/2006/main">
              <a:ext uri="{FF2B5EF4-FFF2-40B4-BE49-F238E27FC236}">
                <a16:creationId xmlns:a16="http://schemas.microsoft.com/office/drawing/2014/main" id="{68F17328-6D0D-4779-84C1-74BE2999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生物学提出问题，</a:t>
            </a:r>
          </a:p>
        </p:txBody>
      </p:sp>
      <p:sp>
        <p:nvSpPr>
          <p:cNvPr id="37" name="p11_textbox_36">
            <a:extLst xmlns:a="http://schemas.openxmlformats.org/drawingml/2006/main">
              <a:ext uri="{FF2B5EF4-FFF2-40B4-BE49-F238E27FC236}">
                <a16:creationId xmlns:a16="http://schemas.microsoft.com/office/drawing/2014/main" id="{489AD5E5-221B-4AC4-91B7-80AB0EED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光电技术提供观察和测量手段。</a:t>
            </a:r>
          </a:p>
        </p:txBody>
      </p:sp>
      <p:sp>
        <p:nvSpPr>
          <p:cNvPr id="39" name="v2_p11_27">
            <a:extLst xmlns:a="http://schemas.openxmlformats.org/drawingml/2006/main">
              <a:ext uri="{FF2B5EF4-FFF2-40B4-BE49-F238E27FC236}">
                <a16:creationId xmlns:a16="http://schemas.microsoft.com/office/drawing/2014/main" id="{E0FB72F5-ED4C-4A77-BF51-214ACBA2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4192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生物大分子</a:t>
            </a:r>
          </a:p>
        </p:txBody>
      </p:sp>
      <p:sp>
        <p:nvSpPr>
          <p:cNvPr id="40" name="v2_p11_28">
            <a:extLst xmlns:a="http://schemas.openxmlformats.org/drawingml/2006/main">
              <a:ext uri="{FF2B5EF4-FFF2-40B4-BE49-F238E27FC236}">
                <a16:creationId xmlns:a16="http://schemas.microsoft.com/office/drawing/2014/main" id="{1CA63C40-7F42-4388-8FAE-C7C6BC4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4785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位置 / 构象 / 相互作用 / 空间组织</a:t>
            </a:r>
          </a:p>
        </p:txBody>
      </p:sp>
      <p:sp>
        <p:nvSpPr>
          <p:cNvPr id="41" name="v2_p11_29">
            <a:extLst xmlns:a="http://schemas.openxmlformats.org/drawingml/2006/main">
              <a:ext uri="{FF2B5EF4-FFF2-40B4-BE49-F238E27FC236}">
                <a16:creationId xmlns:a16="http://schemas.microsoft.com/office/drawing/2014/main" id="{7D3C355A-137D-49F5-B4A8-D09EE169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003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0856A"/>
                </a:solidFill>
                <a:latin typeface="Noto Sans CJK SC"/>
                <a:ea typeface="Noto Sans CJK SC"/>
                <a:cs typeface="Noto Sans CJK SC"/>
              </a:rPr>
              <a:t>光学可观测量</a:t>
            </a:r>
          </a:p>
        </p:txBody>
      </p:sp>
      <p:sp>
        <p:nvSpPr>
          <p:cNvPr id="42" name="v2_p11_30">
            <a:extLst xmlns:a="http://schemas.openxmlformats.org/drawingml/2006/main">
              <a:ext uri="{FF2B5EF4-FFF2-40B4-BE49-F238E27FC236}">
                <a16:creationId xmlns:a16="http://schemas.microsoft.com/office/drawing/2014/main" id="{CE38A4B3-E065-45BA-8041-8D6FDBAD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2895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强度 / 光谱 / 时间 / FRET效率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PSF / 定位</a:t>
            </a:r>
          </a:p>
        </p:txBody>
      </p:sp>
      <p:sp>
        <p:nvSpPr>
          <p:cNvPr id="43" name="v2_p11_31">
            <a:extLst xmlns:a="http://schemas.openxmlformats.org/drawingml/2006/main">
              <a:ext uri="{FF2B5EF4-FFF2-40B4-BE49-F238E27FC236}">
                <a16:creationId xmlns:a16="http://schemas.microsoft.com/office/drawing/2014/main" id="{F5AF7ECA-9A26-4E81-9A22-EC5FE91D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814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光电技术</a:t>
            </a:r>
          </a:p>
        </p:txBody>
      </p:sp>
      <p:sp>
        <p:nvSpPr>
          <p:cNvPr id="44" name="v2_p11_32">
            <a:extLst xmlns:a="http://schemas.openxmlformats.org/drawingml/2006/main">
              <a:ext uri="{FF2B5EF4-FFF2-40B4-BE49-F238E27FC236}">
                <a16:creationId xmlns:a16="http://schemas.microsoft.com/office/drawing/2014/main" id="{1BC349DD-5FE9-4CB7-B498-1A7182A6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1005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光源 / 分光 / 物镜 / 探测器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时间分辨 / 成像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956C90-A8D7-4B03-9D22-131B847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81125"/>
            <a:ext cx="953" cy="3562350"/>
          </a:xfrm>
          <a:custGeom xmlns:a="http://schemas.openxmlformats.org/drawingml/2006/main">
            <a:pathLst>
              <a:path w="953" h="3562350">
                <a:moveTo>
                  <a:pt x="0" y="0"/>
                </a:moveTo>
                <a:lnTo>
                  <a:pt x="0" y="3562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5E8EB"/>
            </a:solidFill>
          </a:ln>
        </p:spPr>
      </p:sp>
    </p:spTree>
    <p:extLst>
      <p:ext uri="{BB962C8B-B14F-4D97-AF65-F5344CB8AC3E}">
        <p14:creationId xmlns:p14="http://schemas.microsoft.com/office/powerpoint/2010/main" val="752947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12_textbox_0">
            <a:extLst xmlns:a="http://schemas.openxmlformats.org/drawingml/2006/main">
              <a:ext uri="{FF2B5EF4-FFF2-40B4-BE49-F238E27FC236}">
                <a16:creationId xmlns:a16="http://schemas.microsoft.com/office/drawing/2014/main" id="{EA1CC935-7950-4BA2-BF89-EB09B471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参考文献与成员分工</a:t>
            </a:r>
          </a:p>
        </p:txBody>
      </p:sp>
      <p:sp>
        <p:nvSpPr>
          <p:cNvPr id="2" name="p12_textbox_1">
            <a:extLst xmlns:a="http://schemas.openxmlformats.org/drawingml/2006/main">
              <a:ext uri="{FF2B5EF4-FFF2-40B4-BE49-F238E27FC236}">
                <a16:creationId xmlns:a16="http://schemas.microsoft.com/office/drawing/2014/main" id="{93BCA05C-CF49-4E38-B0DD-68F28C4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p12_textbox_2">
            <a:extLst xmlns:a="http://schemas.openxmlformats.org/drawingml/2006/main">
              <a:ext uri="{FF2B5EF4-FFF2-40B4-BE49-F238E27FC236}">
                <a16:creationId xmlns:a16="http://schemas.microsoft.com/office/drawing/2014/main" id="{092AB8F7-9BE2-4697-83D1-21DE16A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1. Lichtman, J. W. &amp; Conchello, J.-A.</a:t>
            </a:r>
          </a:p>
        </p:txBody>
      </p:sp>
      <p:sp>
        <p:nvSpPr>
          <p:cNvPr id="4" name="p12_textbox_3">
            <a:extLst xmlns:a="http://schemas.openxmlformats.org/drawingml/2006/main">
              <a:ext uri="{FF2B5EF4-FFF2-40B4-BE49-F238E27FC236}">
                <a16:creationId xmlns:a16="http://schemas.microsoft.com/office/drawing/2014/main" id="{B20ECA81-CDBA-4117-86B8-33D9CA7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Fluorescence microscopy.</a:t>
            </a:r>
          </a:p>
        </p:txBody>
      </p:sp>
      <p:sp>
        <p:nvSpPr>
          <p:cNvPr id="5" name="p12_textbox_4">
            <a:extLst xmlns:a="http://schemas.openxmlformats.org/drawingml/2006/main">
              <a:ext uri="{FF2B5EF4-FFF2-40B4-BE49-F238E27FC236}">
                <a16:creationId xmlns:a16="http://schemas.microsoft.com/office/drawing/2014/main" id="{96363D74-FB27-411A-9255-B0109D6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Methods 2, 910–919 (2005).</a:t>
            </a:r>
          </a:p>
        </p:txBody>
      </p:sp>
      <p:sp>
        <p:nvSpPr>
          <p:cNvPr id="6" name="p12_textbox_5">
            <a:extLst xmlns:a="http://schemas.openxmlformats.org/drawingml/2006/main">
              <a:ext uri="{FF2B5EF4-FFF2-40B4-BE49-F238E27FC236}">
                <a16:creationId xmlns:a16="http://schemas.microsoft.com/office/drawing/2014/main" id="{61FB38EC-7F57-4622-84AA-004B2BD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10.1038/nmeth817</a:t>
            </a:r>
          </a:p>
        </p:txBody>
      </p:sp>
      <p:sp>
        <p:nvSpPr>
          <p:cNvPr id="7" name="p12_textbox_6">
            <a:extLst xmlns:a="http://schemas.openxmlformats.org/drawingml/2006/main">
              <a:ext uri="{FF2B5EF4-FFF2-40B4-BE49-F238E27FC236}">
                <a16:creationId xmlns:a16="http://schemas.microsoft.com/office/drawing/2014/main" id="{FF906E22-59C9-417F-9113-16EFA2F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2. Torrado, B. et al.</a:t>
            </a:r>
          </a:p>
        </p:txBody>
      </p:sp>
      <p:sp>
        <p:nvSpPr>
          <p:cNvPr id="8" name="p12_textbox_7">
            <a:extLst xmlns:a="http://schemas.openxmlformats.org/drawingml/2006/main">
              <a:ext uri="{FF2B5EF4-FFF2-40B4-BE49-F238E27FC236}">
                <a16:creationId xmlns:a16="http://schemas.microsoft.com/office/drawing/2014/main" id="{7BA58E6B-9DCF-4002-825B-7388EDF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Fluorescence lifetime imaging microscopy.</a:t>
            </a:r>
          </a:p>
        </p:txBody>
      </p:sp>
      <p:sp>
        <p:nvSpPr>
          <p:cNvPr id="9" name="p12_textbox_8">
            <a:extLst xmlns:a="http://schemas.openxmlformats.org/drawingml/2006/main">
              <a:ext uri="{FF2B5EF4-FFF2-40B4-BE49-F238E27FC236}">
                <a16:creationId xmlns:a16="http://schemas.microsoft.com/office/drawing/2014/main" id="{FB2DF731-1BE9-4EB4-9849-E2496C80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Rev. Methods Primers 4, 80 (2024).</a:t>
            </a:r>
          </a:p>
        </p:txBody>
      </p:sp>
      <p:sp>
        <p:nvSpPr>
          <p:cNvPr id="10" name="p12_textbox_9">
            <a:extLst xmlns:a="http://schemas.openxmlformats.org/drawingml/2006/main">
              <a:ext uri="{FF2B5EF4-FFF2-40B4-BE49-F238E27FC236}">
                <a16:creationId xmlns:a16="http://schemas.microsoft.com/office/drawing/2014/main" id="{325F1BC7-71B3-429B-8554-5DA0DE6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10.1038/s43586-024-00358-8</a:t>
            </a:r>
          </a:p>
        </p:txBody>
      </p:sp>
      <p:sp>
        <p:nvSpPr>
          <p:cNvPr id="11" name="p12_textbox_10">
            <a:extLst xmlns:a="http://schemas.openxmlformats.org/drawingml/2006/main">
              <a:ext uri="{FF2B5EF4-FFF2-40B4-BE49-F238E27FC236}">
                <a16:creationId xmlns:a16="http://schemas.microsoft.com/office/drawing/2014/main" id="{56B42C08-E791-4853-A24B-ADD37D4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56A"/>
                </a:solidFill>
                <a:latin typeface="Arial"/>
                <a:ea typeface="Arial"/>
                <a:cs typeface="Arial"/>
              </a:rPr>
              <a:t>3. Ha, T. et al.</a:t>
            </a:r>
          </a:p>
        </p:txBody>
      </p:sp>
      <p:sp>
        <p:nvSpPr>
          <p:cNvPr id="12" name="p12_textbox_11">
            <a:extLst xmlns:a="http://schemas.openxmlformats.org/drawingml/2006/main">
              <a:ext uri="{FF2B5EF4-FFF2-40B4-BE49-F238E27FC236}">
                <a16:creationId xmlns:a16="http://schemas.microsoft.com/office/drawing/2014/main" id="{29B7805E-C9B0-49EE-A95C-611C6787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Fluorescence resonance energy transfer at the</a:t>
            </a:r>
          </a:p>
        </p:txBody>
      </p:sp>
      <p:sp>
        <p:nvSpPr>
          <p:cNvPr id="13" name="p12_textbox_12">
            <a:extLst xmlns:a="http://schemas.openxmlformats.org/drawingml/2006/main">
              <a:ext uri="{FF2B5EF4-FFF2-40B4-BE49-F238E27FC236}">
                <a16:creationId xmlns:a16="http://schemas.microsoft.com/office/drawing/2014/main" id="{2A765D25-BDF4-42D3-A8D1-F5C45329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single-molecule level.</a:t>
            </a:r>
          </a:p>
        </p:txBody>
      </p:sp>
      <p:sp>
        <p:nvSpPr>
          <p:cNvPr id="14" name="p12_textbox_13">
            <a:extLst xmlns:a="http://schemas.openxmlformats.org/drawingml/2006/main">
              <a:ext uri="{FF2B5EF4-FFF2-40B4-BE49-F238E27FC236}">
                <a16:creationId xmlns:a16="http://schemas.microsoft.com/office/drawing/2014/main" id="{FEEB98BE-09E6-4EB1-A2D2-95541BF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Rev. Methods Primers 4, 21 (2024).</a:t>
            </a:r>
          </a:p>
        </p:txBody>
      </p:sp>
      <p:sp>
        <p:nvSpPr>
          <p:cNvPr id="15" name="p12_textbox_14">
            <a:extLst xmlns:a="http://schemas.openxmlformats.org/drawingml/2006/main">
              <a:ext uri="{FF2B5EF4-FFF2-40B4-BE49-F238E27FC236}">
                <a16:creationId xmlns:a16="http://schemas.microsoft.com/office/drawing/2014/main" id="{CBEAF7CB-A7E7-4D2B-A76A-5890359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10.1038/s43586-024-00298-3</a:t>
            </a:r>
          </a:p>
        </p:txBody>
      </p:sp>
      <p:sp>
        <p:nvSpPr>
          <p:cNvPr id="16" name="p12_textbox_15">
            <a:extLst xmlns:a="http://schemas.openxmlformats.org/drawingml/2006/main">
              <a:ext uri="{FF2B5EF4-FFF2-40B4-BE49-F238E27FC236}">
                <a16:creationId xmlns:a16="http://schemas.microsoft.com/office/drawing/2014/main" id="{D3446144-6C8B-49B9-B2CB-B267DBA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56A"/>
                </a:solidFill>
                <a:latin typeface="Arial"/>
                <a:ea typeface="Arial"/>
                <a:cs typeface="Arial"/>
              </a:rPr>
              <a:t>4. Agam, G. et al.</a:t>
            </a:r>
          </a:p>
        </p:txBody>
      </p:sp>
      <p:sp>
        <p:nvSpPr>
          <p:cNvPr id="17" name="p12_textbox_16">
            <a:extLst xmlns:a="http://schemas.openxmlformats.org/drawingml/2006/main">
              <a:ext uri="{FF2B5EF4-FFF2-40B4-BE49-F238E27FC236}">
                <a16:creationId xmlns:a16="http://schemas.microsoft.com/office/drawing/2014/main" id="{1989C794-7840-440E-A9C3-902860E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Reliability and accuracy of single-molecule FRET</a:t>
            </a:r>
          </a:p>
        </p:txBody>
      </p:sp>
      <p:sp>
        <p:nvSpPr>
          <p:cNvPr id="18" name="p12_textbox_17">
            <a:extLst xmlns:a="http://schemas.openxmlformats.org/drawingml/2006/main">
              <a:ext uri="{FF2B5EF4-FFF2-40B4-BE49-F238E27FC236}">
                <a16:creationId xmlns:a16="http://schemas.microsoft.com/office/drawing/2014/main" id="{4416002A-8035-4D83-A704-4580F7FC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studies for characterization of structural dynamics</a:t>
            </a:r>
          </a:p>
        </p:txBody>
      </p:sp>
      <p:sp>
        <p:nvSpPr>
          <p:cNvPr id="19" name="p12_textbox_18">
            <a:extLst xmlns:a="http://schemas.openxmlformats.org/drawingml/2006/main">
              <a:ext uri="{FF2B5EF4-FFF2-40B4-BE49-F238E27FC236}">
                <a16:creationId xmlns:a16="http://schemas.microsoft.com/office/drawing/2014/main" id="{29717DAE-B269-41B9-ABE3-59F7C30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and distances in proteins.</a:t>
            </a:r>
          </a:p>
        </p:txBody>
      </p:sp>
      <p:sp>
        <p:nvSpPr>
          <p:cNvPr id="20" name="p12_textbox_19">
            <a:extLst xmlns:a="http://schemas.openxmlformats.org/drawingml/2006/main">
              <a:ext uri="{FF2B5EF4-FFF2-40B4-BE49-F238E27FC236}">
                <a16:creationId xmlns:a16="http://schemas.microsoft.com/office/drawing/2014/main" id="{642F985F-581E-4E2A-86D9-C92703D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Methods 20, 523–535 (2023).</a:t>
            </a:r>
          </a:p>
        </p:txBody>
      </p:sp>
      <p:sp>
        <p:nvSpPr>
          <p:cNvPr id="21" name="p12_textbox_20">
            <a:extLst xmlns:a="http://schemas.openxmlformats.org/drawingml/2006/main">
              <a:ext uri="{FF2B5EF4-FFF2-40B4-BE49-F238E27FC236}">
                <a16:creationId xmlns:a16="http://schemas.microsoft.com/office/drawing/2014/main" id="{926CD0AD-9203-452D-B757-8D85ADA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10.1038/s41592-023-01807-0</a:t>
            </a:r>
          </a:p>
        </p:txBody>
      </p:sp>
      <p:sp>
        <p:nvSpPr>
          <p:cNvPr id="22" name="p12_textbox_21">
            <a:extLst xmlns:a="http://schemas.openxmlformats.org/drawingml/2006/main">
              <a:ext uri="{FF2B5EF4-FFF2-40B4-BE49-F238E27FC236}">
                <a16:creationId xmlns:a16="http://schemas.microsoft.com/office/drawing/2014/main" id="{5C060F38-B949-40CA-9BD0-8F0B491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99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5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56A"/>
                </a:solidFill>
                <a:latin typeface="Arial"/>
                <a:ea typeface="Arial"/>
                <a:cs typeface="Arial"/>
              </a:rPr>
              <a:t>5. Lelek, M. et al.</a:t>
            </a:r>
          </a:p>
        </p:txBody>
      </p:sp>
      <p:sp>
        <p:nvSpPr>
          <p:cNvPr id="23" name="p12_textbox_22">
            <a:extLst xmlns:a="http://schemas.openxmlformats.org/drawingml/2006/main">
              <a:ext uri="{FF2B5EF4-FFF2-40B4-BE49-F238E27FC236}">
                <a16:creationId xmlns:a16="http://schemas.microsoft.com/office/drawing/2014/main" id="{3FFB3F38-98CC-46BA-A7C0-40CCE1F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Single-molecule localization microscopy.</a:t>
            </a:r>
          </a:p>
        </p:txBody>
      </p:sp>
      <p:sp>
        <p:nvSpPr>
          <p:cNvPr id="24" name="p12_textbox_23">
            <a:extLst xmlns:a="http://schemas.openxmlformats.org/drawingml/2006/main">
              <a:ext uri="{FF2B5EF4-FFF2-40B4-BE49-F238E27FC236}">
                <a16:creationId xmlns:a16="http://schemas.microsoft.com/office/drawing/2014/main" id="{F53EF098-82A5-476C-B1BC-F39E4EAF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42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Rev. Methods Primers 1, 39 (2021).</a:t>
            </a:r>
          </a:p>
        </p:txBody>
      </p:sp>
      <p:sp>
        <p:nvSpPr>
          <p:cNvPr id="25" name="p12_textbox_24">
            <a:extLst xmlns:a="http://schemas.openxmlformats.org/drawingml/2006/main">
              <a:ext uri="{FF2B5EF4-FFF2-40B4-BE49-F238E27FC236}">
                <a16:creationId xmlns:a16="http://schemas.microsoft.com/office/drawing/2014/main" id="{94397C22-3CEF-4535-BF48-76E3CBF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10.1038/s43586-021-00038-x</a:t>
            </a:r>
          </a:p>
        </p:txBody>
      </p:sp>
      <p:sp>
        <p:nvSpPr>
          <p:cNvPr id="26" name="p12_textbox_25">
            <a:extLst xmlns:a="http://schemas.openxmlformats.org/drawingml/2006/main">
              <a:ext uri="{FF2B5EF4-FFF2-40B4-BE49-F238E27FC236}">
                <a16:creationId xmlns:a16="http://schemas.microsoft.com/office/drawing/2014/main" id="{5E0AAFEF-FBEB-4909-8D11-9EFF01B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2B"/>
                </a:solidFill>
                <a:latin typeface="Arial"/>
                <a:ea typeface="Arial"/>
                <a:cs typeface="Arial"/>
              </a:rPr>
              <a:t>6. Schermelleh, L. et al.</a:t>
            </a:r>
          </a:p>
        </p:txBody>
      </p:sp>
      <p:sp>
        <p:nvSpPr>
          <p:cNvPr id="27" name="p12_textbox_26">
            <a:extLst xmlns:a="http://schemas.openxmlformats.org/drawingml/2006/main">
              <a:ext uri="{FF2B5EF4-FFF2-40B4-BE49-F238E27FC236}">
                <a16:creationId xmlns:a16="http://schemas.microsoft.com/office/drawing/2014/main" id="{94277006-2444-4638-9084-8B188E7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4822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Super-resolution microscopy demystified.</a:t>
            </a:r>
          </a:p>
        </p:txBody>
      </p:sp>
      <p:sp>
        <p:nvSpPr>
          <p:cNvPr id="28" name="p12_textbox_27">
            <a:extLst xmlns:a="http://schemas.openxmlformats.org/drawingml/2006/main">
              <a:ext uri="{FF2B5EF4-FFF2-40B4-BE49-F238E27FC236}">
                <a16:creationId xmlns:a16="http://schemas.microsoft.com/office/drawing/2014/main" id="{8277AC3F-DD9A-42F5-8E3D-14BFA58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05400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Nat. Cell Biol. 21, 72–84 (2019).</a:t>
            </a:r>
          </a:p>
        </p:txBody>
      </p:sp>
      <p:sp>
        <p:nvSpPr>
          <p:cNvPr id="29" name="p12_textbox_28">
            <a:extLst xmlns:a="http://schemas.openxmlformats.org/drawingml/2006/main">
              <a:ext uri="{FF2B5EF4-FFF2-40B4-BE49-F238E27FC236}">
                <a16:creationId xmlns:a16="http://schemas.microsoft.com/office/drawing/2014/main" id="{2910359F-FDD9-42AE-A2E1-3A5C8386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62575"/>
            <a:ext cx="524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5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B"/>
                </a:solidFill>
                <a:latin typeface="Arial"/>
                <a:ea typeface="Arial"/>
                <a:cs typeface="Arial"/>
              </a:rPr>
              <a:t>DOI: 10.1038/s41556-018-0251-8</a:t>
            </a:r>
          </a:p>
        </p:txBody>
      </p:sp>
      <p:sp>
        <p:nvSpPr>
          <p:cNvPr id="30" name="p12_path">
            <a:extLst xmlns:a="http://schemas.openxmlformats.org/drawingml/2006/main">
              <a:ext uri="{FF2B5EF4-FFF2-40B4-BE49-F238E27FC236}">
                <a16:creationId xmlns:a16="http://schemas.microsoft.com/office/drawing/2014/main" id="{FE0FDA46-8D40-48D6-AA0B-420EB8E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</a:ln>
        </p:spPr>
      </p:sp>
      <p:sp>
        <p:nvSpPr>
          <p:cNvPr id="31" name="p12_textbox_30">
            <a:extLst xmlns:a="http://schemas.openxmlformats.org/drawingml/2006/main">
              <a:ext uri="{FF2B5EF4-FFF2-40B4-BE49-F238E27FC236}">
                <a16:creationId xmlns:a16="http://schemas.microsoft.com/office/drawing/2014/main" id="{5C77514D-EE3C-4EFA-BFAA-AC2020DA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0252B"/>
                </a:solidFill>
                <a:latin typeface="Noto Sans CJK SC"/>
                <a:ea typeface="Noto Sans CJK SC"/>
                <a:cs typeface="Noto Sans CJK SC"/>
              </a:rPr>
              <a:t>成员贡献</a:t>
            </a:r>
          </a:p>
        </p:txBody>
      </p:sp>
      <p:sp>
        <p:nvSpPr>
          <p:cNvPr id="32" name="p12_textbox_31">
            <a:extLst xmlns:a="http://schemas.openxmlformats.org/drawingml/2006/main">
              <a:ext uri="{FF2B5EF4-FFF2-40B4-BE49-F238E27FC236}">
                <a16:creationId xmlns:a16="http://schemas.microsoft.com/office/drawing/2014/main" id="{40F0AB46-5C1D-4494-9F04-AC33E237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81977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36E"/>
                </a:solidFill>
                <a:latin typeface="Noto Sans CJK SC"/>
                <a:ea typeface="Noto Sans CJK SC"/>
                <a:cs typeface="Noto Sans CJK SC"/>
              </a:rPr>
              <a:t>卞恺｜__________</a:t>
            </a:r>
          </a:p>
        </p:txBody>
      </p:sp>
      <p:sp>
        <p:nvSpPr>
          <p:cNvPr id="34" name="v2_p12_32">
            <a:extLst xmlns:a="http://schemas.openxmlformats.org/drawingml/2006/main">
              <a:ext uri="{FF2B5EF4-FFF2-40B4-BE49-F238E27FC236}">
                <a16:creationId xmlns:a16="http://schemas.microsoft.com/office/drawing/2014/main" id="{2D4B43BB-EAC2-402A-87F3-9F635684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61341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AB2BA"/>
                </a:solidFill>
                <a:latin typeface="Noto Sans CJK SC"/>
                <a:ea typeface="Noto Sans CJK SC"/>
                <a:cs typeface="Noto Sans CJK SC"/>
              </a:rPr>
              <a:t>成员2｜__________</a:t>
            </a:r>
          </a:p>
        </p:txBody>
      </p:sp>
      <p:sp>
        <p:nvSpPr>
          <p:cNvPr id="35" name="v2_p12_33">
            <a:extLst xmlns:a="http://schemas.openxmlformats.org/drawingml/2006/main">
              <a:ext uri="{FF2B5EF4-FFF2-40B4-BE49-F238E27FC236}">
                <a16:creationId xmlns:a16="http://schemas.microsoft.com/office/drawing/2014/main" id="{AF523BEC-2C4B-4413-87CC-E726296B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64484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AB2BA"/>
                </a:solidFill>
                <a:latin typeface="Noto Sans CJK SC"/>
                <a:ea typeface="Noto Sans CJK SC"/>
                <a:cs typeface="Noto Sans CJK SC"/>
              </a:rPr>
              <a:t>成员3｜__________</a:t>
            </a:r>
          </a:p>
        </p:txBody>
      </p:sp>
    </p:spTree>
    <p:extLst>
      <p:ext uri="{BB962C8B-B14F-4D97-AF65-F5344CB8AC3E}">
        <p14:creationId xmlns:p14="http://schemas.microsoft.com/office/powerpoint/2010/main" val="512748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2026-09-24T00:19:33.6100000Z</dcterms:created>
  <dcterms:modified xsi:type="dcterms:W3CDTF">2026-09-24T00:19:33.6100000Z</dcterms:modified>
</coreProperties>
</file>